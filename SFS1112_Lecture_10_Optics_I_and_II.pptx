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3a6b70a-b275-d455-51e9-39d1bac6ac12}">
          <p14:sldIdLst>
            <p14:sldId id="256"/>
            <p14:sldId id="257"/>
            <p14:sldId id="258"/>
            <p14:sldId id="259"/>
          </p14:sldIdLst>
        </p14:section>
        <p14:section name="A · What is light?" id="{cd426f0f-1716-e7f2-2934-c9a7066a5bf9}">
          <p14:sldIdLst>
            <p14:sldId id="260"/>
            <p14:sldId id="261"/>
            <p14:sldId id="262"/>
            <p14:sldId id="263"/>
            <p14:sldId id="264"/>
            <p14:sldId id="265"/>
          </p14:sldIdLst>
        </p14:section>
        <p14:section name="B · Reflection" id="{ec1045f9-72a0-0d90-4dd5-18e41eca1d22}">
          <p14:sldIdLst>
            <p14:sldId id="266"/>
            <p14:sldId id="267"/>
            <p14:sldId id="268"/>
            <p14:sldId id="269"/>
          </p14:sldIdLst>
        </p14:section>
        <p14:section name="C · Refraction &amp; TIR" id="{cf00c844-f3c5-ac1d-b064-06dd513112dc}">
          <p14:sldIdLst>
            <p14:sldId id="270"/>
            <p14:sldId id="271"/>
            <p14:sldId id="272"/>
            <p14:sldId id="273"/>
            <p14:sldId id="274"/>
            <p14:sldId id="275"/>
            <p14:sldId id="276"/>
            <p14:sldId id="277"/>
            <p14:sldId id="278"/>
            <p14:sldId id="279"/>
          </p14:sldIdLst>
        </p14:section>
        <p14:section name="D · Lenses &amp; images" id="{28bbd301-dd7c-e210-2a4a-49bdc7228c84}">
          <p14:sldIdLst>
            <p14:sldId id="280"/>
            <p14:sldId id="281"/>
            <p14:sldId id="282"/>
            <p14:sldId id="283"/>
            <p14:sldId id="284"/>
            <p14:sldId id="285"/>
            <p14:sldId id="286"/>
            <p14:sldId id="287"/>
            <p14:sldId id="288"/>
          </p14:sldIdLst>
        </p14:section>
        <p14:section name="E · Interference" id="{752b3e7f-e96f-9f28-f881-84200e8a44ab}">
          <p14:sldIdLst>
            <p14:sldId id="289"/>
            <p14:sldId id="290"/>
            <p14:sldId id="291"/>
            <p14:sldId id="292"/>
            <p14:sldId id="293"/>
            <p14:sldId id="294"/>
          </p14:sldIdLst>
        </p14:section>
        <p14:section name="F · Diffraction &amp; resolution" id="{8e5bec1c-08fa-8a9f-f6de-7734c49ed1b1}">
          <p14:sldIdLst>
            <p14:sldId id="295"/>
            <p14:sldId id="296"/>
            <p14:sldId id="297"/>
            <p14:sldId id="298"/>
            <p14:sldId id="299"/>
          </p14:sldIdLst>
        </p14:section>
        <p14:section name="G · Polarization" id="{3988fdd8-da42-2cb1-2eea-80955a25e88a}">
          <p14:sldIdLst>
            <p14:sldId id="300"/>
            <p14:sldId id="301"/>
            <p14:sldId id="302"/>
            <p14:sldId id="303"/>
            <p14:sldId id="304"/>
            <p14:sldId id="305"/>
          </p14:sldIdLst>
        </p14:section>
        <p14:section name="H · Colour &amp; spectroscopy" id="{289ece9d-dbc1-b6bb-30d3-ffef54da20c4}">
          <p14:sldIdLst>
            <p14:sldId id="306"/>
            <p14:sldId id="307"/>
            <p14:sldId id="308"/>
            <p14:sldId id="309"/>
            <p14:sldId id="310"/>
            <p14:sldId id="311"/>
            <p14:sldId id="312"/>
          </p14:sldIdLst>
        </p14:section>
        <p14:section name="Wrap-up" id="{0ae63256-c1f5-3e9d-f49a-ed44ed3ad1f0}">
          <p14:sldIdLst>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LECTURE, TWO PARTS
Part 1 · Ray optics (A–D): what light is, reflection, refraction and total internal reflection, lenses and images.
Part 2 · Wave optics (E–H): interference, diffraction and resolution, polarization, colour and spectroscopy.
CALCULATION LEVEL: only the key calculations are kept — photon energy, n = c/v, Snell's law, critical angle, the thin-lens equation, microscope resolution and the three-polarizer result. Everything else is conceptual, with prediction questions and activities.
HOW THIS DECK WORKS
• YOUR TURN / QUICK CHECK / CLASS ACTIVITY / TRY IT LIVE / DEMO slides: ask, let students commit, then click to reveal.
• WORKED EXAMPLE slides reveal one step per click. Animations play in Slide Show.
TIMING: about 2.5 hours with every activity. For 2 hours, set the PhET activity, the CD-grating demo and the sunglasses activity as homework, and shorten the lens-case activity.
PROPS (optional, cheap): a cup, a coin and water; a glass of water and a straw; a magnifying glass; an old CD/DVD and a phone torch; polarized sunglasses (and 3 polarizer sheets if available); a laser pointer.
Reading: OpenStax College Physics 2e Ch. 25–27 (and §29.3 photon energies); Newman, Physics of the Life Sciences, Ch. 19–22.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cheap and almost magical demo. If cups are not available, do it once at the front with a visualiser or phone camera.
Ask for predictions before pouring. Then CLICK to reveal. Point out that the brain always assumes light travels in straight lines — that's why the coin seems to "float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Optics I (CTP Week 10): photons, reflection, refraction, lenses and image formation. Optics II (CTP Week 11): interference, diffraction, polarization, dispersion and microscopy. Both are covered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thread as the waves lecture: the source sets f; the medium sets the speed (here through the refractive index n); λ = v/f. Light is an EM wave, so everything from the waves lecture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 about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Physicists use whichever model answers the question most simply. Rays for mirrors, lenses and cameras (Part 1). Waves for interference, diffraction, polarization (Part 2). Photons for absorption, emission, sensors and radiation damage.
This "wave–particle duality" was settled in the early 1900s: Young's double slit (1801) showed wave behaviour; Einstein's photoelectric effect (1905) showed light arriving in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photon idea that matters most for food biotech: whether radiation can break bonds depends on the energy of EACH photon (set by frequency), not on the total brightness.
Values: E = hc/λ. Red 650 nm: 3.06 × 10⁻¹⁹ J = 1.9 eV. UV-C 254 nm: 7.83 × 10⁻¹⁹ J = 4.9 eV. Microwave 2.45 GHz: hf = 1.6 × 10⁻²⁴ J ≈ 10⁻⁵ eV.
Links: UV-C dose (waves lecture), food irradiation with gamma rays (Nuclear Physics), blue light and photo-oxidation of milk in clear bottles (riboflavin absorbs blue light → off-flavours) — a nice extra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click. A useful shortcut students may like: E (eV) ≈ 1240 / λ (nm). 1240/254 ≈ 4.9 eV ✓; 1240/650 ≈ 1.9 eV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the tempting answer. Emphasise: total energy is not what matters for bond breaking; energy per photon is.
Safety (CLO3): UV-C also damages human skin and eyes — UV-C systems must be shielded and interlocked.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is always ≥ 1. More dissolved sugar, salt or protein → more electrons per volume → higher n. That is why refractometers can measure sugar (Part C).
Optional: the wavelength of green light (550 nm) in water is 550/1.333 ≈ 413 nm — but the COLOUR is unchanged, because colour (to the eye) depends on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B — about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the law of reflection is never broken; "diffuse" just means the surface has normals in many directions.
Food link: well-tempered chocolate has a smooth surface of small, stable cocoa-butter crystals → glossy. Fat bloom (large crystals at the surface) or sugar bloom (sugar recrystallised after moisture) creates a rough surface → dull, greyish-white. The chocolate is still safe to eat; only the optics changed.
Glossmeters measure specular reflection at set angles (20°, 60°, 85°) to grade coatings, chocolate, fruit wax and packaging.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think bloom is mould. It isn't (mould is fuzzy and usually only on very old or damp products). This is a good example of physics explaining a quality defect.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it with a phone in selfie mode or a small mirror on the wall: mark the top and bottom of what you see; step back and check — the visible portion does not change.
The geometry follows directly from angle of incidence = angle of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C — about 25 minutes. Calculators out: Snell's law and the critical angle are key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refraction slides from the waves lecture, now for light. The coin experiment from the warm-up is light going from water into air (faster) → bending AWAY from the normal.
Light along the normal (straight down) does not bend, though it still slows.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Willebrord Snell (1621). Same law as the wave form sin θ₁/v₁ = sin θ₂/v₂ from the waves lecture, using v = c/n.
Fun demo if you have a Pyrex glass rod or beaker and vegetable oil (or glycerol): it almost disappears in the oil because n matches (~1.47). It shows we see transparent objects only because of refraction and reflection at their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click. The most common error is a calculator in radians — have students check sin 30° = 0.5 first.
Exact: sin 40° = 0.6428; 0.6428/1.333 = 0.4822 → 28.8° (28.9° using n = 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a glass of water with a straw around: the straw seems broken at the surface — the same effect.
A swimming pool 2.0 m deep looks only about 1.5 m deep — a real safety issue for people jumping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the formula from Snell: n₁ sin θc = n₂ sin 90° = n₂.
Demo: shine a laser pointer upward through the side of a clear tank or a large plastic bottle of water at a steep angle — the beam reflects off the surface back down. A falling stream of water from a hole in a bottle "guides" a laser beam along it (the classic light-guiding fountain).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lecture we only said "refraction measures sugar". This is the full explanation: it is a critical-angle measurement.
Uses: fruit ripeness and harvest timing, juice and soft-drink QC, jam setting point, honey moisture (lower n = more water), sugar-cane processing, monitoring fermentation (sugar falls as yeast ferments).
Next slide: students calculate the critical angle for water and for juice to see how big the shift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prism index of 1.72 is a typical high-index glass; real instruments vary.
The answers show the physics behind the scale: 0 → 20 °Brix moves the critical angle by about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fibre core has a slightly higher n than the cladding, so light hitting the wall at a shallow angle is always beyond the critical angle and stays inside — even round gentle bends.
Newman Ch. 20 §4 covers optical fibres in medicine.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consolidation of C5–C8.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D — about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of a lens acts like a tiny prism: the edges bend light more than the centre, which is why rays meet at one point.
Opticians quote lens power in dioptres: P = 1/f (f in metres). A +2.5 D reading glass has f = 0.4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live with the class. Students can try PhET "Geometric Optics" afterwards (link at the end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table: each click reveals one row; click 5 reveals the four ray diagrams together.
Hands-on version: hold a magnifying glass at arm's length and look at a distant window — you see it small and upside down (real image). Move the lens close to print — it is upright and magnified (virtual image).
You can also focus the image of the window onto a sheet of paper: the lens-to-paper distance is roughly the focal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Signs: a negative m means inverted (real image). d_i &gt; 0: real image on the far side of the lens.
CLO3 link: a pixel measurement is only meaningful with a calibration (a ruler or a reference object in the image at the same distance). If the camera height changes, m changes and every size grade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sign conventions consistently: d_i &lt; 0 → virtual image; m &gt; 0 → upright.
Food link: stored-grain inspection for insects (rice weevils are 2–3 mm) — a hand lens or low-power stereo microscope is the first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cornea provides about two-thirds of the eye's focusing power because the biggest jump in n is from air (1.00) to cornea (≈ 1.38). That is why underwater everything is blurry — water (1.33) nearly matches the cornea, so it loses most of its power. Goggles restore the air gap.
Newman Ch. 21 §2 (the human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the two lens cases from D3: objective = "object between F and 2F" (real, larger); eyepiece = "object inside F" (virtual, larger).
Students will use 4×, 10×, 40× and 100× (oil) objectives in microbiology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Part 2. The useful magnification of a light microscope tops out around 1000–1500×.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 WAVE OPTICS. Section E — about 15 minutes. Good place for a 5-minute break just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Young (1801). The fringe spacing on a screen is roughly Δy ≈ λL/d (L = slit-to-screen distance, d = slit spacing) — mention qualitatively on the next slide.
Laser demo: shine a laser pointer through two slits (or a fine comb, or a hair for single-slit diffraction) onto a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calculation needed — the formula is shown only to summarise the three trends.
If Wi-Fi is poor: laser pointer and a double slit slide, or look at a distant street lamp through the fabric of an umbrella or a fine net curtain (a 2-D grating) — you see a grid of coloured 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film gets very thin (thinner than about λ/4), all colours cancel in reflection and the film looks black — you can see this at the top of a soap film just before it pops.
This "structural colour" also gives peacock feathers, butterfly wings and some fish scales their shimmer — no pigment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Iridescence in cut meat (especially cooked cured meats like ham and roast beef) is a well-known optical effect caused by the surface microstructure of cut myofibrils. It changes with viewing angle, which distinguishes it from discoloration due to spoilage.
D is a reasonable distractor (oil films also give thin-film colours), so accept a discussion — but meat iridescence is classically a diffraction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Gratings spread colours much more and more sharply than a prism, which is why modern spectrometers use them. The prism diagram on this slide shows the same idea (colour separation) by refraction; Part H explains dispersion in prisms.
DVD tracks are closer (~0.74 µm), so its colours spread more — students can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 — about 15 minutes. One key calculation: d ≈ 0.61 λ /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the waves lecture: diffraction is strong when the opening is comparable to λ. A microscope objective is small and the details we want are close to λ, so diffraction matters.
The same physics limits the eye, telescopes, cameras and even satellite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key calculation in this section. Values: 0.61 × 550/0.65 = 516 nm; 0.61 × 550/1.25 = 268 nm.
Practical lab tip: oil immersion only works with the 100× oil objective, a drop of immersion oil, and no air gap — air would throw away the wide-angle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Consolidates D8 (empty magnification) and 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connects optics to the microbiology and biochemistry labs students will work in.
Phase contrast (Zernike, Nobel 1953) converts the tiny delay light experiences passing through a transparent cell (higher n than water) into a brightness difference — refraction and interference at work.
Cryo-electron microscopy (Nobel 2017) determines structures of enzymes and other proteins at near-atomic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G — about 15 minutes. Polarized sunglasses and phone screens make this very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Polarizer films contain long aligned molecules that absorb the field component along them; the light that gets through is polarized at right angles to the molecules.
Ask: "Could you polarize sound?" (No — it is longitudinal. This is an elegant proof that light is transverse.)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three polarizer sheets (cheap online, or from old LCD screens), this demo genuinely surprises students.
Calculation: I₀/2 × cos²45° × cos²45° = I₀/2 × 0.5 × 0.5 = I₀/8.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carry polarized sunglasses. Not all sunglasses are polarized — this activity is also a quick test of whether yours are.
Brewster's angle (for interest): reflected light is fully polarized at tan θ = n₂/n₁ (about 53° for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Birefringence: ordered materials have different refractive indices for different polarization directions, so they can rotate light between crossed polarizers and appear bright on a dark background. Fat crystals in chocolate and margarine, sugar crystals, cellulose fibres and some muscle structures also show it.
Polarimetry: [α] = α / (l × c). Sucrose has [α] ≈ +66.5°; invert sugar is about −20°. The "International Sugar Scale" (°Z) is used by sugar factories.
The starch picture is a schematic illustration, not a micrograph.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polarization to a food-processing measurement students may meet in food chemistry practicals.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H — about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Newton's prism experiments (1666) showed white light is a mixture of colours.
This is the one place where "the medium sets v" depends on frequency too: dispersion. For sound in water and air (waves lecture) it was negligible; for light in glass it is small but very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pigments: chlorophyll (green: absorbs red and blue), anthocyanins (red–purple, colour changes with pH — a fun kitchen demo with red cabbage), carotenoids (orange), myoglobin (meat colour changes with oxygenation: purple → bright red → brown).
The tomato curve is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use this in almost every biochemistry practical (protein assays, enzyme kinetics, phenolic content). The physics: each thin layer absorbs the same FRACTION of the light, so intensity falls exponentially and absorbance (a log) rises linearly.
T = I/I₀ = 10^(−A): A = 0.3 → T ≈ 0.50; A = 0.6 → T ≈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Scattering by particles much smaller than λ (Rayleigh scattering) is much stronger for short wavelengths (∝ 1/λ⁴). Particles comparable to or larger than λ scatter all colours more evenly (Mie scattering) → white: milk, clouds, mayonnaise, foam.
Homogenized milk looks whiter than unhomogenized because breaking fat globules into more, smaller (but still large) particles increases scattering.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NIR bands are overtones and combinations of the fundamental molecular vibrations in the mid-infrared; they are broad and overlapping, which is why chemometrics (PLS regression, machine learning) is needed.
Hyperspectral imaging = a NIR or visible spectrum at every pixel of an image — used for sorting, bruise detection and contamination screening.
Band positions on the figure are approximate and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common lab error. Clarifying samples or using integrating-sphere instruments avoids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cover the slide and ask for one key idea per box. Students can photograph it as a revision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critical angle and TIR. Q2: thin-lens equation. Q3: resolution vs magnification (conceptual).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of the CTP independent-learning hours for the optics weeks.
Teaser: "Why can food be irradiated with gamma rays without becoming radioactive?" — Nuclear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583680" cy="137160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3611880"/>
            <a:ext cx="6035040" cy="1097280"/>
          </a:xfrm>
          <a:prstGeom prst="rect">
            <a:avLst/>
          </a:prstGeom>
          <a:noFill/>
          <a:ln/>
        </p:spPr>
        <p:txBody>
          <a:bodyPr wrap="square" rtlCol="0"/>
          <a:lstStyle>
            <a:lvl1pPr algn="l" indent="0" marL="0">
              <a:buNone/>
              <a:defRPr lang="en-US" sz="2000" dirty="0">
                <a:solidFill>
                  <a:srgbClr val="CFE8E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743200" y="2331720"/>
            <a:ext cx="877824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2743200" y="3566160"/>
            <a:ext cx="8412480" cy="1280160"/>
          </a:xfrm>
          <a:prstGeom prst="rect">
            <a:avLst/>
          </a:prstGeom>
          <a:noFill/>
          <a:ln/>
        </p:spPr>
        <p:txBody>
          <a:bodyPr wrap="square" rtlCol="0"/>
          <a:lstStyle>
            <a:lvl1pPr algn="l" indent="0" marL="0">
              <a:buNone/>
              <a:defRPr lang="en-US" sz="2000" dirty="0">
                <a:solidFill>
                  <a:srgbClr val="CFE8E4"/>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4415" cy="73152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50" dirty="0">
                <a:solidFill>
                  <a:schemeClr val="accent6"/>
                </a:solidFill>
              </a:rPr>
              <a:t>SFS1112 Physics for Life Sciences  ·  Optics I + II</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4.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phet.colorado.edu/en/simulations/wave-interference" TargetMode="External"/><Relationship Id="rId2" Type="http://schemas.openxmlformats.org/officeDocument/2006/relationships/hyperlink" Target="https://phet.colorado.edu/en/simulations/wave-interference" TargetMode="External"/><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4.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gif"/><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phet.colorado.edu/en/simulations/bending-light" TargetMode="External"/><Relationship Id="rId2" Type="http://schemas.openxmlformats.org/officeDocument/2006/relationships/hyperlink" Target="https://phet.colorado.edu/en/simulations/bending-light" TargetMode="External"/><Relationship Id="rId3" Type="http://schemas.openxmlformats.org/officeDocument/2006/relationships/hyperlink" Target="https://phet.colorado.edu/en/simulations/geometric-optics" TargetMode="External"/><Relationship Id="rId4" Type="http://schemas.openxmlformats.org/officeDocument/2006/relationships/hyperlink" Target="https://phet.colorado.edu/en/simulations/geometric-optics" TargetMode="External"/><Relationship Id="rId5" Type="http://schemas.openxmlformats.org/officeDocument/2006/relationships/hyperlink" Target="https://phet.colorado.edu/en/simulations/wave-interference" TargetMode="External"/><Relationship Id="rId6" Type="http://schemas.openxmlformats.org/officeDocument/2006/relationships/hyperlink" Target="https://phet.colorado.edu/en/simulations/wave-interference" TargetMode="External"/><Relationship Id="rId7" Type="http://schemas.openxmlformats.org/officeDocument/2006/relationships/slideLayout" Target="../slideLayouts/slideLayout4.xml"/><Relationship Id="rId8"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8229600" cy="365760"/>
          </a:xfrm>
          <a:prstGeom prst="rect">
            <a:avLst/>
          </a:prstGeom>
          <a:noFill/>
          <a:ln/>
        </p:spPr>
        <p:txBody>
          <a:bodyPr wrap="square" lIns="0" tIns="0" rIns="0" bIns="0" rtlCol="0" anchor="ctr"/>
          <a:lstStyle/>
          <a:p>
            <a:pPr indent="0" marL="0">
              <a:buNone/>
            </a:pPr>
            <a:r>
              <a:rPr lang="en-US" sz="1400" b="1" spc="200" kern="0" dirty="0">
                <a:solidFill>
                  <a:srgbClr val="7FD1C7"/>
                </a:solidFill>
              </a:rPr>
              <a:t>SFS1112  PHYSICS FOR LIFE SCIENCES  ·  OPTICS I + II</a:t>
            </a:r>
            <a:endParaRPr lang="en-US" sz="1400" dirty="0"/>
          </a:p>
        </p:txBody>
      </p:sp>
      <p:sp>
        <p:nvSpPr>
          <p:cNvPr id="3" name="Text 0"/>
          <p:cNvSpPr/>
          <p:nvPr>
            <p:ph idx="100" type="title" hasCustomPrompt="1"/>
          </p:nvPr>
        </p:nvSpPr>
        <p:spPr>
          <a:xfrm>
            <a:off x="548640" y="2148840"/>
            <a:ext cx="6583680" cy="137160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Light and Optics</a:t>
            </a:r>
            <a:endParaRPr lang="en-US" sz="6000" dirty="0"/>
          </a:p>
        </p:txBody>
      </p:sp>
      <p:sp>
        <p:nvSpPr>
          <p:cNvPr id="4" name="Text 0"/>
          <p:cNvSpPr/>
          <p:nvPr>
            <p:ph idx="101" type="body" hasCustomPrompt="1"/>
          </p:nvPr>
        </p:nvSpPr>
        <p:spPr>
          <a:xfrm>
            <a:off x="548640" y="3611880"/>
            <a:ext cx="6035040" cy="1097280"/>
          </a:xfrm>
          <a:prstGeom prst="rect">
            <a:avLst/>
          </a:prstGeom>
          <a:noFill/>
          <a:ln/>
        </p:spPr>
        <p:txBody>
          <a:bodyPr wrap="square" lIns="0" tIns="0" rIns="0" bIns="0" rtlCol="0" anchor="t"/>
          <a:lstStyle/>
          <a:p>
            <a:pPr algn="l" indent="0" marL="0">
              <a:buNone/>
            </a:pPr>
            <a:r>
              <a:rPr lang="en-US" sz="2000" dirty="0">
                <a:solidFill>
                  <a:srgbClr val="CFE8E4"/>
                </a:solidFill>
              </a:rPr>
              <a:t>How light carries information about food — from refractometers and cameras to microscopes and spectrometers</a:t>
            </a:r>
            <a:endParaRPr lang="en-US" sz="2000" dirty="0"/>
          </a:p>
        </p:txBody>
      </p:sp>
      <p:pic>
        <p:nvPicPr>
          <p:cNvPr id="5" name="Image 0" descr="Layered sine waves">    </p:cNvPr>
          <p:cNvPicPr>
            <a:picLocks noChangeAspect="1"/>
          </p:cNvPicPr>
          <p:nvPr/>
        </p:nvPicPr>
        <p:blipFill>
          <a:blip r:embed="rId1"/>
          <a:stretch>
            <a:fillRect/>
          </a:stretch>
        </p:blipFill>
        <p:spPr>
          <a:xfrm>
            <a:off x="6949440" y="1463040"/>
            <a:ext cx="5120640" cy="2880360"/>
          </a:xfrm>
          <a:prstGeom prst="rect">
            <a:avLst/>
          </a:prstGeom>
        </p:spPr>
      </p:pic>
      <p:sp>
        <p:nvSpPr>
          <p:cNvPr id="6" name="Text 3"/>
          <p:cNvSpPr txBox="1"/>
          <p:nvPr/>
        </p:nvSpPr>
        <p:spPr>
          <a:xfrm>
            <a:off x="548640" y="5120640"/>
            <a:ext cx="6858000" cy="1005840"/>
          </a:xfrm>
          <a:prstGeom prst="rect">
            <a:avLst/>
          </a:prstGeom>
          <a:noFill/>
          <a:ln/>
        </p:spPr>
        <p:txBody>
          <a:bodyPr wrap="square" lIns="0" tIns="0" rIns="0" bIns="0" rtlCol="0" anchor="t"/>
          <a:lstStyle/>
          <a:p>
            <a:pPr indent="0" marL="0">
              <a:buNone/>
            </a:pPr>
            <a:r>
              <a:rPr lang="en-US" sz="1500" b="1" dirty="0">
                <a:solidFill>
                  <a:schemeClr val="bg1"/>
                </a:solidFill>
              </a:rPr>
              <a:t>Dr. Muhamad Arif Mohamad Jamali</a:t>
            </a:r>
            <a:endParaRPr lang="en-US" sz="1500" dirty="0"/>
          </a:p>
          <a:p>
            <a:pPr indent="0" marL="0">
              <a:buNone/>
            </a:pPr>
            <a:r>
              <a:rPr lang="en-US" sz="1500" dirty="0">
                <a:solidFill>
                  <a:srgbClr val="CFE8E4"/>
                </a:solidFill>
              </a:rPr>
              <a:t>Bachelor of Food Biotechnology, FST, USIM</a:t>
            </a:r>
            <a:endParaRPr lang="en-US" sz="1500" dirty="0"/>
          </a:p>
          <a:p>
            <a:pPr indent="0" marL="0">
              <a:buNone/>
            </a:pPr>
            <a:r>
              <a:rPr lang="en-US" sz="1500" dirty="0">
                <a:solidFill>
                  <a:srgbClr val="CFE8E4"/>
                </a:solidFill>
              </a:rPr>
              <a:t>Week 10  ·  30 November – 6 December 2026  ·  CLO1 &amp; CLO3</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CLASS ACTIVITY</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Warm-up: make a coin appear with water</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3 minutes, in pairs</a:t>
            </a:r>
            <a:endParaRPr lang="en-US" sz="1100" dirty="0"/>
          </a:p>
        </p:txBody>
      </p:sp>
      <p:pic>
        <p:nvPicPr>
          <p:cNvPr id="7" name="img_coin_cup.png" descr="Coin in an empty cup hidden by the rim; after adding water the coin becomes visible">    </p:cNvPr>
          <p:cNvPicPr>
            <a:picLocks noChangeAspect="1"/>
          </p:cNvPicPr>
          <p:nvPr/>
        </p:nvPicPr>
        <p:blipFill>
          <a:blip r:embed="rId1"/>
          <a:stretch>
            <a:fillRect/>
          </a:stretch>
        </p:blipFill>
        <p:spPr>
          <a:xfrm>
            <a:off x="548640" y="1422400"/>
            <a:ext cx="6766560" cy="3007360"/>
          </a:xfrm>
          <a:prstGeom prst="rect">
            <a:avLst/>
          </a:prstGeom>
        </p:spPr>
      </p:pic>
      <p:sp>
        <p:nvSpPr>
          <p:cNvPr id="8" name="Text 5"/>
          <p:cNvSpPr txBox="1"/>
          <p:nvPr/>
        </p:nvSpPr>
        <p:spPr>
          <a:xfrm>
            <a:off x="7589520" y="1463040"/>
            <a:ext cx="4050792" cy="201168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2"/>
                </a:solidFill>
              </a:rPr>
              <a:t>1. </a:t>
            </a:r>
            <a:pPr indent="0" marL="0">
              <a:spcAft>
                <a:spcPts val="800"/>
              </a:spcAft>
              <a:buNone/>
            </a:pPr>
            <a:r>
              <a:rPr lang="en-US" sz="1600" dirty="0">
                <a:solidFill>
                  <a:schemeClr val="tx1"/>
                </a:solidFill>
              </a:rPr>
              <a:t>Put a coin in the bottom of an empty cup.</a:t>
            </a:r>
            <a:endParaRPr lang="en-US" sz="1600" dirty="0"/>
          </a:p>
          <a:p>
            <a:pPr marL="228600" indent="-228600">
              <a:spcAft>
                <a:spcPts val="800"/>
              </a:spcAft>
              <a:buSzPct val="100000"/>
              <a:buChar char="•"/>
            </a:pPr>
            <a:r>
              <a:rPr lang="en-US" sz="1600" b="1" dirty="0">
                <a:solidFill>
                  <a:schemeClr val="tx2"/>
                </a:solidFill>
              </a:rPr>
              <a:t>2. </a:t>
            </a:r>
            <a:pPr indent="0" marL="0">
              <a:spcAft>
                <a:spcPts val="800"/>
              </a:spcAft>
              <a:buNone/>
            </a:pPr>
            <a:r>
              <a:rPr lang="en-US" sz="1600" dirty="0">
                <a:solidFill>
                  <a:schemeClr val="tx1"/>
                </a:solidFill>
              </a:rPr>
              <a:t>Move your head back until the rim just hides the coin.</a:t>
            </a:r>
            <a:endParaRPr lang="en-US" sz="1600" dirty="0"/>
          </a:p>
          <a:p>
            <a:pPr marL="228600" indent="-228600">
              <a:spcAft>
                <a:spcPts val="800"/>
              </a:spcAft>
              <a:buSzPct val="100000"/>
              <a:buChar char="•"/>
            </a:pPr>
            <a:r>
              <a:rPr lang="en-US" sz="1600" b="1" dirty="0">
                <a:solidFill>
                  <a:schemeClr val="tx2"/>
                </a:solidFill>
              </a:rPr>
              <a:t>3. </a:t>
            </a:r>
            <a:pPr indent="0" marL="0">
              <a:spcAft>
                <a:spcPts val="800"/>
              </a:spcAft>
              <a:buNone/>
            </a:pPr>
            <a:r>
              <a:rPr lang="en-US" sz="1600" dirty="0">
                <a:solidFill>
                  <a:schemeClr val="tx1"/>
                </a:solidFill>
              </a:rPr>
              <a:t>Keep still while your partner slowly pours in water.</a:t>
            </a:r>
            <a:endParaRPr lang="en-US" sz="1600" dirty="0"/>
          </a:p>
        </p:txBody>
      </p:sp>
      <p:sp>
        <p:nvSpPr>
          <p:cNvPr id="9" name="Shape 6"/>
          <p:cNvSpPr/>
          <p:nvPr/>
        </p:nvSpPr>
        <p:spPr>
          <a:xfrm>
            <a:off x="7589520" y="3520440"/>
            <a:ext cx="4050792" cy="914400"/>
          </a:xfrm>
          <a:prstGeom prst="roundRect">
            <a:avLst>
              <a:gd name="adj" fmla="val 8000"/>
            </a:avLst>
          </a:prstGeom>
          <a:solidFill>
            <a:schemeClr val="accent2">
              <a:alpha val="12000"/>
            </a:schemeClr>
          </a:solidFill>
          <a:ln w="9525">
            <a:solidFill>
              <a:schemeClr val="accent2">
                <a:alpha val="12000"/>
              </a:schemeClr>
            </a:solidFill>
            <a:prstDash val="solid"/>
          </a:ln>
        </p:spPr>
      </p:sp>
      <p:sp>
        <p:nvSpPr>
          <p:cNvPr id="10" name="Text 7"/>
          <p:cNvSpPr txBox="1"/>
          <p:nvPr/>
        </p:nvSpPr>
        <p:spPr>
          <a:xfrm>
            <a:off x="7772400" y="3630168"/>
            <a:ext cx="3685032" cy="69494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Predict first</a:t>
            </a:r>
            <a:endParaRPr lang="en-US" sz="1550" dirty="0"/>
          </a:p>
          <a:p>
            <a:pPr indent="0" marL="0">
              <a:spcAft>
                <a:spcPts val="400"/>
              </a:spcAft>
              <a:buNone/>
            </a:pPr>
            <a:r>
              <a:rPr lang="en-US" sz="1550" dirty="0">
                <a:solidFill>
                  <a:schemeClr val="tx1"/>
                </a:solidFill>
              </a:rPr>
              <a:t>Will the coin stay hidden, or reappear? Why?</a:t>
            </a:r>
            <a:endParaRPr lang="en-US" sz="1550" dirty="0"/>
          </a:p>
        </p:txBody>
      </p:sp>
      <p:sp>
        <p:nvSpPr>
          <p:cNvPr id="11" name="Text 8"/>
          <p:cNvSpPr txBox="1"/>
          <p:nvPr/>
        </p:nvSpPr>
        <p:spPr>
          <a:xfrm>
            <a:off x="548640" y="521208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2" name="rv1_ans_bg"/>
          <p:cNvSpPr/>
          <p:nvPr/>
        </p:nvSpPr>
        <p:spPr>
          <a:xfrm>
            <a:off x="548640" y="4617720"/>
            <a:ext cx="11094415" cy="1554480"/>
          </a:xfrm>
          <a:prstGeom prst="roundRect">
            <a:avLst>
              <a:gd name="adj" fmla="val 4706"/>
            </a:avLst>
          </a:prstGeom>
          <a:solidFill>
            <a:srgbClr val="EAF5EE"/>
          </a:solidFill>
          <a:ln w="15875">
            <a:solidFill>
              <a:schemeClr val="accent3"/>
            </a:solidFill>
            <a:prstDash val="solid"/>
          </a:ln>
        </p:spPr>
      </p:sp>
      <p:sp>
        <p:nvSpPr>
          <p:cNvPr id="13" name="rv1_ans_tx"/>
          <p:cNvSpPr txBox="1"/>
          <p:nvPr/>
        </p:nvSpPr>
        <p:spPr>
          <a:xfrm>
            <a:off x="731520" y="4727448"/>
            <a:ext cx="10728655" cy="133502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It reappears — light bends at the water surface</a:t>
            </a:r>
            <a:endParaRPr lang="en-US" sz="1500" dirty="0"/>
          </a:p>
          <a:p>
            <a:pPr indent="0" marL="0">
              <a:spcAft>
                <a:spcPts val="400"/>
              </a:spcAft>
              <a:buNone/>
            </a:pPr>
            <a:r>
              <a:rPr lang="en-US" sz="1500" dirty="0">
                <a:solidFill>
                  <a:schemeClr val="tx1"/>
                </a:solidFill>
              </a:rPr>
              <a:t>Light from the coin travels in water, then into air. At the surface it changes speed and bends away from the normal, so it now clears the rim and reaches your eye. Nothing moved except the light's path.</a:t>
            </a:r>
            <a:endParaRPr lang="en-US" sz="1500" dirty="0"/>
          </a:p>
          <a:p>
            <a:pPr indent="0" marL="0">
              <a:spcAft>
                <a:spcPts val="400"/>
              </a:spcAft>
              <a:buNone/>
            </a:pPr>
            <a:r>
              <a:rPr lang="en-US" sz="1500" dirty="0">
                <a:solidFill>
                  <a:schemeClr val="accent6"/>
                </a:solidFill>
              </a:rPr>
              <a:t>This is refraction — the idea behind lenses, refractometers, the eye and "bent" straws. We explain it properly in Part C.</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p:nvPr/>
        </p:nvSpPr>
        <p:spPr>
          <a:xfrm>
            <a:off x="548640" y="292608"/>
            <a:ext cx="969264" cy="292608"/>
          </a:xfrm>
          <a:prstGeom prst="roundRect">
            <a:avLst>
              <a:gd name="adj" fmla="val 50000"/>
            </a:avLst>
          </a:prstGeom>
          <a:solidFill>
            <a:schemeClr val="tx2"/>
          </a:solidFill>
          <a:ln w="12700">
            <a:solidFill>
              <a:schemeClr val="tx2"/>
            </a:solidFill>
            <a:prstDash val="solid"/>
          </a:ln>
        </p:spPr>
      </p:sp>
      <p:sp>
        <p:nvSpPr>
          <p:cNvPr id="3" name="Text 1"/>
          <p:cNvSpPr txBox="1"/>
          <p:nvPr/>
        </p:nvSpPr>
        <p:spPr>
          <a:xfrm>
            <a:off x="548640" y="292608"/>
            <a:ext cx="969264"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OVERVIEW</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By the end of today you should be able to…</a:t>
            </a:r>
            <a:endParaRPr lang="en-US" sz="3000" dirty="0"/>
          </a:p>
        </p:txBody>
      </p:sp>
      <p:sp>
        <p:nvSpPr>
          <p:cNvPr id="5" name="Shape 3"/>
          <p:cNvSpPr/>
          <p:nvPr/>
        </p:nvSpPr>
        <p:spPr>
          <a:xfrm>
            <a:off x="548640" y="1463040"/>
            <a:ext cx="5364328" cy="4206240"/>
          </a:xfrm>
          <a:prstGeom prst="roundRect">
            <a:avLst>
              <a:gd name="adj" fmla="val 1739"/>
            </a:avLst>
          </a:prstGeom>
          <a:solidFill>
            <a:schemeClr val="accent1">
              <a:alpha val="8000"/>
            </a:schemeClr>
          </a:solidFill>
          <a:ln w="9525">
            <a:solidFill>
              <a:schemeClr val="accent1">
                <a:alpha val="8000"/>
              </a:schemeClr>
            </a:solidFill>
            <a:prstDash val="solid"/>
          </a:ln>
        </p:spPr>
      </p:sp>
      <p:sp>
        <p:nvSpPr>
          <p:cNvPr id="6" name="Text 4"/>
          <p:cNvSpPr txBox="1"/>
          <p:nvPr/>
        </p:nvSpPr>
        <p:spPr>
          <a:xfrm>
            <a:off x="777240" y="1554480"/>
            <a:ext cx="4907128" cy="411480"/>
          </a:xfrm>
          <a:prstGeom prst="rect">
            <a:avLst/>
          </a:prstGeom>
          <a:noFill/>
          <a:ln/>
        </p:spPr>
        <p:txBody>
          <a:bodyPr wrap="square" lIns="0" tIns="0" rIns="0" bIns="0" rtlCol="0" anchor="ctr"/>
          <a:lstStyle/>
          <a:p>
            <a:pPr indent="0" marL="0">
              <a:buNone/>
            </a:pPr>
            <a:r>
              <a:rPr lang="en-US" sz="1600" b="1" spc="150" kern="0" dirty="0">
                <a:solidFill>
                  <a:schemeClr val="accent1"/>
                </a:solidFill>
              </a:rPr>
              <a:t>PART 1 · RAY OPTICS</a:t>
            </a:r>
            <a:endParaRPr lang="en-US" sz="1600" dirty="0"/>
          </a:p>
        </p:txBody>
      </p:sp>
      <p:sp>
        <p:nvSpPr>
          <p:cNvPr id="7" name="Shape 5"/>
          <p:cNvSpPr/>
          <p:nvPr/>
        </p:nvSpPr>
        <p:spPr>
          <a:xfrm>
            <a:off x="777240" y="214884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777240"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1417320" y="210312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Explain  </a:t>
            </a:r>
            <a:pPr indent="0" marL="0">
              <a:buNone/>
            </a:pPr>
            <a:r>
              <a:rPr lang="en-US" sz="1550" dirty="0">
                <a:solidFill>
                  <a:schemeClr val="tx1"/>
                </a:solidFill>
              </a:rPr>
              <a:t>when light behaves as a ray, a wave or a photon; use E = hf.</a:t>
            </a:r>
            <a:endParaRPr lang="en-US" sz="1550" dirty="0"/>
          </a:p>
        </p:txBody>
      </p:sp>
      <p:sp>
        <p:nvSpPr>
          <p:cNvPr id="10" name="Shape 8"/>
          <p:cNvSpPr/>
          <p:nvPr/>
        </p:nvSpPr>
        <p:spPr>
          <a:xfrm>
            <a:off x="777240" y="3017520"/>
            <a:ext cx="457200" cy="457200"/>
          </a:xfrm>
          <a:prstGeom prst="ellipse">
            <a:avLst/>
          </a:prstGeom>
          <a:solidFill>
            <a:schemeClr val="accent1"/>
          </a:solidFill>
          <a:ln w="12700">
            <a:solidFill>
              <a:schemeClr val="accent1"/>
            </a:solidFill>
            <a:prstDash val="solid"/>
          </a:ln>
        </p:spPr>
      </p:sp>
      <p:sp>
        <p:nvSpPr>
          <p:cNvPr id="11" name="Text 9"/>
          <p:cNvSpPr txBox="1"/>
          <p:nvPr/>
        </p:nvSpPr>
        <p:spPr>
          <a:xfrm>
            <a:off x="77724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1417320" y="297180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Apply  </a:t>
            </a:r>
            <a:pPr indent="0" marL="0">
              <a:buNone/>
            </a:pPr>
            <a:r>
              <a:rPr lang="en-US" sz="1550" dirty="0">
                <a:solidFill>
                  <a:schemeClr val="tx1"/>
                </a:solidFill>
              </a:rPr>
              <a:t>the law of reflection; explain gloss and dullness of food surfaces.</a:t>
            </a:r>
            <a:endParaRPr lang="en-US" sz="1550" dirty="0"/>
          </a:p>
        </p:txBody>
      </p:sp>
      <p:sp>
        <p:nvSpPr>
          <p:cNvPr id="13" name="Shape 11"/>
          <p:cNvSpPr/>
          <p:nvPr/>
        </p:nvSpPr>
        <p:spPr>
          <a:xfrm>
            <a:off x="777240" y="3886200"/>
            <a:ext cx="457200" cy="457200"/>
          </a:xfrm>
          <a:prstGeom prst="ellipse">
            <a:avLst/>
          </a:prstGeom>
          <a:solidFill>
            <a:schemeClr val="accent1"/>
          </a:solidFill>
          <a:ln w="12700">
            <a:solidFill>
              <a:schemeClr val="accent1"/>
            </a:solidFill>
            <a:prstDash val="solid"/>
          </a:ln>
        </p:spPr>
      </p:sp>
      <p:sp>
        <p:nvSpPr>
          <p:cNvPr id="14" name="Text 12"/>
          <p:cNvSpPr txBox="1"/>
          <p:nvPr/>
        </p:nvSpPr>
        <p:spPr>
          <a:xfrm>
            <a:off x="77724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1417320" y="384048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Use  </a:t>
            </a:r>
            <a:pPr indent="0" marL="0">
              <a:buNone/>
            </a:pPr>
            <a:r>
              <a:rPr lang="en-US" sz="1550" dirty="0">
                <a:solidFill>
                  <a:schemeClr val="tx1"/>
                </a:solidFill>
              </a:rPr>
              <a:t>n = c/v and Snell's law; explain total internal reflection and refractometers.</a:t>
            </a:r>
            <a:endParaRPr lang="en-US" sz="1550" dirty="0"/>
          </a:p>
        </p:txBody>
      </p:sp>
      <p:sp>
        <p:nvSpPr>
          <p:cNvPr id="16" name="Shape 14"/>
          <p:cNvSpPr/>
          <p:nvPr/>
        </p:nvSpPr>
        <p:spPr>
          <a:xfrm>
            <a:off x="777240" y="475488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777240"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417320" y="470916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Predict  </a:t>
            </a:r>
            <a:pPr indent="0" marL="0">
              <a:buNone/>
            </a:pPr>
            <a:r>
              <a:rPr lang="en-US" sz="1550" dirty="0">
                <a:solidFill>
                  <a:schemeClr val="tx1"/>
                </a:solidFill>
              </a:rPr>
              <a:t>images formed by lenses, the eye and the microscope.</a:t>
            </a:r>
            <a:endParaRPr lang="en-US" sz="1550" dirty="0"/>
          </a:p>
        </p:txBody>
      </p:sp>
      <p:sp>
        <p:nvSpPr>
          <p:cNvPr id="19" name="Shape 17"/>
          <p:cNvSpPr/>
          <p:nvPr/>
        </p:nvSpPr>
        <p:spPr>
          <a:xfrm>
            <a:off x="6278728" y="1463040"/>
            <a:ext cx="5364328" cy="4206240"/>
          </a:xfrm>
          <a:prstGeom prst="roundRect">
            <a:avLst>
              <a:gd name="adj" fmla="val 1739"/>
            </a:avLst>
          </a:prstGeom>
          <a:solidFill>
            <a:schemeClr val="accent4">
              <a:alpha val="8000"/>
            </a:schemeClr>
          </a:solidFill>
          <a:ln w="9525">
            <a:solidFill>
              <a:schemeClr val="accent4">
                <a:alpha val="8000"/>
              </a:schemeClr>
            </a:solidFill>
            <a:prstDash val="solid"/>
          </a:ln>
        </p:spPr>
      </p:sp>
      <p:sp>
        <p:nvSpPr>
          <p:cNvPr id="20" name="Text 18"/>
          <p:cNvSpPr txBox="1"/>
          <p:nvPr/>
        </p:nvSpPr>
        <p:spPr>
          <a:xfrm>
            <a:off x="6507328" y="1554480"/>
            <a:ext cx="4907128" cy="411480"/>
          </a:xfrm>
          <a:prstGeom prst="rect">
            <a:avLst/>
          </a:prstGeom>
          <a:noFill/>
          <a:ln/>
        </p:spPr>
        <p:txBody>
          <a:bodyPr wrap="square" lIns="0" tIns="0" rIns="0" bIns="0" rtlCol="0" anchor="ctr"/>
          <a:lstStyle/>
          <a:p>
            <a:pPr indent="0" marL="0">
              <a:buNone/>
            </a:pPr>
            <a:r>
              <a:rPr lang="en-US" sz="1600" b="1" spc="150" kern="0" dirty="0">
                <a:solidFill>
                  <a:schemeClr val="accent4"/>
                </a:solidFill>
              </a:rPr>
              <a:t>PART 2 · WAVE OPTICS</a:t>
            </a:r>
            <a:endParaRPr lang="en-US" sz="1600" dirty="0"/>
          </a:p>
        </p:txBody>
      </p:sp>
      <p:sp>
        <p:nvSpPr>
          <p:cNvPr id="21" name="Shape 19"/>
          <p:cNvSpPr/>
          <p:nvPr/>
        </p:nvSpPr>
        <p:spPr>
          <a:xfrm>
            <a:off x="6507328" y="2148840"/>
            <a:ext cx="457200" cy="457200"/>
          </a:xfrm>
          <a:prstGeom prst="ellipse">
            <a:avLst/>
          </a:prstGeom>
          <a:solidFill>
            <a:schemeClr val="accent4"/>
          </a:solidFill>
          <a:ln w="12700">
            <a:solidFill>
              <a:schemeClr val="accent4"/>
            </a:solidFill>
            <a:prstDash val="solid"/>
          </a:ln>
        </p:spPr>
      </p:sp>
      <p:sp>
        <p:nvSpPr>
          <p:cNvPr id="22" name="Text 20"/>
          <p:cNvSpPr txBox="1"/>
          <p:nvPr/>
        </p:nvSpPr>
        <p:spPr>
          <a:xfrm>
            <a:off x="6507328" y="21488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1"/>
          <p:cNvSpPr txBox="1"/>
          <p:nvPr/>
        </p:nvSpPr>
        <p:spPr>
          <a:xfrm>
            <a:off x="7147408" y="210312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Explain  </a:t>
            </a:r>
            <a:pPr indent="0" marL="0">
              <a:buNone/>
            </a:pPr>
            <a:r>
              <a:rPr lang="en-US" sz="1550" dirty="0">
                <a:solidFill>
                  <a:schemeClr val="tx1"/>
                </a:solidFill>
              </a:rPr>
              <a:t>interference in double slits, thin films and gratings.</a:t>
            </a:r>
            <a:endParaRPr lang="en-US" sz="1550" dirty="0"/>
          </a:p>
        </p:txBody>
      </p:sp>
      <p:sp>
        <p:nvSpPr>
          <p:cNvPr id="24" name="Shape 22"/>
          <p:cNvSpPr/>
          <p:nvPr/>
        </p:nvSpPr>
        <p:spPr>
          <a:xfrm>
            <a:off x="6507328" y="3017520"/>
            <a:ext cx="457200" cy="457200"/>
          </a:xfrm>
          <a:prstGeom prst="ellipse">
            <a:avLst/>
          </a:prstGeom>
          <a:solidFill>
            <a:schemeClr val="accent4"/>
          </a:solidFill>
          <a:ln w="12700">
            <a:solidFill>
              <a:schemeClr val="accent4"/>
            </a:solidFill>
            <a:prstDash val="solid"/>
          </a:ln>
        </p:spPr>
      </p:sp>
      <p:sp>
        <p:nvSpPr>
          <p:cNvPr id="25" name="Text 23"/>
          <p:cNvSpPr txBox="1"/>
          <p:nvPr/>
        </p:nvSpPr>
        <p:spPr>
          <a:xfrm>
            <a:off x="6507328"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7147408" y="297180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Explain  </a:t>
            </a:r>
            <a:pPr indent="0" marL="0">
              <a:buNone/>
            </a:pPr>
            <a:r>
              <a:rPr lang="en-US" sz="1550" dirty="0">
                <a:solidFill>
                  <a:schemeClr val="tx1"/>
                </a:solidFill>
              </a:rPr>
              <a:t>why diffraction limits microscope resolution, and how to improve it.</a:t>
            </a:r>
            <a:endParaRPr lang="en-US" sz="1550" dirty="0"/>
          </a:p>
        </p:txBody>
      </p:sp>
      <p:sp>
        <p:nvSpPr>
          <p:cNvPr id="27" name="Shape 25"/>
          <p:cNvSpPr/>
          <p:nvPr/>
        </p:nvSpPr>
        <p:spPr>
          <a:xfrm>
            <a:off x="6507328" y="3886200"/>
            <a:ext cx="457200" cy="457200"/>
          </a:xfrm>
          <a:prstGeom prst="ellipse">
            <a:avLst/>
          </a:prstGeom>
          <a:solidFill>
            <a:schemeClr val="accent4"/>
          </a:solidFill>
          <a:ln w="12700">
            <a:solidFill>
              <a:schemeClr val="accent4"/>
            </a:solidFill>
            <a:prstDash val="solid"/>
          </a:ln>
        </p:spPr>
      </p:sp>
      <p:sp>
        <p:nvSpPr>
          <p:cNvPr id="28" name="Text 26"/>
          <p:cNvSpPr txBox="1"/>
          <p:nvPr/>
        </p:nvSpPr>
        <p:spPr>
          <a:xfrm>
            <a:off x="6507328"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9" name="Text 27"/>
          <p:cNvSpPr txBox="1"/>
          <p:nvPr/>
        </p:nvSpPr>
        <p:spPr>
          <a:xfrm>
            <a:off x="7147408" y="384048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Describe  </a:t>
            </a:r>
            <a:pPr indent="0" marL="0">
              <a:buNone/>
            </a:pPr>
            <a:r>
              <a:rPr lang="en-US" sz="1550" dirty="0">
                <a:solidFill>
                  <a:schemeClr val="tx1"/>
                </a:solidFill>
              </a:rPr>
              <a:t>polarization and its use for starch, crystals, sugar and glare.</a:t>
            </a:r>
            <a:endParaRPr lang="en-US" sz="1550" dirty="0"/>
          </a:p>
        </p:txBody>
      </p:sp>
      <p:sp>
        <p:nvSpPr>
          <p:cNvPr id="30" name="Shape 28"/>
          <p:cNvSpPr/>
          <p:nvPr/>
        </p:nvSpPr>
        <p:spPr>
          <a:xfrm>
            <a:off x="6507328" y="4754880"/>
            <a:ext cx="457200" cy="457200"/>
          </a:xfrm>
          <a:prstGeom prst="ellipse">
            <a:avLst/>
          </a:prstGeom>
          <a:solidFill>
            <a:schemeClr val="accent4"/>
          </a:solidFill>
          <a:ln w="12700">
            <a:solidFill>
              <a:schemeClr val="accent4"/>
            </a:solidFill>
            <a:prstDash val="solid"/>
          </a:ln>
        </p:spPr>
      </p:sp>
      <p:sp>
        <p:nvSpPr>
          <p:cNvPr id="31" name="Text 29"/>
          <p:cNvSpPr txBox="1"/>
          <p:nvPr/>
        </p:nvSpPr>
        <p:spPr>
          <a:xfrm>
            <a:off x="6507328" y="4754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2" name="Text 30"/>
          <p:cNvSpPr txBox="1"/>
          <p:nvPr/>
        </p:nvSpPr>
        <p:spPr>
          <a:xfrm>
            <a:off x="7147408" y="4709160"/>
            <a:ext cx="4267048" cy="777240"/>
          </a:xfrm>
          <a:prstGeom prst="rect">
            <a:avLst/>
          </a:prstGeom>
          <a:noFill/>
          <a:ln/>
        </p:spPr>
        <p:txBody>
          <a:bodyPr wrap="square" lIns="0" tIns="0" rIns="0" bIns="0" rtlCol="0" anchor="ctr"/>
          <a:lstStyle/>
          <a:p>
            <a:pPr indent="0" marL="0">
              <a:buNone/>
            </a:pPr>
            <a:r>
              <a:rPr lang="en-US" sz="1550" b="1" dirty="0">
                <a:solidFill>
                  <a:schemeClr val="tx2"/>
                </a:solidFill>
              </a:rPr>
              <a:t>Explain  </a:t>
            </a:r>
            <a:pPr indent="0" marL="0">
              <a:buNone/>
            </a:pPr>
            <a:r>
              <a:rPr lang="en-US" sz="1550" dirty="0">
                <a:solidFill>
                  <a:schemeClr val="tx1"/>
                </a:solidFill>
              </a:rPr>
              <a:t>food colour, scattering and absorbance (Beer–Lambert) and NIR analysis.</a:t>
            </a:r>
            <a:endParaRPr lang="en-US" sz="1550" dirty="0"/>
          </a:p>
        </p:txBody>
      </p:sp>
      <p:sp>
        <p:nvSpPr>
          <p:cNvPr id="33" name="Text 31"/>
          <p:cNvSpPr txBox="1"/>
          <p:nvPr/>
        </p:nvSpPr>
        <p:spPr>
          <a:xfrm>
            <a:off x="548640" y="5806440"/>
            <a:ext cx="11094415" cy="45720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CLO1 </a:t>
            </a:r>
            <a:pPr indent="0" marL="0">
              <a:spcAft>
                <a:spcPts val="600"/>
              </a:spcAft>
              <a:buNone/>
            </a:pPr>
            <a:r>
              <a:rPr lang="en-US" sz="1400" dirty="0">
                <a:solidFill>
                  <a:schemeClr val="tx1"/>
                </a:solidFill>
              </a:rPr>
              <a:t>describe basic concepts (photons, light).   </a:t>
            </a:r>
            <a:pPr indent="0" marL="0">
              <a:spcAft>
                <a:spcPts val="600"/>
              </a:spcAft>
              <a:buNone/>
            </a:pPr>
            <a:r>
              <a:rPr lang="en-US" sz="1400" b="1" dirty="0">
                <a:solidFill>
                  <a:schemeClr val="accent1"/>
                </a:solidFill>
              </a:rPr>
              <a:t>CLO3 </a:t>
            </a:r>
            <a:pPr indent="0" marL="0">
              <a:spcAft>
                <a:spcPts val="600"/>
              </a:spcAft>
              <a:buNone/>
            </a:pPr>
            <a:r>
              <a:rPr lang="en-US" sz="1400" dirty="0">
                <a:solidFill>
                  <a:schemeClr val="tx1"/>
                </a:solidFill>
              </a:rPr>
              <a:t>ethical measurement: calibration, validation and honest images.   </a:t>
            </a:r>
            <a:pPr indent="0" marL="0">
              <a:spcAft>
                <a:spcPts val="600"/>
              </a:spcAft>
              <a:buNone/>
            </a:pPr>
            <a:r>
              <a:rPr lang="en-US" sz="1400" b="1" dirty="0">
                <a:solidFill>
                  <a:schemeClr val="accent1"/>
                </a:solidFill>
              </a:rPr>
              <a:t>Read: </a:t>
            </a:r>
            <a:pPr indent="0" marL="0">
              <a:spcAft>
                <a:spcPts val="600"/>
              </a:spcAft>
              <a:buNone/>
            </a:pPr>
            <a:r>
              <a:rPr lang="en-US" sz="1400" dirty="0">
                <a:solidFill>
                  <a:schemeClr val="tx1"/>
                </a:solidFill>
              </a:rPr>
              <a:t>OpenStax Ch. 25–27; Newman Ch. 19–22.</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p:nvPr/>
        </p:nvSpPr>
        <p:spPr>
          <a:xfrm>
            <a:off x="548640" y="292608"/>
            <a:ext cx="969264" cy="292608"/>
          </a:xfrm>
          <a:prstGeom prst="roundRect">
            <a:avLst>
              <a:gd name="adj" fmla="val 50000"/>
            </a:avLst>
          </a:prstGeom>
          <a:solidFill>
            <a:schemeClr val="tx2"/>
          </a:solidFill>
          <a:ln w="12700">
            <a:solidFill>
              <a:schemeClr val="tx2"/>
            </a:solidFill>
            <a:prstDash val="solid"/>
          </a:ln>
        </p:spPr>
      </p:sp>
      <p:sp>
        <p:nvSpPr>
          <p:cNvPr id="3" name="Text 1"/>
          <p:cNvSpPr txBox="1"/>
          <p:nvPr/>
        </p:nvSpPr>
        <p:spPr>
          <a:xfrm>
            <a:off x="548640" y="292608"/>
            <a:ext cx="969264"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OVERVIEW</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Today's route: rays first, then waves</a:t>
            </a:r>
            <a:endParaRPr lang="en-US" sz="3000" dirty="0"/>
          </a:p>
        </p:txBody>
      </p:sp>
      <p:sp>
        <p:nvSpPr>
          <p:cNvPr id="5" name="Text 3"/>
          <p:cNvSpPr txBox="1"/>
          <p:nvPr/>
        </p:nvSpPr>
        <p:spPr>
          <a:xfrm>
            <a:off x="548640" y="1463040"/>
            <a:ext cx="4572000" cy="320040"/>
          </a:xfrm>
          <a:prstGeom prst="rect">
            <a:avLst/>
          </a:prstGeom>
          <a:noFill/>
          <a:ln/>
        </p:spPr>
        <p:txBody>
          <a:bodyPr wrap="square" lIns="0" tIns="0" rIns="0" bIns="0" rtlCol="0" anchor="ctr"/>
          <a:lstStyle/>
          <a:p>
            <a:pPr indent="0" marL="0">
              <a:buNone/>
            </a:pPr>
            <a:r>
              <a:rPr lang="en-US" sz="1400" b="1" spc="150" kern="0" dirty="0">
                <a:solidFill>
                  <a:schemeClr val="accent1"/>
                </a:solidFill>
              </a:rPr>
              <a:t>PART 1 · RAY OPTICS</a:t>
            </a:r>
            <a:endParaRPr lang="en-US" sz="1400" dirty="0"/>
          </a:p>
        </p:txBody>
      </p:sp>
      <p:sp>
        <p:nvSpPr>
          <p:cNvPr id="6" name="Shape 4"/>
          <p:cNvSpPr/>
          <p:nvPr/>
        </p:nvSpPr>
        <p:spPr>
          <a:xfrm>
            <a:off x="548640" y="1847088"/>
            <a:ext cx="2602154" cy="1554480"/>
          </a:xfrm>
          <a:prstGeom prst="roundRect">
            <a:avLst>
              <a:gd name="adj" fmla="val 4706"/>
            </a:avLst>
          </a:prstGeom>
          <a:solidFill>
            <a:schemeClr val="accent1">
              <a:alpha val="9000"/>
            </a:schemeClr>
          </a:solidFill>
          <a:ln w="9525">
            <a:solidFill>
              <a:schemeClr val="accent1">
                <a:alpha val="9000"/>
              </a:schemeClr>
            </a:solidFill>
            <a:prstDash val="solid"/>
          </a:ln>
        </p:spPr>
      </p:sp>
      <p:sp>
        <p:nvSpPr>
          <p:cNvPr id="7" name="Text 5"/>
          <p:cNvSpPr txBox="1"/>
          <p:nvPr/>
        </p:nvSpPr>
        <p:spPr>
          <a:xfrm>
            <a:off x="731520" y="1920240"/>
            <a:ext cx="7315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A</a:t>
            </a:r>
            <a:endParaRPr lang="en-US" sz="4000" dirty="0"/>
          </a:p>
        </p:txBody>
      </p:sp>
      <p:sp>
        <p:nvSpPr>
          <p:cNvPr id="8" name="Text 6"/>
          <p:cNvSpPr txBox="1"/>
          <p:nvPr/>
        </p:nvSpPr>
        <p:spPr>
          <a:xfrm>
            <a:off x="731520" y="2743200"/>
            <a:ext cx="2236394" cy="548640"/>
          </a:xfrm>
          <a:prstGeom prst="rect">
            <a:avLst/>
          </a:prstGeom>
          <a:noFill/>
          <a:ln/>
        </p:spPr>
        <p:txBody>
          <a:bodyPr wrap="square" lIns="0" tIns="0" rIns="0" bIns="0" rtlCol="0" anchor="t"/>
          <a:lstStyle/>
          <a:p>
            <a:pPr indent="0" marL="0">
              <a:buNone/>
            </a:pPr>
            <a:r>
              <a:rPr lang="en-US" sz="1600" b="1" dirty="0">
                <a:solidFill>
                  <a:schemeClr val="tx2"/>
                </a:solidFill>
              </a:rPr>
              <a:t>What is light?</a:t>
            </a:r>
            <a:endParaRPr lang="en-US" sz="1600" dirty="0"/>
          </a:p>
        </p:txBody>
      </p:sp>
      <p:sp>
        <p:nvSpPr>
          <p:cNvPr id="9" name="Shape 7"/>
          <p:cNvSpPr/>
          <p:nvPr/>
        </p:nvSpPr>
        <p:spPr>
          <a:xfrm>
            <a:off x="3379394" y="1847088"/>
            <a:ext cx="2602154" cy="1554480"/>
          </a:xfrm>
          <a:prstGeom prst="roundRect">
            <a:avLst>
              <a:gd name="adj" fmla="val 4706"/>
            </a:avLst>
          </a:prstGeom>
          <a:solidFill>
            <a:schemeClr val="accent1">
              <a:alpha val="9000"/>
            </a:schemeClr>
          </a:solidFill>
          <a:ln w="9525">
            <a:solidFill>
              <a:schemeClr val="accent1">
                <a:alpha val="9000"/>
              </a:schemeClr>
            </a:solidFill>
            <a:prstDash val="solid"/>
          </a:ln>
        </p:spPr>
      </p:sp>
      <p:sp>
        <p:nvSpPr>
          <p:cNvPr id="10" name="Text 8"/>
          <p:cNvSpPr txBox="1"/>
          <p:nvPr/>
        </p:nvSpPr>
        <p:spPr>
          <a:xfrm>
            <a:off x="3562274" y="1920240"/>
            <a:ext cx="7315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B</a:t>
            </a:r>
            <a:endParaRPr lang="en-US" sz="4000" dirty="0"/>
          </a:p>
        </p:txBody>
      </p:sp>
      <p:sp>
        <p:nvSpPr>
          <p:cNvPr id="11" name="Text 9"/>
          <p:cNvSpPr txBox="1"/>
          <p:nvPr/>
        </p:nvSpPr>
        <p:spPr>
          <a:xfrm>
            <a:off x="3562274" y="2743200"/>
            <a:ext cx="2236394" cy="548640"/>
          </a:xfrm>
          <a:prstGeom prst="rect">
            <a:avLst/>
          </a:prstGeom>
          <a:noFill/>
          <a:ln/>
        </p:spPr>
        <p:txBody>
          <a:bodyPr wrap="square" lIns="0" tIns="0" rIns="0" bIns="0" rtlCol="0" anchor="t"/>
          <a:lstStyle/>
          <a:p>
            <a:pPr indent="0" marL="0">
              <a:buNone/>
            </a:pPr>
            <a:r>
              <a:rPr lang="en-US" sz="1600" b="1" dirty="0">
                <a:solidFill>
                  <a:schemeClr val="tx2"/>
                </a:solidFill>
              </a:rPr>
              <a:t>Reflection</a:t>
            </a:r>
            <a:endParaRPr lang="en-US" sz="1600" dirty="0"/>
          </a:p>
        </p:txBody>
      </p:sp>
      <p:sp>
        <p:nvSpPr>
          <p:cNvPr id="12" name="Shape 10"/>
          <p:cNvSpPr/>
          <p:nvPr/>
        </p:nvSpPr>
        <p:spPr>
          <a:xfrm>
            <a:off x="6210148" y="1847088"/>
            <a:ext cx="2602154" cy="1554480"/>
          </a:xfrm>
          <a:prstGeom prst="roundRect">
            <a:avLst>
              <a:gd name="adj" fmla="val 4706"/>
            </a:avLst>
          </a:prstGeom>
          <a:solidFill>
            <a:schemeClr val="accent1">
              <a:alpha val="9000"/>
            </a:schemeClr>
          </a:solidFill>
          <a:ln w="9525">
            <a:solidFill>
              <a:schemeClr val="accent1">
                <a:alpha val="9000"/>
              </a:schemeClr>
            </a:solidFill>
            <a:prstDash val="solid"/>
          </a:ln>
        </p:spPr>
      </p:sp>
      <p:sp>
        <p:nvSpPr>
          <p:cNvPr id="13" name="Text 11"/>
          <p:cNvSpPr txBox="1"/>
          <p:nvPr/>
        </p:nvSpPr>
        <p:spPr>
          <a:xfrm>
            <a:off x="6393028" y="1920240"/>
            <a:ext cx="7315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C</a:t>
            </a:r>
            <a:endParaRPr lang="en-US" sz="4000" dirty="0"/>
          </a:p>
        </p:txBody>
      </p:sp>
      <p:sp>
        <p:nvSpPr>
          <p:cNvPr id="14" name="Text 12"/>
          <p:cNvSpPr txBox="1"/>
          <p:nvPr/>
        </p:nvSpPr>
        <p:spPr>
          <a:xfrm>
            <a:off x="6393028" y="2743200"/>
            <a:ext cx="2236394" cy="548640"/>
          </a:xfrm>
          <a:prstGeom prst="rect">
            <a:avLst/>
          </a:prstGeom>
          <a:noFill/>
          <a:ln/>
        </p:spPr>
        <p:txBody>
          <a:bodyPr wrap="square" lIns="0" tIns="0" rIns="0" bIns="0" rtlCol="0" anchor="t"/>
          <a:lstStyle/>
          <a:p>
            <a:pPr indent="0" marL="0">
              <a:buNone/>
            </a:pPr>
            <a:r>
              <a:rPr lang="en-US" sz="1600" b="1" dirty="0">
                <a:solidFill>
                  <a:schemeClr val="tx2"/>
                </a:solidFill>
              </a:rPr>
              <a:t>Refraction &amp; TIR</a:t>
            </a:r>
            <a:endParaRPr lang="en-US" sz="1600" dirty="0"/>
          </a:p>
        </p:txBody>
      </p:sp>
      <p:sp>
        <p:nvSpPr>
          <p:cNvPr id="15" name="Shape 13"/>
          <p:cNvSpPr/>
          <p:nvPr/>
        </p:nvSpPr>
        <p:spPr>
          <a:xfrm>
            <a:off x="9040901" y="1847088"/>
            <a:ext cx="2602154" cy="1554480"/>
          </a:xfrm>
          <a:prstGeom prst="roundRect">
            <a:avLst>
              <a:gd name="adj" fmla="val 4706"/>
            </a:avLst>
          </a:prstGeom>
          <a:solidFill>
            <a:schemeClr val="accent1">
              <a:alpha val="9000"/>
            </a:schemeClr>
          </a:solidFill>
          <a:ln w="9525">
            <a:solidFill>
              <a:schemeClr val="accent1">
                <a:alpha val="9000"/>
              </a:schemeClr>
            </a:solidFill>
            <a:prstDash val="solid"/>
          </a:ln>
        </p:spPr>
      </p:sp>
      <p:sp>
        <p:nvSpPr>
          <p:cNvPr id="16" name="Text 14"/>
          <p:cNvSpPr txBox="1"/>
          <p:nvPr/>
        </p:nvSpPr>
        <p:spPr>
          <a:xfrm>
            <a:off x="9223781" y="1920240"/>
            <a:ext cx="73152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D</a:t>
            </a:r>
            <a:endParaRPr lang="en-US" sz="4000" dirty="0"/>
          </a:p>
        </p:txBody>
      </p:sp>
      <p:sp>
        <p:nvSpPr>
          <p:cNvPr id="17" name="Text 15"/>
          <p:cNvSpPr txBox="1"/>
          <p:nvPr/>
        </p:nvSpPr>
        <p:spPr>
          <a:xfrm>
            <a:off x="9223781" y="2743200"/>
            <a:ext cx="2236394" cy="548640"/>
          </a:xfrm>
          <a:prstGeom prst="rect">
            <a:avLst/>
          </a:prstGeom>
          <a:noFill/>
          <a:ln/>
        </p:spPr>
        <p:txBody>
          <a:bodyPr wrap="square" lIns="0" tIns="0" rIns="0" bIns="0" rtlCol="0" anchor="t"/>
          <a:lstStyle/>
          <a:p>
            <a:pPr indent="0" marL="0">
              <a:buNone/>
            </a:pPr>
            <a:r>
              <a:rPr lang="en-US" sz="1600" b="1" dirty="0">
                <a:solidFill>
                  <a:schemeClr val="tx2"/>
                </a:solidFill>
              </a:rPr>
              <a:t>Lenses &amp; images</a:t>
            </a:r>
            <a:endParaRPr lang="en-US" sz="1600" dirty="0"/>
          </a:p>
        </p:txBody>
      </p:sp>
      <p:sp>
        <p:nvSpPr>
          <p:cNvPr id="18" name="Text 16"/>
          <p:cNvSpPr txBox="1"/>
          <p:nvPr/>
        </p:nvSpPr>
        <p:spPr>
          <a:xfrm>
            <a:off x="548640" y="3611880"/>
            <a:ext cx="4572000" cy="320040"/>
          </a:xfrm>
          <a:prstGeom prst="rect">
            <a:avLst/>
          </a:prstGeom>
          <a:noFill/>
          <a:ln/>
        </p:spPr>
        <p:txBody>
          <a:bodyPr wrap="square" lIns="0" tIns="0" rIns="0" bIns="0" rtlCol="0" anchor="ctr"/>
          <a:lstStyle/>
          <a:p>
            <a:pPr indent="0" marL="0">
              <a:buNone/>
            </a:pPr>
            <a:r>
              <a:rPr lang="en-US" sz="1400" b="1" spc="150" kern="0" dirty="0">
                <a:solidFill>
                  <a:schemeClr val="accent4"/>
                </a:solidFill>
              </a:rPr>
              <a:t>PART 2 · WAVE OPTICS</a:t>
            </a:r>
            <a:endParaRPr lang="en-US" sz="1400" dirty="0"/>
          </a:p>
        </p:txBody>
      </p:sp>
      <p:sp>
        <p:nvSpPr>
          <p:cNvPr id="19" name="Shape 17"/>
          <p:cNvSpPr/>
          <p:nvPr/>
        </p:nvSpPr>
        <p:spPr>
          <a:xfrm>
            <a:off x="548640" y="3995928"/>
            <a:ext cx="2602154" cy="1554480"/>
          </a:xfrm>
          <a:prstGeom prst="roundRect">
            <a:avLst>
              <a:gd name="adj" fmla="val 4706"/>
            </a:avLst>
          </a:prstGeom>
          <a:solidFill>
            <a:schemeClr val="accent4">
              <a:alpha val="9000"/>
            </a:schemeClr>
          </a:solidFill>
          <a:ln w="9525">
            <a:solidFill>
              <a:schemeClr val="accent4">
                <a:alpha val="9000"/>
              </a:schemeClr>
            </a:solidFill>
            <a:prstDash val="solid"/>
          </a:ln>
        </p:spPr>
      </p:sp>
      <p:sp>
        <p:nvSpPr>
          <p:cNvPr id="20" name="Text 18"/>
          <p:cNvSpPr txBox="1"/>
          <p:nvPr/>
        </p:nvSpPr>
        <p:spPr>
          <a:xfrm>
            <a:off x="731520" y="4069080"/>
            <a:ext cx="7315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E</a:t>
            </a:r>
            <a:endParaRPr lang="en-US" sz="4000" dirty="0"/>
          </a:p>
        </p:txBody>
      </p:sp>
      <p:sp>
        <p:nvSpPr>
          <p:cNvPr id="21" name="Text 19"/>
          <p:cNvSpPr txBox="1"/>
          <p:nvPr/>
        </p:nvSpPr>
        <p:spPr>
          <a:xfrm>
            <a:off x="731520" y="4892040"/>
            <a:ext cx="2236394" cy="548640"/>
          </a:xfrm>
          <a:prstGeom prst="rect">
            <a:avLst/>
          </a:prstGeom>
          <a:noFill/>
          <a:ln/>
        </p:spPr>
        <p:txBody>
          <a:bodyPr wrap="square" lIns="0" tIns="0" rIns="0" bIns="0" rtlCol="0" anchor="t"/>
          <a:lstStyle/>
          <a:p>
            <a:pPr indent="0" marL="0">
              <a:buNone/>
            </a:pPr>
            <a:r>
              <a:rPr lang="en-US" sz="1600" b="1" dirty="0">
                <a:solidFill>
                  <a:schemeClr val="tx2"/>
                </a:solidFill>
              </a:rPr>
              <a:t>Interference</a:t>
            </a:r>
            <a:endParaRPr lang="en-US" sz="1600" dirty="0"/>
          </a:p>
        </p:txBody>
      </p:sp>
      <p:sp>
        <p:nvSpPr>
          <p:cNvPr id="22" name="Shape 20"/>
          <p:cNvSpPr/>
          <p:nvPr/>
        </p:nvSpPr>
        <p:spPr>
          <a:xfrm>
            <a:off x="3379394" y="3995928"/>
            <a:ext cx="2602154" cy="1554480"/>
          </a:xfrm>
          <a:prstGeom prst="roundRect">
            <a:avLst>
              <a:gd name="adj" fmla="val 4706"/>
            </a:avLst>
          </a:prstGeom>
          <a:solidFill>
            <a:schemeClr val="accent4">
              <a:alpha val="9000"/>
            </a:schemeClr>
          </a:solidFill>
          <a:ln w="9525">
            <a:solidFill>
              <a:schemeClr val="accent4">
                <a:alpha val="9000"/>
              </a:schemeClr>
            </a:solidFill>
            <a:prstDash val="solid"/>
          </a:ln>
        </p:spPr>
      </p:sp>
      <p:sp>
        <p:nvSpPr>
          <p:cNvPr id="23" name="Text 21"/>
          <p:cNvSpPr txBox="1"/>
          <p:nvPr/>
        </p:nvSpPr>
        <p:spPr>
          <a:xfrm>
            <a:off x="3562274" y="4069080"/>
            <a:ext cx="7315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F</a:t>
            </a:r>
            <a:endParaRPr lang="en-US" sz="4000" dirty="0"/>
          </a:p>
        </p:txBody>
      </p:sp>
      <p:sp>
        <p:nvSpPr>
          <p:cNvPr id="24" name="Text 22"/>
          <p:cNvSpPr txBox="1"/>
          <p:nvPr/>
        </p:nvSpPr>
        <p:spPr>
          <a:xfrm>
            <a:off x="3562274" y="4892040"/>
            <a:ext cx="2236394" cy="548640"/>
          </a:xfrm>
          <a:prstGeom prst="rect">
            <a:avLst/>
          </a:prstGeom>
          <a:noFill/>
          <a:ln/>
        </p:spPr>
        <p:txBody>
          <a:bodyPr wrap="square" lIns="0" tIns="0" rIns="0" bIns="0" rtlCol="0" anchor="t"/>
          <a:lstStyle/>
          <a:p>
            <a:pPr indent="0" marL="0">
              <a:buNone/>
            </a:pPr>
            <a:r>
              <a:rPr lang="en-US" sz="1600" b="1" dirty="0">
                <a:solidFill>
                  <a:schemeClr val="tx2"/>
                </a:solidFill>
              </a:rPr>
              <a:t>Diffraction &amp; resolution</a:t>
            </a:r>
            <a:endParaRPr lang="en-US" sz="1600" dirty="0"/>
          </a:p>
        </p:txBody>
      </p:sp>
      <p:sp>
        <p:nvSpPr>
          <p:cNvPr id="25" name="Shape 23"/>
          <p:cNvSpPr/>
          <p:nvPr/>
        </p:nvSpPr>
        <p:spPr>
          <a:xfrm>
            <a:off x="6210148" y="3995928"/>
            <a:ext cx="2602154" cy="1554480"/>
          </a:xfrm>
          <a:prstGeom prst="roundRect">
            <a:avLst>
              <a:gd name="adj" fmla="val 4706"/>
            </a:avLst>
          </a:prstGeom>
          <a:solidFill>
            <a:schemeClr val="accent4">
              <a:alpha val="9000"/>
            </a:schemeClr>
          </a:solidFill>
          <a:ln w="9525">
            <a:solidFill>
              <a:schemeClr val="accent4">
                <a:alpha val="9000"/>
              </a:schemeClr>
            </a:solidFill>
            <a:prstDash val="solid"/>
          </a:ln>
        </p:spPr>
      </p:sp>
      <p:sp>
        <p:nvSpPr>
          <p:cNvPr id="26" name="Text 24"/>
          <p:cNvSpPr txBox="1"/>
          <p:nvPr/>
        </p:nvSpPr>
        <p:spPr>
          <a:xfrm>
            <a:off x="6393028" y="4069080"/>
            <a:ext cx="7315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G</a:t>
            </a:r>
            <a:endParaRPr lang="en-US" sz="4000" dirty="0"/>
          </a:p>
        </p:txBody>
      </p:sp>
      <p:sp>
        <p:nvSpPr>
          <p:cNvPr id="27" name="Text 25"/>
          <p:cNvSpPr txBox="1"/>
          <p:nvPr/>
        </p:nvSpPr>
        <p:spPr>
          <a:xfrm>
            <a:off x="6393028" y="4892040"/>
            <a:ext cx="2236394" cy="548640"/>
          </a:xfrm>
          <a:prstGeom prst="rect">
            <a:avLst/>
          </a:prstGeom>
          <a:noFill/>
          <a:ln/>
        </p:spPr>
        <p:txBody>
          <a:bodyPr wrap="square" lIns="0" tIns="0" rIns="0" bIns="0" rtlCol="0" anchor="t"/>
          <a:lstStyle/>
          <a:p>
            <a:pPr indent="0" marL="0">
              <a:buNone/>
            </a:pPr>
            <a:r>
              <a:rPr lang="en-US" sz="1600" b="1" dirty="0">
                <a:solidFill>
                  <a:schemeClr val="tx2"/>
                </a:solidFill>
              </a:rPr>
              <a:t>Polarization</a:t>
            </a:r>
            <a:endParaRPr lang="en-US" sz="1600" dirty="0"/>
          </a:p>
        </p:txBody>
      </p:sp>
      <p:sp>
        <p:nvSpPr>
          <p:cNvPr id="28" name="Shape 26"/>
          <p:cNvSpPr/>
          <p:nvPr/>
        </p:nvSpPr>
        <p:spPr>
          <a:xfrm>
            <a:off x="9040901" y="3995928"/>
            <a:ext cx="2602154" cy="1554480"/>
          </a:xfrm>
          <a:prstGeom prst="roundRect">
            <a:avLst>
              <a:gd name="adj" fmla="val 4706"/>
            </a:avLst>
          </a:prstGeom>
          <a:solidFill>
            <a:schemeClr val="accent4">
              <a:alpha val="9000"/>
            </a:schemeClr>
          </a:solidFill>
          <a:ln w="9525">
            <a:solidFill>
              <a:schemeClr val="accent4">
                <a:alpha val="9000"/>
              </a:schemeClr>
            </a:solidFill>
            <a:prstDash val="solid"/>
          </a:ln>
        </p:spPr>
      </p:sp>
      <p:sp>
        <p:nvSpPr>
          <p:cNvPr id="29" name="Text 27"/>
          <p:cNvSpPr txBox="1"/>
          <p:nvPr/>
        </p:nvSpPr>
        <p:spPr>
          <a:xfrm>
            <a:off x="9223781" y="4069080"/>
            <a:ext cx="731520" cy="82296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H</a:t>
            </a:r>
            <a:endParaRPr lang="en-US" sz="4000" dirty="0"/>
          </a:p>
        </p:txBody>
      </p:sp>
      <p:sp>
        <p:nvSpPr>
          <p:cNvPr id="30" name="Text 28"/>
          <p:cNvSpPr txBox="1"/>
          <p:nvPr/>
        </p:nvSpPr>
        <p:spPr>
          <a:xfrm>
            <a:off x="9223781" y="4892040"/>
            <a:ext cx="2236394" cy="548640"/>
          </a:xfrm>
          <a:prstGeom prst="rect">
            <a:avLst/>
          </a:prstGeom>
          <a:noFill/>
          <a:ln/>
        </p:spPr>
        <p:txBody>
          <a:bodyPr wrap="square" lIns="0" tIns="0" rIns="0" bIns="0" rtlCol="0" anchor="t"/>
          <a:lstStyle/>
          <a:p>
            <a:pPr indent="0" marL="0">
              <a:buNone/>
            </a:pPr>
            <a:r>
              <a:rPr lang="en-US" sz="1600" b="1" dirty="0">
                <a:solidFill>
                  <a:schemeClr val="tx2"/>
                </a:solidFill>
              </a:rPr>
              <a:t>Colour &amp; spectroscopy</a:t>
            </a:r>
            <a:endParaRPr lang="en-US" sz="1600" dirty="0"/>
          </a:p>
        </p:txBody>
      </p:sp>
      <p:sp>
        <p:nvSpPr>
          <p:cNvPr id="31" name="Text 29"/>
          <p:cNvSpPr txBox="1"/>
          <p:nvPr/>
        </p:nvSpPr>
        <p:spPr>
          <a:xfrm>
            <a:off x="548640" y="5806440"/>
            <a:ext cx="11094415" cy="548640"/>
          </a:xfrm>
          <a:prstGeom prst="rect">
            <a:avLst/>
          </a:prstGeom>
          <a:noFill/>
          <a:ln/>
        </p:spPr>
        <p:txBody>
          <a:bodyPr wrap="square" lIns="0" tIns="0" rIns="0" bIns="0" rtlCol="0" anchor="t"/>
          <a:lstStyle/>
          <a:p>
            <a:pPr indent="0" marL="0">
              <a:spcAft>
                <a:spcPts val="600"/>
              </a:spcAft>
              <a:buNone/>
            </a:pPr>
            <a:r>
              <a:rPr lang="en-US" sz="1500" b="1" dirty="0">
                <a:solidFill>
                  <a:schemeClr val="accent2"/>
                </a:solidFill>
              </a:rPr>
              <a:t>Which model?  </a:t>
            </a:r>
            <a:pPr indent="0" marL="0">
              <a:spcAft>
                <a:spcPts val="600"/>
              </a:spcAft>
              <a:buNone/>
            </a:pPr>
            <a:r>
              <a:rPr lang="en-US" sz="1500" dirty="0">
                <a:solidFill>
                  <a:schemeClr val="tx1"/>
                </a:solidFill>
              </a:rPr>
              <a:t>Use rays when everything is much bigger than the wavelength (mirrors, lenses). Use waves when features are close to the wavelength (thin films, small details). Use photons when light is absorbed or emitted.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A</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What is light?</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Ray, wave or photon — three models for three kinds of question, and why photon energy matters for food safety</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Light: one thing, three useful models</a:t>
            </a:r>
            <a:endParaRPr lang="en-US" sz="3000" dirty="0"/>
          </a:p>
        </p:txBody>
      </p:sp>
      <p:pic>
        <p:nvPicPr>
          <p:cNvPr id="5" name="img_light_models.png" descr="Three models of light: rays, waves and photons, with when each is used">    </p:cNvPr>
          <p:cNvPicPr>
            <a:picLocks noChangeAspect="1"/>
          </p:cNvPicPr>
          <p:nvPr/>
        </p:nvPicPr>
        <p:blipFill>
          <a:blip r:embed="rId1"/>
          <a:stretch>
            <a:fillRect/>
          </a:stretch>
        </p:blipFill>
        <p:spPr>
          <a:xfrm>
            <a:off x="1380973" y="1417320"/>
            <a:ext cx="9429750" cy="3017520"/>
          </a:xfrm>
          <a:prstGeom prst="rect">
            <a:avLst/>
          </a:prstGeom>
        </p:spPr>
      </p:pic>
      <p:sp>
        <p:nvSpPr>
          <p:cNvPr id="6" name="Text 3"/>
          <p:cNvSpPr txBox="1"/>
          <p:nvPr/>
        </p:nvSpPr>
        <p:spPr>
          <a:xfrm>
            <a:off x="548640" y="457200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Light is an electromagnetic wave </a:t>
            </a:r>
            <a:pPr indent="0" marL="0">
              <a:spcAft>
                <a:spcPts val="800"/>
              </a:spcAft>
              <a:buNone/>
            </a:pPr>
            <a:r>
              <a:rPr lang="en-US" sz="1550" dirty="0">
                <a:solidFill>
                  <a:schemeClr val="tx1"/>
                </a:solidFill>
              </a:rPr>
              <a:t>(waves lecture): electric and magnetic fields oscillating, travelling at c = 3.00 × 10⁸ m/s in vacuum.</a:t>
            </a:r>
            <a:endParaRPr lang="en-US" sz="1550" dirty="0"/>
          </a:p>
          <a:p>
            <a:pPr marL="228600" indent="-228600">
              <a:spcAft>
                <a:spcPts val="800"/>
              </a:spcAft>
              <a:buSzPct val="100000"/>
              <a:buChar char="•"/>
            </a:pPr>
            <a:r>
              <a:rPr lang="en-US" sz="1550" b="1" dirty="0">
                <a:solidFill>
                  <a:schemeClr val="tx2"/>
                </a:solidFill>
              </a:rPr>
              <a:t>When objects are much bigger than λ (≈ 0.0005 mm), </a:t>
            </a:r>
            <a:pPr indent="0" marL="0">
              <a:spcAft>
                <a:spcPts val="800"/>
              </a:spcAft>
              <a:buNone/>
            </a:pPr>
            <a:r>
              <a:rPr lang="en-US" sz="1550" dirty="0">
                <a:solidFill>
                  <a:schemeClr val="tx1"/>
                </a:solidFill>
              </a:rPr>
              <a:t>the wave travels in straight lines — we can draw rays.</a:t>
            </a:r>
            <a:endParaRPr lang="en-US" sz="1550" dirty="0"/>
          </a:p>
          <a:p>
            <a:pPr marL="228600" indent="-228600">
              <a:spcAft>
                <a:spcPts val="800"/>
              </a:spcAft>
              <a:buSzPct val="100000"/>
              <a:buChar char="•"/>
            </a:pPr>
            <a:r>
              <a:rPr lang="en-US" sz="1550" b="1" dirty="0">
                <a:solidFill>
                  <a:schemeClr val="tx2"/>
                </a:solidFill>
              </a:rPr>
              <a:t>When light is absorbed or emitted, </a:t>
            </a:r>
            <a:pPr indent="0" marL="0">
              <a:spcAft>
                <a:spcPts val="800"/>
              </a:spcAft>
              <a:buNone/>
            </a:pPr>
            <a:r>
              <a:rPr lang="en-US" sz="1550" dirty="0">
                <a:solidFill>
                  <a:schemeClr val="tx1"/>
                </a:solidFill>
              </a:rPr>
              <a:t>it behaves as packets of energy called photons.</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Photon energy: why UV harms microbes and microwaves don't</a:t>
            </a:r>
            <a:endParaRPr lang="en-US" sz="3000" dirty="0"/>
          </a:p>
        </p:txBody>
      </p:sp>
      <p:sp>
        <p:nvSpPr>
          <p:cNvPr id="5" name="Shape 3"/>
          <p:cNvSpPr/>
          <p:nvPr/>
        </p:nvSpPr>
        <p:spPr>
          <a:xfrm>
            <a:off x="548640" y="1463040"/>
            <a:ext cx="5486400" cy="822960"/>
          </a:xfrm>
          <a:prstGeom prst="roundRect">
            <a:avLst>
              <a:gd name="adj" fmla="val 8889"/>
            </a:avLst>
          </a:prstGeom>
          <a:solidFill>
            <a:schemeClr val="accent1">
              <a:alpha val="12000"/>
            </a:schemeClr>
          </a:solidFill>
          <a:ln w="9525">
            <a:solidFill>
              <a:schemeClr val="accent1">
                <a:alpha val="12000"/>
              </a:schemeClr>
            </a:solidFill>
            <a:prstDash val="solid"/>
          </a:ln>
        </p:spPr>
      </p:sp>
      <p:sp>
        <p:nvSpPr>
          <p:cNvPr id="6" name="Text 4"/>
          <p:cNvSpPr txBox="1"/>
          <p:nvPr/>
        </p:nvSpPr>
        <p:spPr>
          <a:xfrm>
            <a:off x="548640" y="1463040"/>
            <a:ext cx="5486400" cy="82296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E = h f = h c / λ</a:t>
            </a:r>
            <a:endParaRPr lang="en-US" sz="3000" dirty="0"/>
          </a:p>
        </p:txBody>
      </p:sp>
      <p:sp>
        <p:nvSpPr>
          <p:cNvPr id="7" name="Text 5"/>
          <p:cNvSpPr txBox="1"/>
          <p:nvPr/>
        </p:nvSpPr>
        <p:spPr>
          <a:xfrm>
            <a:off x="548640" y="2423160"/>
            <a:ext cx="5486400" cy="1097280"/>
          </a:xfrm>
          <a:prstGeom prst="rect">
            <a:avLst/>
          </a:prstGeom>
          <a:noFill/>
          <a:ln/>
        </p:spPr>
        <p:txBody>
          <a:bodyPr wrap="square" lIns="0" tIns="0" rIns="0" bIns="0" rtlCol="0" anchor="t"/>
          <a:lstStyle/>
          <a:p>
            <a:pPr indent="0" marL="0">
              <a:spcAft>
                <a:spcPts val="600"/>
              </a:spcAft>
              <a:buNone/>
            </a:pPr>
            <a:r>
              <a:rPr lang="en-US" sz="1550" b="1" dirty="0">
                <a:solidFill>
                  <a:schemeClr val="tx1"/>
                </a:solidFill>
              </a:rPr>
              <a:t>h = 6.63 × 10⁻³⁴ J·s (Planck's constant).  </a:t>
            </a:r>
            <a:pPr indent="0" marL="0">
              <a:spcAft>
                <a:spcPts val="600"/>
              </a:spcAft>
              <a:buNone/>
            </a:pPr>
            <a:r>
              <a:rPr lang="en-US" sz="1550" dirty="0">
                <a:solidFill>
                  <a:schemeClr val="tx1"/>
                </a:solidFill>
              </a:rPr>
              <a:t>Shorter wavelength → higher frequency → more energy in each photon. Energies of single photons are often quoted in electron-volts (1 eV = 1.60 × 10⁻¹⁹ J).</a:t>
            </a:r>
            <a:endParaRPr lang="en-US" sz="15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46520" y="1463040"/>
          <a:ext cx="5193792" cy="914400"/>
        </p:xfrm>
        <a:graphic>
          <a:graphicData uri="http://schemas.openxmlformats.org/drawingml/2006/table">
            <a:tbl>
              <a:tblPr/>
              <a:tblGrid>
                <a:gridCol w="2103120"/>
                <a:gridCol w="1280160"/>
                <a:gridCol w="1810512"/>
              </a:tblGrid>
              <a:tr h="420624">
                <a:tc>
                  <a:txBody>
                    <a:bodyPr/>
                    <a:lstStyle/>
                    <a:p>
                      <a:pPr indent="0" marL="0">
                        <a:buNone/>
                      </a:pPr>
                      <a:r>
                        <a:rPr lang="en-US" sz="1500" b="1" dirty="0">
                          <a:solidFill>
                            <a:schemeClr val="bg1"/>
                          </a:solidFill>
                        </a:rPr>
                        <a:t>Radiation</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λ</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Energy per photon</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r>
              <a:tr h="420624">
                <a:tc>
                  <a:txBody>
                    <a:bodyPr/>
                    <a:lstStyle/>
                    <a:p>
                      <a:pPr indent="0" marL="0">
                        <a:buNone/>
                      </a:pPr>
                      <a:r>
                        <a:rPr lang="en-US" sz="1500" dirty="0">
                          <a:solidFill>
                            <a:schemeClr val="tx1"/>
                          </a:solidFill>
                        </a:rPr>
                        <a:t>Microwave oven</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12 cm</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0.00001 eV</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20624">
                <a:tc>
                  <a:txBody>
                    <a:bodyPr/>
                    <a:lstStyle/>
                    <a:p>
                      <a:pPr indent="0" marL="0">
                        <a:buNone/>
                      </a:pPr>
                      <a:r>
                        <a:rPr lang="en-US" sz="1500" dirty="0">
                          <a:solidFill>
                            <a:schemeClr val="tx1"/>
                          </a:solidFill>
                        </a:rPr>
                        <a:t>Red light</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650 nm</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1.9 eV</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20624">
                <a:tc>
                  <a:txBody>
                    <a:bodyPr/>
                    <a:lstStyle/>
                    <a:p>
                      <a:pPr indent="0" marL="0">
                        <a:buNone/>
                      </a:pPr>
                      <a:r>
                        <a:rPr lang="en-US" sz="1500" dirty="0">
                          <a:solidFill>
                            <a:schemeClr val="tx1"/>
                          </a:solidFill>
                        </a:rPr>
                        <a:t>Blue light</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450 nm</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2.8 eV</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20624">
                <a:tc>
                  <a:txBody>
                    <a:bodyPr/>
                    <a:lstStyle/>
                    <a:p>
                      <a:pPr indent="0" marL="0">
                        <a:buNone/>
                      </a:pPr>
                      <a:r>
                        <a:rPr lang="en-US" sz="1500" dirty="0">
                          <a:solidFill>
                            <a:schemeClr val="tx1"/>
                          </a:solidFill>
                        </a:rPr>
                        <a:t>UV-C lamp</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254 nm</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4.9 eV</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20624">
                <a:tc>
                  <a:txBody>
                    <a:bodyPr/>
                    <a:lstStyle/>
                    <a:p>
                      <a:pPr indent="0" marL="0">
                        <a:buNone/>
                      </a:pPr>
                      <a:r>
                        <a:rPr lang="en-US" sz="1500" dirty="0">
                          <a:solidFill>
                            <a:schemeClr val="tx1"/>
                          </a:solidFill>
                        </a:rPr>
                        <a:t>X-ray</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0.1 nm</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12 000 eV</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9" name="Shape 6"/>
          <p:cNvSpPr/>
          <p:nvPr/>
        </p:nvSpPr>
        <p:spPr>
          <a:xfrm>
            <a:off x="548640" y="3703320"/>
            <a:ext cx="5486400" cy="2468880"/>
          </a:xfrm>
          <a:prstGeom prst="roundRect">
            <a:avLst>
              <a:gd name="adj" fmla="val 2963"/>
            </a:avLst>
          </a:prstGeom>
          <a:solidFill>
            <a:schemeClr val="accent3">
              <a:alpha val="12000"/>
            </a:schemeClr>
          </a:solidFill>
          <a:ln w="9525">
            <a:solidFill>
              <a:schemeClr val="accent3">
                <a:alpha val="12000"/>
              </a:schemeClr>
            </a:solidFill>
            <a:prstDash val="solid"/>
          </a:ln>
        </p:spPr>
      </p:sp>
      <p:sp>
        <p:nvSpPr>
          <p:cNvPr id="10" name="Text 7"/>
          <p:cNvSpPr txBox="1"/>
          <p:nvPr/>
        </p:nvSpPr>
        <p:spPr>
          <a:xfrm>
            <a:off x="731520" y="3813048"/>
            <a:ext cx="5120640" cy="2249424"/>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The key idea</a:t>
            </a:r>
            <a:endParaRPr lang="en-US" sz="1500" dirty="0"/>
          </a:p>
          <a:p>
            <a:pPr indent="0" marL="0">
              <a:spcAft>
                <a:spcPts val="400"/>
              </a:spcAft>
              <a:buNone/>
            </a:pPr>
            <a:r>
              <a:rPr lang="en-US" sz="1500" dirty="0">
                <a:solidFill>
                  <a:schemeClr val="tx1"/>
                </a:solidFill>
              </a:rPr>
              <a:t>Breaking a chemical bond (e.g. in DNA) needs about 3–5 eV delivered at once. One UV-C photon can do it; a microwave photon cannot — no matter how many there are. Microwaves heat food by shaking water molecules; UV-C damages microbial DNA.</a:t>
            </a:r>
            <a:endParaRPr lang="en-US" sz="1500" dirty="0"/>
          </a:p>
        </p:txBody>
      </p:sp>
      <p:sp>
        <p:nvSpPr>
          <p:cNvPr id="11" name="Text 8"/>
          <p:cNvSpPr txBox="1"/>
          <p:nvPr/>
        </p:nvSpPr>
        <p:spPr>
          <a:xfrm>
            <a:off x="6446520" y="4114800"/>
            <a:ext cx="5193792" cy="365760"/>
          </a:xfrm>
          <a:prstGeom prst="rect">
            <a:avLst/>
          </a:prstGeom>
          <a:noFill/>
          <a:ln/>
        </p:spPr>
        <p:txBody>
          <a:bodyPr wrap="square" lIns="0" tIns="0" rIns="0" bIns="0" rtlCol="0" anchor="t"/>
          <a:lstStyle/>
          <a:p>
            <a:pPr indent="0" marL="0">
              <a:spcAft>
                <a:spcPts val="600"/>
              </a:spcAft>
              <a:buNone/>
            </a:pPr>
            <a:r>
              <a:rPr lang="en-US" sz="1300" i="1" dirty="0">
                <a:solidFill>
                  <a:schemeClr val="accent6"/>
                </a:solidFill>
              </a:rPr>
              <a:t>A typical C–C bond energy is about 3.6 eV.</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4"/>
          </a:solidFill>
          <a:ln w="12700">
            <a:solidFill>
              <a:schemeClr val="accent4"/>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WORKED EXAMPLE</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Worked example: the energy of one UV-C photon</a:t>
            </a:r>
            <a:endParaRPr lang="en-US" sz="3000" dirty="0"/>
          </a:p>
        </p:txBody>
      </p:sp>
      <p:sp>
        <p:nvSpPr>
          <p:cNvPr id="5" name="Shape 3"/>
          <p:cNvSpPr/>
          <p:nvPr/>
        </p:nvSpPr>
        <p:spPr>
          <a:xfrm>
            <a:off x="548640" y="1463040"/>
            <a:ext cx="11094415" cy="868680"/>
          </a:xfrm>
          <a:prstGeom prst="roundRect">
            <a:avLst>
              <a:gd name="adj" fmla="val 8421"/>
            </a:avLst>
          </a:prstGeom>
          <a:solidFill>
            <a:schemeClr val="accent4">
              <a:alpha val="12000"/>
            </a:schemeClr>
          </a:solidFill>
          <a:ln w="9525">
            <a:solidFill>
              <a:schemeClr val="accent4">
                <a:alpha val="12000"/>
              </a:schemeClr>
            </a:solidFill>
            <a:prstDash val="solid"/>
          </a:ln>
        </p:spPr>
      </p:sp>
      <p:sp>
        <p:nvSpPr>
          <p:cNvPr id="6" name="Text 4"/>
          <p:cNvSpPr txBox="1"/>
          <p:nvPr/>
        </p:nvSpPr>
        <p:spPr>
          <a:xfrm>
            <a:off x="731520" y="1572768"/>
            <a:ext cx="10728655" cy="64922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Problem</a:t>
            </a:r>
            <a:endParaRPr lang="en-US" sz="1550" dirty="0"/>
          </a:p>
          <a:p>
            <a:pPr indent="0" marL="0">
              <a:spcAft>
                <a:spcPts val="400"/>
              </a:spcAft>
              <a:buNone/>
            </a:pPr>
            <a:r>
              <a:rPr lang="en-US" sz="1550" dirty="0">
                <a:solidFill>
                  <a:schemeClr val="tx1"/>
                </a:solidFill>
              </a:rPr>
              <a:t>A germicidal lamp emits UV-C at λ = 254 nm. Find the energy of one photon in joules and in electron-volts, and compare with red light (650 nm).</a:t>
            </a:r>
            <a:endParaRPr lang="en-US" sz="1550" dirty="0"/>
          </a:p>
        </p:txBody>
      </p:sp>
      <p:sp>
        <p:nvSpPr>
          <p:cNvPr id="7" name="rv1_step0_dot"/>
          <p:cNvSpPr/>
          <p:nvPr/>
        </p:nvSpPr>
        <p:spPr>
          <a:xfrm>
            <a:off x="548640" y="2596896"/>
            <a:ext cx="384048" cy="384048"/>
          </a:xfrm>
          <a:prstGeom prst="ellipse">
            <a:avLst/>
          </a:prstGeom>
          <a:solidFill>
            <a:schemeClr val="accent4"/>
          </a:solidFill>
          <a:ln w="12700">
            <a:solidFill>
              <a:schemeClr val="accent4"/>
            </a:solidFill>
            <a:prstDash val="solid"/>
          </a:ln>
        </p:spPr>
      </p:sp>
      <p:sp>
        <p:nvSpPr>
          <p:cNvPr id="8" name="rv1_step0_num"/>
          <p:cNvSpPr txBox="1"/>
          <p:nvPr/>
        </p:nvSpPr>
        <p:spPr>
          <a:xfrm>
            <a:off x="548640" y="259689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rv1_step0_tx"/>
          <p:cNvSpPr txBox="1"/>
          <p:nvPr/>
        </p:nvSpPr>
        <p:spPr>
          <a:xfrm>
            <a:off x="1097280" y="2560320"/>
            <a:ext cx="6949440" cy="640080"/>
          </a:xfrm>
          <a:prstGeom prst="rect">
            <a:avLst/>
          </a:prstGeom>
          <a:noFill/>
          <a:ln/>
        </p:spPr>
        <p:txBody>
          <a:bodyPr wrap="square" lIns="0" tIns="0" rIns="0" bIns="0" rtlCol="0" anchor="t"/>
          <a:lstStyle/>
          <a:p>
            <a:pPr indent="0" marL="0">
              <a:buNone/>
            </a:pPr>
            <a:r>
              <a:rPr lang="en-US" sz="1600" b="1" dirty="0">
                <a:solidFill>
                  <a:schemeClr val="tx2"/>
                </a:solidFill>
              </a:rPr>
              <a:t>Formula:   </a:t>
            </a:r>
            <a:pPr indent="0" marL="0">
              <a:buNone/>
            </a:pPr>
            <a:r>
              <a:rPr lang="en-US" sz="1600" dirty="0">
                <a:solidFill>
                  <a:schemeClr val="tx1"/>
                </a:solidFill>
              </a:rPr>
              <a:t>E = hc/λ</a:t>
            </a:r>
            <a:endParaRPr lang="en-US" sz="1600" dirty="0"/>
          </a:p>
        </p:txBody>
      </p:sp>
      <p:sp>
        <p:nvSpPr>
          <p:cNvPr id="10" name="rv2_step1_dot"/>
          <p:cNvSpPr/>
          <p:nvPr/>
        </p:nvSpPr>
        <p:spPr>
          <a:xfrm>
            <a:off x="548640" y="3310128"/>
            <a:ext cx="384048" cy="384048"/>
          </a:xfrm>
          <a:prstGeom prst="ellipse">
            <a:avLst/>
          </a:prstGeom>
          <a:solidFill>
            <a:schemeClr val="accent4"/>
          </a:solidFill>
          <a:ln w="12700">
            <a:solidFill>
              <a:schemeClr val="accent4"/>
            </a:solidFill>
            <a:prstDash val="solid"/>
          </a:ln>
        </p:spPr>
      </p:sp>
      <p:sp>
        <p:nvSpPr>
          <p:cNvPr id="11" name="rv2_step1_num"/>
          <p:cNvSpPr txBox="1"/>
          <p:nvPr/>
        </p:nvSpPr>
        <p:spPr>
          <a:xfrm>
            <a:off x="548640" y="331012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rv2_step1_tx"/>
          <p:cNvSpPr txBox="1"/>
          <p:nvPr/>
        </p:nvSpPr>
        <p:spPr>
          <a:xfrm>
            <a:off x="1097280" y="3273552"/>
            <a:ext cx="6949440" cy="640080"/>
          </a:xfrm>
          <a:prstGeom prst="rect">
            <a:avLst/>
          </a:prstGeom>
          <a:noFill/>
          <a:ln/>
        </p:spPr>
        <p:txBody>
          <a:bodyPr wrap="square" lIns="0" tIns="0" rIns="0" bIns="0" rtlCol="0" anchor="t"/>
          <a:lstStyle/>
          <a:p>
            <a:pPr indent="0" marL="0">
              <a:buNone/>
            </a:pPr>
            <a:r>
              <a:rPr lang="en-US" sz="1600" b="1" dirty="0">
                <a:solidFill>
                  <a:schemeClr val="tx2"/>
                </a:solidFill>
              </a:rPr>
              <a:t>Substitute:   </a:t>
            </a:r>
            <a:pPr indent="0" marL="0">
              <a:buNone/>
            </a:pPr>
            <a:r>
              <a:rPr lang="en-US" sz="1600" dirty="0">
                <a:solidFill>
                  <a:schemeClr val="tx1"/>
                </a:solidFill>
              </a:rPr>
              <a:t>E = (6.63 × 10⁻³⁴ × 3.00 × 10⁸) / (254 × 10⁻⁹)</a:t>
            </a:r>
            <a:endParaRPr lang="en-US" sz="1600" dirty="0"/>
          </a:p>
        </p:txBody>
      </p:sp>
      <p:sp>
        <p:nvSpPr>
          <p:cNvPr id="13" name="rv3_step2_dot"/>
          <p:cNvSpPr/>
          <p:nvPr/>
        </p:nvSpPr>
        <p:spPr>
          <a:xfrm>
            <a:off x="548640" y="4023360"/>
            <a:ext cx="384048" cy="384048"/>
          </a:xfrm>
          <a:prstGeom prst="ellipse">
            <a:avLst/>
          </a:prstGeom>
          <a:solidFill>
            <a:schemeClr val="accent4"/>
          </a:solidFill>
          <a:ln w="12700">
            <a:solidFill>
              <a:schemeClr val="accent4"/>
            </a:solidFill>
            <a:prstDash val="solid"/>
          </a:ln>
        </p:spPr>
      </p:sp>
      <p:sp>
        <p:nvSpPr>
          <p:cNvPr id="14" name="rv3_step2_num"/>
          <p:cNvSpPr txBox="1"/>
          <p:nvPr/>
        </p:nvSpPr>
        <p:spPr>
          <a:xfrm>
            <a:off x="548640" y="40233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rv3_step2_tx"/>
          <p:cNvSpPr txBox="1"/>
          <p:nvPr/>
        </p:nvSpPr>
        <p:spPr>
          <a:xfrm>
            <a:off x="1097280" y="3986784"/>
            <a:ext cx="6949440" cy="640080"/>
          </a:xfrm>
          <a:prstGeom prst="rect">
            <a:avLst/>
          </a:prstGeom>
          <a:noFill/>
          <a:ln/>
        </p:spPr>
        <p:txBody>
          <a:bodyPr wrap="square" lIns="0" tIns="0" rIns="0" bIns="0" rtlCol="0" anchor="t"/>
          <a:lstStyle/>
          <a:p>
            <a:pPr indent="0" marL="0">
              <a:buNone/>
            </a:pPr>
            <a:r>
              <a:rPr lang="en-US" sz="1600" b="1" dirty="0">
                <a:solidFill>
                  <a:schemeClr val="tx2"/>
                </a:solidFill>
              </a:rPr>
              <a:t>Evaluate:   </a:t>
            </a:r>
            <a:pPr indent="0" marL="0">
              <a:buNone/>
            </a:pPr>
            <a:r>
              <a:rPr lang="en-US" sz="1600" dirty="0">
                <a:solidFill>
                  <a:schemeClr val="tx1"/>
                </a:solidFill>
              </a:rPr>
              <a:t>E = </a:t>
            </a:r>
            <a:pPr indent="0" marL="0">
              <a:buNone/>
            </a:pPr>
            <a:r>
              <a:rPr lang="en-US" sz="1600" b="1" dirty="0">
                <a:solidFill>
                  <a:schemeClr val="accent1"/>
                </a:solidFill>
              </a:rPr>
              <a:t>7.83 × 10⁻¹⁹ J</a:t>
            </a:r>
            <a:endParaRPr lang="en-US" sz="1600" dirty="0"/>
          </a:p>
        </p:txBody>
      </p:sp>
      <p:sp>
        <p:nvSpPr>
          <p:cNvPr id="16" name="rv4_step3_dot"/>
          <p:cNvSpPr/>
          <p:nvPr/>
        </p:nvSpPr>
        <p:spPr>
          <a:xfrm>
            <a:off x="548640" y="4736592"/>
            <a:ext cx="384048" cy="384048"/>
          </a:xfrm>
          <a:prstGeom prst="ellipse">
            <a:avLst/>
          </a:prstGeom>
          <a:solidFill>
            <a:schemeClr val="accent4"/>
          </a:solidFill>
          <a:ln w="12700">
            <a:solidFill>
              <a:schemeClr val="accent4"/>
            </a:solidFill>
            <a:prstDash val="solid"/>
          </a:ln>
        </p:spPr>
      </p:sp>
      <p:sp>
        <p:nvSpPr>
          <p:cNvPr id="17" name="rv4_step3_num"/>
          <p:cNvSpPr txBox="1"/>
          <p:nvPr/>
        </p:nvSpPr>
        <p:spPr>
          <a:xfrm>
            <a:off x="548640" y="47365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rv4_step3_tx"/>
          <p:cNvSpPr txBox="1"/>
          <p:nvPr/>
        </p:nvSpPr>
        <p:spPr>
          <a:xfrm>
            <a:off x="1097280" y="4700016"/>
            <a:ext cx="6949440" cy="640080"/>
          </a:xfrm>
          <a:prstGeom prst="rect">
            <a:avLst/>
          </a:prstGeom>
          <a:noFill/>
          <a:ln/>
        </p:spPr>
        <p:txBody>
          <a:bodyPr wrap="square" lIns="0" tIns="0" rIns="0" bIns="0" rtlCol="0" anchor="t"/>
          <a:lstStyle/>
          <a:p>
            <a:pPr indent="0" marL="0">
              <a:buNone/>
            </a:pPr>
            <a:r>
              <a:rPr lang="en-US" sz="1600" b="1" dirty="0">
                <a:solidFill>
                  <a:schemeClr val="tx2"/>
                </a:solidFill>
              </a:rPr>
              <a:t>Convert:   </a:t>
            </a:r>
            <a:pPr indent="0" marL="0">
              <a:buNone/>
            </a:pPr>
            <a:r>
              <a:rPr lang="en-US" sz="1600" dirty="0">
                <a:solidFill>
                  <a:schemeClr val="tx1"/>
                </a:solidFill>
              </a:rPr>
              <a:t>7.83 × 10⁻¹⁹ / 1.60 × 10⁻¹⁹ = </a:t>
            </a:r>
            <a:pPr indent="0" marL="0">
              <a:buNone/>
            </a:pPr>
            <a:r>
              <a:rPr lang="en-US" sz="1600" b="1" dirty="0">
                <a:solidFill>
                  <a:schemeClr val="accent1"/>
                </a:solidFill>
              </a:rPr>
              <a:t>4.9 eV</a:t>
            </a:r>
            <a:endParaRPr lang="en-US" sz="1600" dirty="0"/>
          </a:p>
        </p:txBody>
      </p:sp>
      <p:sp>
        <p:nvSpPr>
          <p:cNvPr id="19" name="rv5_step4_dot"/>
          <p:cNvSpPr/>
          <p:nvPr/>
        </p:nvSpPr>
        <p:spPr>
          <a:xfrm>
            <a:off x="548640" y="5449824"/>
            <a:ext cx="384048" cy="384048"/>
          </a:xfrm>
          <a:prstGeom prst="ellipse">
            <a:avLst/>
          </a:prstGeom>
          <a:solidFill>
            <a:schemeClr val="accent4"/>
          </a:solidFill>
          <a:ln w="12700">
            <a:solidFill>
              <a:schemeClr val="accent4"/>
            </a:solidFill>
            <a:prstDash val="solid"/>
          </a:ln>
        </p:spPr>
      </p:sp>
      <p:sp>
        <p:nvSpPr>
          <p:cNvPr id="20" name="rv5_step4_num"/>
          <p:cNvSpPr txBox="1"/>
          <p:nvPr/>
        </p:nvSpPr>
        <p:spPr>
          <a:xfrm>
            <a:off x="548640" y="544982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rv5_step4_tx"/>
          <p:cNvSpPr txBox="1"/>
          <p:nvPr/>
        </p:nvSpPr>
        <p:spPr>
          <a:xfrm>
            <a:off x="1097280" y="5413248"/>
            <a:ext cx="6949440" cy="640080"/>
          </a:xfrm>
          <a:prstGeom prst="rect">
            <a:avLst/>
          </a:prstGeom>
          <a:noFill/>
          <a:ln/>
        </p:spPr>
        <p:txBody>
          <a:bodyPr wrap="square" lIns="0" tIns="0" rIns="0" bIns="0" rtlCol="0" anchor="t"/>
          <a:lstStyle/>
          <a:p>
            <a:pPr indent="0" marL="0">
              <a:buNone/>
            </a:pPr>
            <a:r>
              <a:rPr lang="en-US" sz="1600" b="1" dirty="0">
                <a:solidFill>
                  <a:schemeClr val="tx2"/>
                </a:solidFill>
              </a:rPr>
              <a:t>Compare:   </a:t>
            </a:r>
            <a:pPr indent="0" marL="0">
              <a:buNone/>
            </a:pPr>
            <a:r>
              <a:rPr lang="en-US" sz="1600" dirty="0">
                <a:solidFill>
                  <a:schemeClr val="tx1"/>
                </a:solidFill>
              </a:rPr>
              <a:t>Red light (650 nm) gives 1.9 eV per photon — not enough to break DNA bonds, however bright the lamp.</a:t>
            </a:r>
            <a:endParaRPr lang="en-US" sz="1600" dirty="0"/>
          </a:p>
        </p:txBody>
      </p:sp>
      <p:sp>
        <p:nvSpPr>
          <p:cNvPr id="22" name="Shape 20"/>
          <p:cNvSpPr/>
          <p:nvPr/>
        </p:nvSpPr>
        <p:spPr>
          <a:xfrm>
            <a:off x="8412480" y="2560320"/>
            <a:ext cx="3227832" cy="2377440"/>
          </a:xfrm>
          <a:prstGeom prst="roundRect">
            <a:avLst>
              <a:gd name="adj" fmla="val 3077"/>
            </a:avLst>
          </a:prstGeom>
          <a:solidFill>
            <a:schemeClr val="accent2">
              <a:alpha val="12000"/>
            </a:schemeClr>
          </a:solidFill>
          <a:ln w="9525">
            <a:solidFill>
              <a:schemeClr val="accent2">
                <a:alpha val="12000"/>
              </a:schemeClr>
            </a:solidFill>
            <a:prstDash val="solid"/>
          </a:ln>
        </p:spPr>
      </p:sp>
      <p:sp>
        <p:nvSpPr>
          <p:cNvPr id="23" name="Text 21"/>
          <p:cNvSpPr txBox="1"/>
          <p:nvPr/>
        </p:nvSpPr>
        <p:spPr>
          <a:xfrm>
            <a:off x="8595360" y="2670048"/>
            <a:ext cx="2862072" cy="215798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Unit tip</a:t>
            </a:r>
            <a:endParaRPr lang="en-US" sz="1500" dirty="0"/>
          </a:p>
          <a:p>
            <a:pPr indent="0" marL="0">
              <a:spcAft>
                <a:spcPts val="400"/>
              </a:spcAft>
              <a:buNone/>
            </a:pPr>
            <a:r>
              <a:rPr lang="en-US" sz="1500" dirty="0">
                <a:solidFill>
                  <a:schemeClr val="tx1"/>
                </a:solidFill>
              </a:rPr>
              <a:t>nm → m: × 10⁻⁹</a:t>
            </a:r>
            <a:endParaRPr lang="en-US" sz="1500" dirty="0"/>
          </a:p>
          <a:p>
            <a:pPr indent="0" marL="0">
              <a:spcAft>
                <a:spcPts val="400"/>
              </a:spcAft>
              <a:buNone/>
            </a:pPr>
            <a:r>
              <a:rPr lang="en-US" sz="1500" dirty="0">
                <a:solidFill>
                  <a:schemeClr val="tx1"/>
                </a:solidFill>
              </a:rPr>
              <a:t>J → eV: ÷ 1.60 × 10⁻¹⁹</a:t>
            </a:r>
            <a:endParaRPr lang="en-US" sz="1500" dirty="0"/>
          </a:p>
          <a:p>
            <a:pPr indent="0" marL="0">
              <a:spcAft>
                <a:spcPts val="400"/>
              </a:spcAft>
              <a:buNone/>
            </a:pPr>
            <a:r>
              <a:rPr lang="en-US" sz="1500" dirty="0">
                <a:solidFill>
                  <a:schemeClr val="tx1"/>
                </a:solidFill>
              </a:rPr>
              <a:t>Shorter λ always means bigger 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very bright red lamp, or a dim UV-C lamp?</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Text 5"/>
          <p:cNvSpPr txBox="1"/>
          <p:nvPr/>
        </p:nvSpPr>
        <p:spPr>
          <a:xfrm>
            <a:off x="548640" y="1463040"/>
            <a:ext cx="11094415" cy="45720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Which of these is more likely to damage the DNA of bacteria on a cutting board?</a:t>
            </a:r>
            <a:endParaRPr lang="en-US" sz="1700" dirty="0"/>
          </a:p>
        </p:txBody>
      </p:sp>
      <p:sp>
        <p:nvSpPr>
          <p:cNvPr id="8" name="Shape 6"/>
          <p:cNvSpPr/>
          <p:nvPr/>
        </p:nvSpPr>
        <p:spPr>
          <a:xfrm>
            <a:off x="548640" y="205740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9" name="Shape 7"/>
          <p:cNvSpPr/>
          <p:nvPr/>
        </p:nvSpPr>
        <p:spPr>
          <a:xfrm>
            <a:off x="713232" y="2256282"/>
            <a:ext cx="493776" cy="493776"/>
          </a:xfrm>
          <a:prstGeom prst="ellipse">
            <a:avLst/>
          </a:prstGeom>
          <a:solidFill>
            <a:schemeClr val="accent2"/>
          </a:solidFill>
          <a:ln w="12700">
            <a:solidFill>
              <a:schemeClr val="accent2"/>
            </a:solidFill>
            <a:prstDash val="solid"/>
          </a:ln>
        </p:spPr>
      </p:sp>
      <p:sp>
        <p:nvSpPr>
          <p:cNvPr id="10" name="Text 8"/>
          <p:cNvSpPr txBox="1"/>
          <p:nvPr/>
        </p:nvSpPr>
        <p:spPr>
          <a:xfrm>
            <a:off x="713232" y="225628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9"/>
          <p:cNvSpPr txBox="1"/>
          <p:nvPr/>
        </p:nvSpPr>
        <p:spPr>
          <a:xfrm>
            <a:off x="1371600" y="2130552"/>
            <a:ext cx="4472788" cy="745236"/>
          </a:xfrm>
          <a:prstGeom prst="rect">
            <a:avLst/>
          </a:prstGeom>
          <a:noFill/>
          <a:ln/>
        </p:spPr>
        <p:txBody>
          <a:bodyPr wrap="square" lIns="0" tIns="0" rIns="0" bIns="0" rtlCol="0" anchor="ctr"/>
          <a:lstStyle/>
          <a:p>
            <a:pPr indent="0" marL="0">
              <a:buNone/>
            </a:pPr>
            <a:r>
              <a:rPr lang="en-US" sz="1600" dirty="0">
                <a:solidFill>
                  <a:schemeClr val="tx1"/>
                </a:solidFill>
              </a:rPr>
              <a:t>The very bright red lamp — more light means more damage</a:t>
            </a:r>
            <a:endParaRPr lang="en-US" sz="1600" dirty="0"/>
          </a:p>
        </p:txBody>
      </p:sp>
      <p:sp>
        <p:nvSpPr>
          <p:cNvPr id="12" name="Shape 10"/>
          <p:cNvSpPr/>
          <p:nvPr/>
        </p:nvSpPr>
        <p:spPr>
          <a:xfrm>
            <a:off x="6210148" y="205740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3" name="Shape 11"/>
          <p:cNvSpPr/>
          <p:nvPr/>
        </p:nvSpPr>
        <p:spPr>
          <a:xfrm>
            <a:off x="6374740" y="2256282"/>
            <a:ext cx="493776" cy="493776"/>
          </a:xfrm>
          <a:prstGeom prst="ellipse">
            <a:avLst/>
          </a:prstGeom>
          <a:solidFill>
            <a:schemeClr val="accent2"/>
          </a:solidFill>
          <a:ln w="12700">
            <a:solidFill>
              <a:schemeClr val="accent2"/>
            </a:solidFill>
            <a:prstDash val="solid"/>
          </a:ln>
        </p:spPr>
      </p:sp>
      <p:sp>
        <p:nvSpPr>
          <p:cNvPr id="14" name="Text 12"/>
          <p:cNvSpPr txBox="1"/>
          <p:nvPr/>
        </p:nvSpPr>
        <p:spPr>
          <a:xfrm>
            <a:off x="6374740" y="225628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3"/>
          <p:cNvSpPr txBox="1"/>
          <p:nvPr/>
        </p:nvSpPr>
        <p:spPr>
          <a:xfrm>
            <a:off x="7033108" y="2130552"/>
            <a:ext cx="4472788" cy="745236"/>
          </a:xfrm>
          <a:prstGeom prst="rect">
            <a:avLst/>
          </a:prstGeom>
          <a:noFill/>
          <a:ln/>
        </p:spPr>
        <p:txBody>
          <a:bodyPr wrap="square" lIns="0" tIns="0" rIns="0" bIns="0" rtlCol="0" anchor="ctr"/>
          <a:lstStyle/>
          <a:p>
            <a:pPr indent="0" marL="0">
              <a:buNone/>
            </a:pPr>
            <a:r>
              <a:rPr lang="en-US" sz="1600" dirty="0">
                <a:solidFill>
                  <a:schemeClr val="tx1"/>
                </a:solidFill>
              </a:rPr>
              <a:t>The dim UV-C lamp</a:t>
            </a:r>
            <a:endParaRPr lang="en-US" sz="1600" dirty="0"/>
          </a:p>
        </p:txBody>
      </p:sp>
      <p:sp>
        <p:nvSpPr>
          <p:cNvPr id="16" name="rv1_ring"/>
          <p:cNvSpPr/>
          <p:nvPr/>
        </p:nvSpPr>
        <p:spPr>
          <a:xfrm>
            <a:off x="6164428" y="2011680"/>
            <a:ext cx="5524348" cy="982980"/>
          </a:xfrm>
          <a:prstGeom prst="roundRect">
            <a:avLst>
              <a:gd name="adj" fmla="val 9302"/>
            </a:avLst>
          </a:prstGeom>
          <a:solidFill>
            <a:schemeClr val="bg1">
              <a:alpha val="0"/>
            </a:schemeClr>
          </a:solidFill>
          <a:ln w="50800">
            <a:solidFill>
              <a:schemeClr val="accent3"/>
            </a:solidFill>
            <a:prstDash val="solid"/>
          </a:ln>
        </p:spPr>
      </p:sp>
      <p:sp>
        <p:nvSpPr>
          <p:cNvPr id="17" name="Shape 15"/>
          <p:cNvSpPr/>
          <p:nvPr/>
        </p:nvSpPr>
        <p:spPr>
          <a:xfrm>
            <a:off x="548640" y="31775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8" name="Shape 16"/>
          <p:cNvSpPr/>
          <p:nvPr/>
        </p:nvSpPr>
        <p:spPr>
          <a:xfrm>
            <a:off x="713232" y="3376422"/>
            <a:ext cx="493776" cy="493776"/>
          </a:xfrm>
          <a:prstGeom prst="ellipse">
            <a:avLst/>
          </a:prstGeom>
          <a:solidFill>
            <a:schemeClr val="accent2"/>
          </a:solidFill>
          <a:ln w="12700">
            <a:solidFill>
              <a:schemeClr val="accent2"/>
            </a:solidFill>
            <a:prstDash val="solid"/>
          </a:ln>
        </p:spPr>
      </p:sp>
      <p:sp>
        <p:nvSpPr>
          <p:cNvPr id="19" name="Text 17"/>
          <p:cNvSpPr txBox="1"/>
          <p:nvPr/>
        </p:nvSpPr>
        <p:spPr>
          <a:xfrm>
            <a:off x="713232" y="33764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20" name="Text 18"/>
          <p:cNvSpPr txBox="1"/>
          <p:nvPr/>
        </p:nvSpPr>
        <p:spPr>
          <a:xfrm>
            <a:off x="1371600" y="3250692"/>
            <a:ext cx="4472788" cy="745236"/>
          </a:xfrm>
          <a:prstGeom prst="rect">
            <a:avLst/>
          </a:prstGeom>
          <a:noFill/>
          <a:ln/>
        </p:spPr>
        <p:txBody>
          <a:bodyPr wrap="square" lIns="0" tIns="0" rIns="0" bIns="0" rtlCol="0" anchor="ctr"/>
          <a:lstStyle/>
          <a:p>
            <a:pPr indent="0" marL="0">
              <a:buNone/>
            </a:pPr>
            <a:r>
              <a:rPr lang="en-US" sz="1600" dirty="0">
                <a:solidFill>
                  <a:schemeClr val="tx1"/>
                </a:solidFill>
              </a:rPr>
              <a:t>Both equally, if the total energy is the same</a:t>
            </a:r>
            <a:endParaRPr lang="en-US" sz="1600" dirty="0"/>
          </a:p>
        </p:txBody>
      </p:sp>
      <p:sp>
        <p:nvSpPr>
          <p:cNvPr id="21" name="Shape 19"/>
          <p:cNvSpPr/>
          <p:nvPr/>
        </p:nvSpPr>
        <p:spPr>
          <a:xfrm>
            <a:off x="6210148" y="31775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22" name="Shape 20"/>
          <p:cNvSpPr/>
          <p:nvPr/>
        </p:nvSpPr>
        <p:spPr>
          <a:xfrm>
            <a:off x="6374740" y="3376422"/>
            <a:ext cx="493776" cy="493776"/>
          </a:xfrm>
          <a:prstGeom prst="ellipse">
            <a:avLst/>
          </a:prstGeom>
          <a:solidFill>
            <a:schemeClr val="accent2"/>
          </a:solidFill>
          <a:ln w="12700">
            <a:solidFill>
              <a:schemeClr val="accent2"/>
            </a:solidFill>
            <a:prstDash val="solid"/>
          </a:ln>
        </p:spPr>
      </p:sp>
      <p:sp>
        <p:nvSpPr>
          <p:cNvPr id="23" name="Text 21"/>
          <p:cNvSpPr txBox="1"/>
          <p:nvPr/>
        </p:nvSpPr>
        <p:spPr>
          <a:xfrm>
            <a:off x="6374740" y="33764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4" name="Text 22"/>
          <p:cNvSpPr txBox="1"/>
          <p:nvPr/>
        </p:nvSpPr>
        <p:spPr>
          <a:xfrm>
            <a:off x="7033108" y="3250692"/>
            <a:ext cx="4472788" cy="745236"/>
          </a:xfrm>
          <a:prstGeom prst="rect">
            <a:avLst/>
          </a:prstGeom>
          <a:noFill/>
          <a:ln/>
        </p:spPr>
        <p:txBody>
          <a:bodyPr wrap="square" lIns="0" tIns="0" rIns="0" bIns="0" rtlCol="0" anchor="ctr"/>
          <a:lstStyle/>
          <a:p>
            <a:pPr indent="0" marL="0">
              <a:buNone/>
            </a:pPr>
            <a:r>
              <a:rPr lang="en-US" sz="1600" dirty="0">
                <a:solidFill>
                  <a:schemeClr val="tx1"/>
                </a:solidFill>
              </a:rPr>
              <a:t>Neither — light cannot affect bacteria</a:t>
            </a:r>
            <a:endParaRPr lang="en-US" sz="1600" dirty="0"/>
          </a:p>
        </p:txBody>
      </p:sp>
      <p:sp>
        <p:nvSpPr>
          <p:cNvPr id="25" name="Text 23"/>
          <p:cNvSpPr txBox="1"/>
          <p:nvPr/>
        </p:nvSpPr>
        <p:spPr>
          <a:xfrm>
            <a:off x="548640" y="502920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6" name="rv1_ans_bg"/>
          <p:cNvSpPr/>
          <p:nvPr/>
        </p:nvSpPr>
        <p:spPr>
          <a:xfrm>
            <a:off x="548640" y="4297680"/>
            <a:ext cx="11094415" cy="1828800"/>
          </a:xfrm>
          <a:prstGeom prst="roundRect">
            <a:avLst>
              <a:gd name="adj" fmla="val 4000"/>
            </a:avLst>
          </a:prstGeom>
          <a:solidFill>
            <a:srgbClr val="EAF5EE"/>
          </a:solidFill>
          <a:ln w="15875">
            <a:solidFill>
              <a:schemeClr val="accent3"/>
            </a:solidFill>
            <a:prstDash val="solid"/>
          </a:ln>
        </p:spPr>
      </p:sp>
      <p:sp>
        <p:nvSpPr>
          <p:cNvPr id="27" name="rv1_ans_tx"/>
          <p:cNvSpPr txBox="1"/>
          <p:nvPr/>
        </p:nvSpPr>
        <p:spPr>
          <a:xfrm>
            <a:off x="731520" y="4407408"/>
            <a:ext cx="10728655" cy="160934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B</a:t>
            </a:r>
            <a:endParaRPr lang="en-US" sz="1500" dirty="0"/>
          </a:p>
          <a:p>
            <a:pPr indent="0" marL="0">
              <a:spcAft>
                <a:spcPts val="400"/>
              </a:spcAft>
              <a:buNone/>
            </a:pPr>
            <a:r>
              <a:rPr lang="en-US" sz="1500" dirty="0">
                <a:solidFill>
                  <a:schemeClr val="tx1"/>
                </a:solidFill>
              </a:rPr>
              <a:t>Damage happens one photon at a time. Each red photon (1.9 eV) is too weak to break DNA bonds, so more red photons just warm the board. Each UV-C photon (4.9 eV) can break bonds by itself.</a:t>
            </a:r>
            <a:endParaRPr lang="en-US" sz="1500" dirty="0"/>
          </a:p>
          <a:p>
            <a:pPr indent="0" marL="0">
              <a:spcAft>
                <a:spcPts val="400"/>
              </a:spcAft>
              <a:buNone/>
            </a:pPr>
            <a:r>
              <a:rPr lang="en-US" sz="1500" dirty="0">
                <a:solidFill>
                  <a:schemeClr val="accent6"/>
                </a:solidFill>
              </a:rPr>
              <a:t>Same logic as Einstein's photoelectric effect: brightness = number of photons; colour = energy per photon.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Light slows down in matter: the refractive index</a:t>
            </a:r>
            <a:endParaRPr lang="en-US" sz="3000" dirty="0"/>
          </a:p>
        </p:txBody>
      </p:sp>
      <p:sp>
        <p:nvSpPr>
          <p:cNvPr id="5" name="Shape 3"/>
          <p:cNvSpPr/>
          <p:nvPr/>
        </p:nvSpPr>
        <p:spPr>
          <a:xfrm>
            <a:off x="548640" y="1463040"/>
            <a:ext cx="5120640" cy="822960"/>
          </a:xfrm>
          <a:prstGeom prst="roundRect">
            <a:avLst>
              <a:gd name="adj" fmla="val 8889"/>
            </a:avLst>
          </a:prstGeom>
          <a:solidFill>
            <a:schemeClr val="accent1">
              <a:alpha val="12000"/>
            </a:schemeClr>
          </a:solidFill>
          <a:ln w="9525">
            <a:solidFill>
              <a:schemeClr val="accent1">
                <a:alpha val="12000"/>
              </a:schemeClr>
            </a:solidFill>
            <a:prstDash val="solid"/>
          </a:ln>
        </p:spPr>
      </p:sp>
      <p:sp>
        <p:nvSpPr>
          <p:cNvPr id="6" name="Text 4"/>
          <p:cNvSpPr txBox="1"/>
          <p:nvPr/>
        </p:nvSpPr>
        <p:spPr>
          <a:xfrm>
            <a:off x="548640" y="1463040"/>
            <a:ext cx="5120640" cy="82296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n = c / v</a:t>
            </a:r>
            <a:endParaRPr lang="en-US" sz="3200" dirty="0"/>
          </a:p>
        </p:txBody>
      </p:sp>
      <p:sp>
        <p:nvSpPr>
          <p:cNvPr id="7" name="Text 5"/>
          <p:cNvSpPr txBox="1"/>
          <p:nvPr/>
        </p:nvSpPr>
        <p:spPr>
          <a:xfrm>
            <a:off x="548640" y="2468880"/>
            <a:ext cx="5120640" cy="274320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n tells you how many times slower </a:t>
            </a:r>
            <a:pPr indent="0" marL="0">
              <a:spcAft>
                <a:spcPts val="800"/>
              </a:spcAft>
              <a:buNone/>
            </a:pPr>
            <a:r>
              <a:rPr lang="en-US" sz="1550" dirty="0">
                <a:solidFill>
                  <a:schemeClr val="tx1"/>
                </a:solidFill>
              </a:rPr>
              <a:t>light travels in a material than in vacuum.</a:t>
            </a:r>
            <a:endParaRPr lang="en-US" sz="1550" dirty="0"/>
          </a:p>
          <a:p>
            <a:pPr marL="228600" indent="-228600">
              <a:spcAft>
                <a:spcPts val="800"/>
              </a:spcAft>
              <a:buSzPct val="100000"/>
              <a:buChar char="•"/>
            </a:pPr>
            <a:r>
              <a:rPr lang="en-US" sz="1550" b="1" dirty="0">
                <a:solidFill>
                  <a:schemeClr val="tx2"/>
                </a:solidFill>
              </a:rPr>
              <a:t>Light slows because </a:t>
            </a:r>
            <a:pPr indent="0" marL="0">
              <a:spcAft>
                <a:spcPts val="800"/>
              </a:spcAft>
              <a:buNone/>
            </a:pPr>
            <a:r>
              <a:rPr lang="en-US" sz="1550" dirty="0">
                <a:solidFill>
                  <a:schemeClr val="tx1"/>
                </a:solidFill>
              </a:rPr>
              <a:t>its electric field makes the electrons in the material oscillate; their re-emitted waves combine with the original into a slower wave.</a:t>
            </a:r>
            <a:endParaRPr lang="en-US" sz="1550" dirty="0"/>
          </a:p>
          <a:p>
            <a:pPr marL="228600" indent="-228600">
              <a:spcAft>
                <a:spcPts val="800"/>
              </a:spcAft>
              <a:buSzPct val="100000"/>
              <a:buChar char="•"/>
            </a:pPr>
            <a:r>
              <a:rPr lang="en-US" sz="1550" b="1" dirty="0">
                <a:solidFill>
                  <a:schemeClr val="tx2"/>
                </a:solidFill>
              </a:rPr>
              <a:t>The frequency stays the same; </a:t>
            </a:r>
            <a:pPr indent="0" marL="0">
              <a:spcAft>
                <a:spcPts val="800"/>
              </a:spcAft>
              <a:buNone/>
            </a:pPr>
            <a:r>
              <a:rPr lang="en-US" sz="1550" dirty="0">
                <a:solidFill>
                  <a:schemeClr val="tx1"/>
                </a:solidFill>
              </a:rPr>
              <a:t>so the wavelength inside is shorter: λ</a:t>
            </a:r>
            <a:pPr indent="0" marL="0">
              <a:spcAft>
                <a:spcPts val="800"/>
              </a:spcAft>
              <a:buNone/>
            </a:pPr>
            <a:r>
              <a:rPr lang="en-US" sz="1550" baseline="-25000" dirty="0">
                <a:solidFill>
                  <a:schemeClr val="tx1"/>
                </a:solidFill>
              </a:rPr>
              <a:t>medium</a:t>
            </a:r>
            <a:pPr indent="0" marL="0">
              <a:spcAft>
                <a:spcPts val="800"/>
              </a:spcAft>
              <a:buNone/>
            </a:pPr>
            <a:r>
              <a:rPr lang="en-US" sz="1550" dirty="0">
                <a:solidFill>
                  <a:schemeClr val="tx1"/>
                </a:solidFill>
              </a:rPr>
              <a:t> = λ / n.</a:t>
            </a:r>
            <a:endParaRPr lang="en-US" sz="15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26480" y="1463040"/>
          <a:ext cx="5513832" cy="914400"/>
        </p:xfrm>
        <a:graphic>
          <a:graphicData uri="http://schemas.openxmlformats.org/drawingml/2006/table">
            <a:tbl>
              <a:tblPr/>
              <a:tblGrid>
                <a:gridCol w="2468880"/>
                <a:gridCol w="1097280"/>
                <a:gridCol w="1947672"/>
              </a:tblGrid>
              <a:tr h="411480">
                <a:tc>
                  <a:txBody>
                    <a:bodyPr/>
                    <a:lstStyle/>
                    <a:p>
                      <a:pPr indent="0" marL="0">
                        <a:buNone/>
                      </a:pPr>
                      <a:r>
                        <a:rPr lang="en-US" sz="1500" b="1" dirty="0">
                          <a:solidFill>
                            <a:schemeClr val="bg1"/>
                          </a:solidFill>
                        </a:rPr>
                        <a:t>Material</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n</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speed of light (×10⁸ m/s)</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r>
              <a:tr h="411480">
                <a:tc>
                  <a:txBody>
                    <a:bodyPr/>
                    <a:lstStyle/>
                    <a:p>
                      <a:pPr indent="0" marL="0">
                        <a:buNone/>
                      </a:pPr>
                      <a:r>
                        <a:rPr lang="en-US" sz="1500" dirty="0">
                          <a:solidFill>
                            <a:schemeClr val="tx1"/>
                          </a:solidFill>
                        </a:rPr>
                        <a:t>Air</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1.0003</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3.00</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11480">
                <a:tc>
                  <a:txBody>
                    <a:bodyPr/>
                    <a:lstStyle/>
                    <a:p>
                      <a:pPr indent="0" marL="0">
                        <a:buNone/>
                      </a:pPr>
                      <a:r>
                        <a:rPr lang="en-US" sz="1500" dirty="0">
                          <a:solidFill>
                            <a:schemeClr val="tx1"/>
                          </a:solidFill>
                        </a:rPr>
                        <a:t>Water</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1.333</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2.25</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11480">
                <a:tc>
                  <a:txBody>
                    <a:bodyPr/>
                    <a:lstStyle/>
                    <a:p>
                      <a:pPr indent="0" marL="0">
                        <a:buNone/>
                      </a:pPr>
                      <a:r>
                        <a:rPr lang="en-US" sz="1500" dirty="0">
                          <a:solidFill>
                            <a:schemeClr val="tx1"/>
                          </a:solidFill>
                        </a:rPr>
                        <a:t>20 °Brix sugar solution</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1.364</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2.20</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11480">
                <a:tc>
                  <a:txBody>
                    <a:bodyPr/>
                    <a:lstStyle/>
                    <a:p>
                      <a:pPr indent="0" marL="0">
                        <a:buNone/>
                      </a:pPr>
                      <a:r>
                        <a:rPr lang="en-US" sz="1500" dirty="0">
                          <a:solidFill>
                            <a:schemeClr val="tx1"/>
                          </a:solidFill>
                        </a:rPr>
                        <a:t>Vegetable oil</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 1.47</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2.04</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11480">
                <a:tc>
                  <a:txBody>
                    <a:bodyPr/>
                    <a:lstStyle/>
                    <a:p>
                      <a:pPr indent="0" marL="0">
                        <a:buNone/>
                      </a:pPr>
                      <a:r>
                        <a:rPr lang="en-US" sz="1500" dirty="0">
                          <a:solidFill>
                            <a:schemeClr val="tx1"/>
                          </a:solidFill>
                        </a:rPr>
                        <a:t>Glass</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 1.52</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1.97</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411480">
                <a:tc>
                  <a:txBody>
                    <a:bodyPr/>
                    <a:lstStyle/>
                    <a:p>
                      <a:pPr indent="0" marL="0">
                        <a:buNone/>
                      </a:pPr>
                      <a:r>
                        <a:rPr lang="en-US" sz="1500" dirty="0">
                          <a:solidFill>
                            <a:schemeClr val="tx1"/>
                          </a:solidFill>
                        </a:rPr>
                        <a:t>Diamond</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2.42</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500" dirty="0">
                          <a:solidFill>
                            <a:schemeClr val="tx1"/>
                          </a:solidFill>
                        </a:rPr>
                        <a:t>1.24</a:t>
                      </a:r>
                      <a:endParaRPr lang="en-US" sz="1500" dirty="0"/>
                    </a:p>
                  </a:txBody>
                  <a:tcPr marL="109728" marR="109728" marT="36576" marB="36576">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9" name="Shape 6"/>
          <p:cNvSpPr/>
          <p:nvPr/>
        </p:nvSpPr>
        <p:spPr>
          <a:xfrm>
            <a:off x="548640" y="5257800"/>
            <a:ext cx="11094415" cy="914400"/>
          </a:xfrm>
          <a:prstGeom prst="roundRect">
            <a:avLst>
              <a:gd name="adj" fmla="val 8000"/>
            </a:avLst>
          </a:prstGeom>
          <a:solidFill>
            <a:schemeClr val="accent2">
              <a:alpha val="12000"/>
            </a:schemeClr>
          </a:solidFill>
          <a:ln w="9525">
            <a:solidFill>
              <a:schemeClr val="accent2">
                <a:alpha val="12000"/>
              </a:schemeClr>
            </a:solidFill>
            <a:prstDash val="solid"/>
          </a:ln>
        </p:spPr>
      </p:sp>
      <p:sp>
        <p:nvSpPr>
          <p:cNvPr id="10" name="Text 7"/>
          <p:cNvSpPr txBox="1"/>
          <p:nvPr/>
        </p:nvSpPr>
        <p:spPr>
          <a:xfrm>
            <a:off x="731520" y="5367528"/>
            <a:ext cx="10728655" cy="69494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Quick calculation</a:t>
            </a:r>
            <a:endParaRPr lang="en-US" sz="1500" dirty="0"/>
          </a:p>
          <a:p>
            <a:pPr indent="0" marL="0">
              <a:spcAft>
                <a:spcPts val="400"/>
              </a:spcAft>
              <a:buNone/>
            </a:pPr>
            <a:r>
              <a:rPr lang="en-US" sz="1500" dirty="0">
                <a:solidFill>
                  <a:schemeClr val="tx1"/>
                </a:solidFill>
              </a:rPr>
              <a:t>Speed of light in water: v = c/n = 3.00 × 10⁸ / 1.333 = 2.25 × 10⁸ m/s — still fast, but 25% slower than in air.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B</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Reflection</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The law of reflection, why some foods shine and others look dull, and how mirrors form images</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Reflection: smooth surfaces shine, rough surfaces scatter</a:t>
            </a:r>
            <a:endParaRPr lang="en-US" sz="3000" dirty="0"/>
          </a:p>
        </p:txBody>
      </p:sp>
      <p:pic>
        <p:nvPicPr>
          <p:cNvPr id="5" name="img_specular_diffuse.png" descr="Specular reflection from a smooth chocolate surface versus diffuse reflection from a rough bloomed surface">    </p:cNvPr>
          <p:cNvPicPr>
            <a:picLocks noChangeAspect="1"/>
          </p:cNvPicPr>
          <p:nvPr/>
        </p:nvPicPr>
        <p:blipFill>
          <a:blip r:embed="rId1"/>
          <a:stretch>
            <a:fillRect/>
          </a:stretch>
        </p:blipFill>
        <p:spPr>
          <a:xfrm>
            <a:off x="2323948" y="1417320"/>
            <a:ext cx="7543800" cy="3017520"/>
          </a:xfrm>
          <a:prstGeom prst="rect">
            <a:avLst/>
          </a:prstGeom>
        </p:spPr>
      </p:pic>
      <p:sp>
        <p:nvSpPr>
          <p:cNvPr id="6" name="Text 3"/>
          <p:cNvSpPr txBox="1"/>
          <p:nvPr/>
        </p:nvSpPr>
        <p:spPr>
          <a:xfrm>
            <a:off x="548640" y="457200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Law of reflection: </a:t>
            </a:r>
            <a:pPr indent="0" marL="0">
              <a:spcAft>
                <a:spcPts val="800"/>
              </a:spcAft>
              <a:buNone/>
            </a:pPr>
            <a:r>
              <a:rPr lang="en-US" sz="1500" dirty="0">
                <a:solidFill>
                  <a:schemeClr val="tx1"/>
                </a:solidFill>
              </a:rPr>
              <a:t>angle of incidence = angle of reflection, measured from the normal — true at every point of every surface.</a:t>
            </a:r>
            <a:endParaRPr lang="en-US" sz="1500" dirty="0"/>
          </a:p>
          <a:p>
            <a:pPr marL="228600" indent="-228600">
              <a:spcAft>
                <a:spcPts val="800"/>
              </a:spcAft>
              <a:buSzPct val="100000"/>
              <a:buChar char="•"/>
            </a:pPr>
            <a:r>
              <a:rPr lang="en-US" sz="1500" b="1" dirty="0">
                <a:solidFill>
                  <a:schemeClr val="tx2"/>
                </a:solidFill>
              </a:rPr>
              <a:t>Smooth surface: </a:t>
            </a:r>
            <a:pPr indent="0" marL="0">
              <a:spcAft>
                <a:spcPts val="800"/>
              </a:spcAft>
              <a:buNone/>
            </a:pPr>
            <a:r>
              <a:rPr lang="en-US" sz="1500" dirty="0">
                <a:solidFill>
                  <a:schemeClr val="tx1"/>
                </a:solidFill>
              </a:rPr>
              <a:t>all the normals point the same way, so parallel light leaves as one beam — a shine or glare (specular reflection).</a:t>
            </a:r>
            <a:endParaRPr lang="en-US" sz="1500" dirty="0"/>
          </a:p>
          <a:p>
            <a:pPr marL="228600" indent="-228600">
              <a:spcAft>
                <a:spcPts val="800"/>
              </a:spcAft>
              <a:buSzPct val="100000"/>
              <a:buChar char="•"/>
            </a:pPr>
            <a:r>
              <a:rPr lang="en-US" sz="1500" b="1" dirty="0">
                <a:solidFill>
                  <a:schemeClr val="tx2"/>
                </a:solidFill>
              </a:rPr>
              <a:t>Rough surface: </a:t>
            </a:r>
            <a:pPr indent="0" marL="0">
              <a:spcAft>
                <a:spcPts val="800"/>
              </a:spcAft>
              <a:buNone/>
            </a:pPr>
            <a:r>
              <a:rPr lang="en-US" sz="1500" dirty="0">
                <a:solidFill>
                  <a:schemeClr val="tx1"/>
                </a:solidFill>
              </a:rPr>
              <a:t>the normals point every which way, so light leaves in all directions — a matt look (diffuse reflection). This is how we see most objects.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does bloomed chocolate look grey-white and dull?</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Shape 5"/>
          <p:cNvSpPr/>
          <p:nvPr/>
        </p:nvSpPr>
        <p:spPr>
          <a:xfrm>
            <a:off x="548640"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8" name="Shape 6"/>
          <p:cNvSpPr/>
          <p:nvPr/>
        </p:nvSpPr>
        <p:spPr>
          <a:xfrm>
            <a:off x="713232" y="1844802"/>
            <a:ext cx="493776" cy="493776"/>
          </a:xfrm>
          <a:prstGeom prst="ellipse">
            <a:avLst/>
          </a:prstGeom>
          <a:solidFill>
            <a:schemeClr val="accent2"/>
          </a:solidFill>
          <a:ln w="12700">
            <a:solidFill>
              <a:schemeClr val="accent2"/>
            </a:solidFill>
            <a:prstDash val="solid"/>
          </a:ln>
        </p:spPr>
      </p:sp>
      <p:sp>
        <p:nvSpPr>
          <p:cNvPr id="9" name="Text 7"/>
          <p:cNvSpPr txBox="1"/>
          <p:nvPr/>
        </p:nvSpPr>
        <p:spPr>
          <a:xfrm>
            <a:off x="713232"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Text 8"/>
          <p:cNvSpPr txBox="1"/>
          <p:nvPr/>
        </p:nvSpPr>
        <p:spPr>
          <a:xfrm>
            <a:off x="1371600"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Mould has grown on the surface</a:t>
            </a:r>
            <a:endParaRPr lang="en-US" sz="1600" dirty="0"/>
          </a:p>
        </p:txBody>
      </p:sp>
      <p:sp>
        <p:nvSpPr>
          <p:cNvPr id="11" name="Shape 9"/>
          <p:cNvSpPr/>
          <p:nvPr/>
        </p:nvSpPr>
        <p:spPr>
          <a:xfrm>
            <a:off x="6210148"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2" name="Shape 10"/>
          <p:cNvSpPr/>
          <p:nvPr/>
        </p:nvSpPr>
        <p:spPr>
          <a:xfrm>
            <a:off x="6374740" y="1844802"/>
            <a:ext cx="493776" cy="493776"/>
          </a:xfrm>
          <a:prstGeom prst="ellipse">
            <a:avLst/>
          </a:prstGeom>
          <a:solidFill>
            <a:schemeClr val="accent2"/>
          </a:solidFill>
          <a:ln w="12700">
            <a:solidFill>
              <a:schemeClr val="accent2"/>
            </a:solidFill>
            <a:prstDash val="solid"/>
          </a:ln>
        </p:spPr>
      </p:sp>
      <p:sp>
        <p:nvSpPr>
          <p:cNvPr id="13" name="Text 11"/>
          <p:cNvSpPr txBox="1"/>
          <p:nvPr/>
        </p:nvSpPr>
        <p:spPr>
          <a:xfrm>
            <a:off x="6374740"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4" name="Text 12"/>
          <p:cNvSpPr txBox="1"/>
          <p:nvPr/>
        </p:nvSpPr>
        <p:spPr>
          <a:xfrm>
            <a:off x="7033108"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The cocoa has chemically changed colour</a:t>
            </a:r>
            <a:endParaRPr lang="en-US" sz="1600" dirty="0"/>
          </a:p>
        </p:txBody>
      </p:sp>
      <p:sp>
        <p:nvSpPr>
          <p:cNvPr id="15" name="Shape 13"/>
          <p:cNvSpPr/>
          <p:nvPr/>
        </p:nvSpPr>
        <p:spPr>
          <a:xfrm>
            <a:off x="548640"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6" name="Shape 14"/>
          <p:cNvSpPr/>
          <p:nvPr/>
        </p:nvSpPr>
        <p:spPr>
          <a:xfrm>
            <a:off x="713232" y="3147822"/>
            <a:ext cx="493776" cy="493776"/>
          </a:xfrm>
          <a:prstGeom prst="ellipse">
            <a:avLst/>
          </a:prstGeom>
          <a:solidFill>
            <a:schemeClr val="accent2"/>
          </a:solidFill>
          <a:ln w="12700">
            <a:solidFill>
              <a:schemeClr val="accent2"/>
            </a:solidFill>
            <a:prstDash val="solid"/>
          </a:ln>
        </p:spPr>
      </p:sp>
      <p:sp>
        <p:nvSpPr>
          <p:cNvPr id="17" name="Text 15"/>
          <p:cNvSpPr txBox="1"/>
          <p:nvPr/>
        </p:nvSpPr>
        <p:spPr>
          <a:xfrm>
            <a:off x="713232"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8" name="Text 16"/>
          <p:cNvSpPr txBox="1"/>
          <p:nvPr/>
        </p:nvSpPr>
        <p:spPr>
          <a:xfrm>
            <a:off x="1371600"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Tiny crystals make the surface rough, so light is reflected diffusely</a:t>
            </a:r>
            <a:endParaRPr lang="en-US" sz="1600" dirty="0"/>
          </a:p>
        </p:txBody>
      </p:sp>
      <p:sp>
        <p:nvSpPr>
          <p:cNvPr id="19" name="rv1_ring"/>
          <p:cNvSpPr/>
          <p:nvPr/>
        </p:nvSpPr>
        <p:spPr>
          <a:xfrm>
            <a:off x="502920" y="2811780"/>
            <a:ext cx="5524348" cy="1165860"/>
          </a:xfrm>
          <a:prstGeom prst="roundRect">
            <a:avLst>
              <a:gd name="adj" fmla="val 7843"/>
            </a:avLst>
          </a:prstGeom>
          <a:solidFill>
            <a:schemeClr val="bg1">
              <a:alpha val="0"/>
            </a:schemeClr>
          </a:solidFill>
          <a:ln w="50800">
            <a:solidFill>
              <a:schemeClr val="accent3"/>
            </a:solidFill>
            <a:prstDash val="solid"/>
          </a:ln>
        </p:spPr>
      </p:sp>
      <p:sp>
        <p:nvSpPr>
          <p:cNvPr id="20" name="Shape 18"/>
          <p:cNvSpPr/>
          <p:nvPr/>
        </p:nvSpPr>
        <p:spPr>
          <a:xfrm>
            <a:off x="6210148"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21" name="Shape 19"/>
          <p:cNvSpPr/>
          <p:nvPr/>
        </p:nvSpPr>
        <p:spPr>
          <a:xfrm>
            <a:off x="6374740" y="3147822"/>
            <a:ext cx="493776" cy="493776"/>
          </a:xfrm>
          <a:prstGeom prst="ellipse">
            <a:avLst/>
          </a:prstGeom>
          <a:solidFill>
            <a:schemeClr val="accent2"/>
          </a:solidFill>
          <a:ln w="12700">
            <a:solidFill>
              <a:schemeClr val="accent2"/>
            </a:solidFill>
            <a:prstDash val="solid"/>
          </a:ln>
        </p:spPr>
      </p:sp>
      <p:sp>
        <p:nvSpPr>
          <p:cNvPr id="22" name="Text 20"/>
          <p:cNvSpPr txBox="1"/>
          <p:nvPr/>
        </p:nvSpPr>
        <p:spPr>
          <a:xfrm>
            <a:off x="6374740"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3" name="Text 21"/>
          <p:cNvSpPr txBox="1"/>
          <p:nvPr/>
        </p:nvSpPr>
        <p:spPr>
          <a:xfrm>
            <a:off x="7033108"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The chocolate absorbs more light than before</a:t>
            </a:r>
            <a:endParaRPr lang="en-US" sz="1600" dirty="0"/>
          </a:p>
        </p:txBody>
      </p:sp>
      <p:sp>
        <p:nvSpPr>
          <p:cNvPr id="24" name="Text 22"/>
          <p:cNvSpPr txBox="1"/>
          <p:nvPr/>
        </p:nvSpPr>
        <p:spPr>
          <a:xfrm>
            <a:off x="548640" y="496062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5" name="rv1_ans_bg"/>
          <p:cNvSpPr/>
          <p:nvPr/>
        </p:nvSpPr>
        <p:spPr>
          <a:xfrm>
            <a:off x="548640" y="4160520"/>
            <a:ext cx="11094415" cy="1965960"/>
          </a:xfrm>
          <a:prstGeom prst="roundRect">
            <a:avLst>
              <a:gd name="adj" fmla="val 3721"/>
            </a:avLst>
          </a:prstGeom>
          <a:solidFill>
            <a:srgbClr val="EAF5EE"/>
          </a:solidFill>
          <a:ln w="15875">
            <a:solidFill>
              <a:schemeClr val="accent3"/>
            </a:solidFill>
            <a:prstDash val="solid"/>
          </a:ln>
        </p:spPr>
      </p:sp>
      <p:sp>
        <p:nvSpPr>
          <p:cNvPr id="26" name="rv1_ans_tx"/>
          <p:cNvSpPr txBox="1"/>
          <p:nvPr/>
        </p:nvSpPr>
        <p:spPr>
          <a:xfrm>
            <a:off x="731520" y="4270248"/>
            <a:ext cx="10728655" cy="17465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C — a surface-optics change</a:t>
            </a:r>
            <a:endParaRPr lang="en-US" sz="1500" dirty="0"/>
          </a:p>
          <a:p>
            <a:pPr indent="0" marL="0">
              <a:spcAft>
                <a:spcPts val="400"/>
              </a:spcAft>
              <a:buNone/>
            </a:pPr>
            <a:r>
              <a:rPr lang="en-US" sz="1500" dirty="0">
                <a:solidFill>
                  <a:schemeClr val="tx1"/>
                </a:solidFill>
              </a:rPr>
              <a:t>Fat or sugar crystals at the surface roughen it. Light that used to reflect as one shiny beam is now scattered in all directions, and white crystals scatter all colours — so it looks pale and dull.</a:t>
            </a:r>
            <a:endParaRPr lang="en-US" sz="1500" dirty="0"/>
          </a:p>
          <a:p>
            <a:pPr indent="0" marL="0">
              <a:spcAft>
                <a:spcPts val="400"/>
              </a:spcAft>
              <a:buNone/>
            </a:pPr>
            <a:r>
              <a:rPr lang="en-US" sz="1500" dirty="0">
                <a:solidFill>
                  <a:schemeClr val="accent6"/>
                </a:solidFill>
              </a:rPr>
              <a:t>Melting and re-tempering restores the smooth surface and the gloss.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CLASS ACTIVITY</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Mirrors: how tall a mirror do you need to see your whole body?</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3 minutes</a:t>
            </a:r>
            <a:endParaRPr lang="en-US" sz="1100" dirty="0"/>
          </a:p>
        </p:txBody>
      </p:sp>
      <p:pic>
        <p:nvPicPr>
          <p:cNvPr id="7" name="img_mirror.png" descr="Ray diagram showing a person seeing their full height in a mirror half their height">    </p:cNvPr>
          <p:cNvPicPr>
            <a:picLocks noChangeAspect="1"/>
          </p:cNvPicPr>
          <p:nvPr/>
        </p:nvPicPr>
        <p:blipFill>
          <a:blip r:embed="rId1"/>
          <a:stretch>
            <a:fillRect/>
          </a:stretch>
        </p:blipFill>
        <p:spPr>
          <a:xfrm>
            <a:off x="548640" y="1417320"/>
            <a:ext cx="5120640" cy="4206240"/>
          </a:xfrm>
          <a:prstGeom prst="rect">
            <a:avLst/>
          </a:prstGeom>
        </p:spPr>
      </p:pic>
      <p:sp>
        <p:nvSpPr>
          <p:cNvPr id="8" name="Text 5"/>
          <p:cNvSpPr txBox="1"/>
          <p:nvPr/>
        </p:nvSpPr>
        <p:spPr>
          <a:xfrm>
            <a:off x="5943600" y="1463040"/>
            <a:ext cx="5696712" cy="164592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A plane mirror image </a:t>
            </a:r>
            <a:pPr indent="0" marL="0">
              <a:spcAft>
                <a:spcPts val="800"/>
              </a:spcAft>
              <a:buNone/>
            </a:pPr>
            <a:r>
              <a:rPr lang="en-US" sz="1550" dirty="0">
                <a:solidFill>
                  <a:schemeClr val="tx1"/>
                </a:solidFill>
              </a:rPr>
              <a:t>is upright, the same size, and as far behind the mirror as you are in front.</a:t>
            </a:r>
            <a:endParaRPr lang="en-US" sz="1550" dirty="0"/>
          </a:p>
          <a:p>
            <a:pPr marL="228600" indent="-228600">
              <a:spcAft>
                <a:spcPts val="800"/>
              </a:spcAft>
              <a:buSzPct val="100000"/>
              <a:buChar char="•"/>
            </a:pPr>
            <a:r>
              <a:rPr lang="en-US" sz="1550" b="1" dirty="0">
                <a:solidFill>
                  <a:schemeClr val="tx2"/>
                </a:solidFill>
              </a:rPr>
              <a:t>It is virtual: </a:t>
            </a:r>
            <a:pPr indent="0" marL="0">
              <a:spcAft>
                <a:spcPts val="800"/>
              </a:spcAft>
              <a:buNone/>
            </a:pPr>
            <a:r>
              <a:rPr lang="en-US" sz="1550" dirty="0">
                <a:solidFill>
                  <a:schemeClr val="tx1"/>
                </a:solidFill>
              </a:rPr>
              <a:t>the light only seems to come from behind the mirror; no light actually goes there.</a:t>
            </a:r>
            <a:endParaRPr lang="en-US" sz="1550" dirty="0"/>
          </a:p>
        </p:txBody>
      </p:sp>
      <p:sp>
        <p:nvSpPr>
          <p:cNvPr id="9" name="Shape 6"/>
          <p:cNvSpPr/>
          <p:nvPr/>
        </p:nvSpPr>
        <p:spPr>
          <a:xfrm>
            <a:off x="5943600" y="3200400"/>
            <a:ext cx="5696712" cy="1051560"/>
          </a:xfrm>
          <a:prstGeom prst="roundRect">
            <a:avLst>
              <a:gd name="adj" fmla="val 6957"/>
            </a:avLst>
          </a:prstGeom>
          <a:solidFill>
            <a:schemeClr val="accent2">
              <a:alpha val="12000"/>
            </a:schemeClr>
          </a:solidFill>
          <a:ln w="9525">
            <a:solidFill>
              <a:schemeClr val="accent2">
                <a:alpha val="12000"/>
              </a:schemeClr>
            </a:solidFill>
            <a:prstDash val="solid"/>
          </a:ln>
        </p:spPr>
      </p:sp>
      <p:sp>
        <p:nvSpPr>
          <p:cNvPr id="10" name="Text 7"/>
          <p:cNvSpPr txBox="1"/>
          <p:nvPr/>
        </p:nvSpPr>
        <p:spPr>
          <a:xfrm>
            <a:off x="6126480" y="3310128"/>
            <a:ext cx="5330952" cy="83210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Predict</a:t>
            </a:r>
            <a:endParaRPr lang="en-US" sz="1550" dirty="0"/>
          </a:p>
          <a:p>
            <a:pPr indent="0" marL="0">
              <a:spcAft>
                <a:spcPts val="400"/>
              </a:spcAft>
              <a:buNone/>
            </a:pPr>
            <a:r>
              <a:rPr lang="en-US" sz="1550" dirty="0">
                <a:solidFill>
                  <a:schemeClr val="tx1"/>
                </a:solidFill>
              </a:rPr>
              <a:t>Do you need a full-length mirror to see your whole body? Does it help to step back?</a:t>
            </a:r>
            <a:endParaRPr lang="en-US" sz="1550" dirty="0"/>
          </a:p>
        </p:txBody>
      </p:sp>
      <p:sp>
        <p:nvSpPr>
          <p:cNvPr id="11" name="Text 8"/>
          <p:cNvSpPr txBox="1"/>
          <p:nvPr/>
        </p:nvSpPr>
        <p:spPr>
          <a:xfrm>
            <a:off x="5943600" y="512064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2" name="rv1_ans_bg"/>
          <p:cNvSpPr/>
          <p:nvPr/>
        </p:nvSpPr>
        <p:spPr>
          <a:xfrm>
            <a:off x="5943600" y="4434840"/>
            <a:ext cx="5696712" cy="1737360"/>
          </a:xfrm>
          <a:prstGeom prst="roundRect">
            <a:avLst>
              <a:gd name="adj" fmla="val 4211"/>
            </a:avLst>
          </a:prstGeom>
          <a:solidFill>
            <a:srgbClr val="EAF5EE"/>
          </a:solidFill>
          <a:ln w="15875">
            <a:solidFill>
              <a:schemeClr val="accent3"/>
            </a:solidFill>
            <a:prstDash val="solid"/>
          </a:ln>
        </p:spPr>
      </p:sp>
      <p:sp>
        <p:nvSpPr>
          <p:cNvPr id="13" name="rv1_ans_tx"/>
          <p:cNvSpPr txBox="1"/>
          <p:nvPr/>
        </p:nvSpPr>
        <p:spPr>
          <a:xfrm>
            <a:off x="6126480" y="4544568"/>
            <a:ext cx="5330952" cy="15179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Half your height — at any distance</a:t>
            </a:r>
            <a:endParaRPr lang="en-US" sz="1450" dirty="0"/>
          </a:p>
          <a:p>
            <a:pPr indent="0" marL="0">
              <a:spcAft>
                <a:spcPts val="400"/>
              </a:spcAft>
              <a:buNone/>
            </a:pPr>
            <a:r>
              <a:rPr lang="en-US" sz="1450" dirty="0">
                <a:solidFill>
                  <a:schemeClr val="tx1"/>
                </a:solidFill>
              </a:rPr>
              <a:t>Light from your feet reflects at a point halfway between your eyes and feet; light from your head reflects halfway between your eyes and the top of your head. So the mirror only needs to be half your height (placed at the right height). Stepping back does not change this.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C</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Refraction &amp; TIR</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Snell's law, why pools look shallow, how refractometers read sugar, and how fibres trap light</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Refraction: light changes speed, so it changes direction</a:t>
            </a:r>
            <a:endParaRPr lang="en-US" sz="3000" dirty="0"/>
          </a:p>
        </p:txBody>
      </p:sp>
      <p:pic>
        <p:nvPicPr>
          <p:cNvPr id="5" name="img_refraction.gif" descr="Animated wavefronts entering a slower medium at an angle and bending towards the normal">    </p:cNvPr>
          <p:cNvPicPr>
            <a:picLocks noChangeAspect="1"/>
          </p:cNvPicPr>
          <p:nvPr/>
        </p:nvPicPr>
        <p:blipFill>
          <a:blip r:embed="rId1"/>
          <a:stretch>
            <a:fillRect/>
          </a:stretch>
        </p:blipFill>
        <p:spPr>
          <a:xfrm>
            <a:off x="548640" y="1431607"/>
            <a:ext cx="5669280" cy="3720465"/>
          </a:xfrm>
          <a:prstGeom prst="rect">
            <a:avLst/>
          </a:prstGeom>
        </p:spPr>
      </p:pic>
      <p:sp>
        <p:nvSpPr>
          <p:cNvPr id="6" name="step0_dot"/>
          <p:cNvSpPr/>
          <p:nvPr/>
        </p:nvSpPr>
        <p:spPr>
          <a:xfrm>
            <a:off x="6492240" y="1545336"/>
            <a:ext cx="384048" cy="384048"/>
          </a:xfrm>
          <a:prstGeom prst="ellipse">
            <a:avLst/>
          </a:prstGeom>
          <a:solidFill>
            <a:schemeClr val="accent4"/>
          </a:solidFill>
          <a:ln w="12700">
            <a:solidFill>
              <a:schemeClr val="accent4"/>
            </a:solidFill>
            <a:prstDash val="solid"/>
          </a:ln>
        </p:spPr>
      </p:sp>
      <p:sp>
        <p:nvSpPr>
          <p:cNvPr id="7" name="step0_num"/>
          <p:cNvSpPr txBox="1"/>
          <p:nvPr/>
        </p:nvSpPr>
        <p:spPr>
          <a:xfrm>
            <a:off x="6492240" y="15453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step0_tx"/>
          <p:cNvSpPr txBox="1"/>
          <p:nvPr/>
        </p:nvSpPr>
        <p:spPr>
          <a:xfrm>
            <a:off x="7040880" y="1508760"/>
            <a:ext cx="4599432" cy="841248"/>
          </a:xfrm>
          <a:prstGeom prst="rect">
            <a:avLst/>
          </a:prstGeom>
          <a:noFill/>
          <a:ln/>
        </p:spPr>
        <p:txBody>
          <a:bodyPr wrap="square" lIns="0" tIns="0" rIns="0" bIns="0" rtlCol="0" anchor="t"/>
          <a:lstStyle/>
          <a:p>
            <a:pPr indent="0" marL="0">
              <a:buNone/>
            </a:pPr>
            <a:r>
              <a:rPr lang="en-US" sz="1550" b="1" dirty="0">
                <a:solidFill>
                  <a:schemeClr val="tx2"/>
                </a:solidFill>
              </a:rPr>
              <a:t>Frequency stays the same   </a:t>
            </a:r>
            <a:pPr indent="0" marL="0">
              <a:buNone/>
            </a:pPr>
            <a:r>
              <a:rPr lang="en-US" sz="1550" dirty="0">
                <a:solidFill>
                  <a:schemeClr val="tx1"/>
                </a:solidFill>
              </a:rPr>
              <a:t>— the source sets it (waves lecture).</a:t>
            </a:r>
            <a:endParaRPr lang="en-US" sz="1550" dirty="0"/>
          </a:p>
        </p:txBody>
      </p:sp>
      <p:sp>
        <p:nvSpPr>
          <p:cNvPr id="9" name="step1_dot"/>
          <p:cNvSpPr/>
          <p:nvPr/>
        </p:nvSpPr>
        <p:spPr>
          <a:xfrm>
            <a:off x="6492240" y="2459736"/>
            <a:ext cx="384048" cy="384048"/>
          </a:xfrm>
          <a:prstGeom prst="ellipse">
            <a:avLst/>
          </a:prstGeom>
          <a:solidFill>
            <a:schemeClr val="accent4"/>
          </a:solidFill>
          <a:ln w="12700">
            <a:solidFill>
              <a:schemeClr val="accent4"/>
            </a:solidFill>
            <a:prstDash val="solid"/>
          </a:ln>
        </p:spPr>
      </p:sp>
      <p:sp>
        <p:nvSpPr>
          <p:cNvPr id="10" name="step1_num"/>
          <p:cNvSpPr txBox="1"/>
          <p:nvPr/>
        </p:nvSpPr>
        <p:spPr>
          <a:xfrm>
            <a:off x="6492240" y="24597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step1_tx"/>
          <p:cNvSpPr txBox="1"/>
          <p:nvPr/>
        </p:nvSpPr>
        <p:spPr>
          <a:xfrm>
            <a:off x="7040880" y="2423160"/>
            <a:ext cx="4599432" cy="841248"/>
          </a:xfrm>
          <a:prstGeom prst="rect">
            <a:avLst/>
          </a:prstGeom>
          <a:noFill/>
          <a:ln/>
        </p:spPr>
        <p:txBody>
          <a:bodyPr wrap="square" lIns="0" tIns="0" rIns="0" bIns="0" rtlCol="0" anchor="t"/>
          <a:lstStyle/>
          <a:p>
            <a:pPr indent="0" marL="0">
              <a:buNone/>
            </a:pPr>
            <a:r>
              <a:rPr lang="en-US" sz="1550" b="1" dirty="0">
                <a:solidFill>
                  <a:schemeClr val="tx2"/>
                </a:solidFill>
              </a:rPr>
              <a:t>Speed falls in the denser medium:   </a:t>
            </a:r>
            <a:pPr indent="0" marL="0">
              <a:buNone/>
            </a:pPr>
            <a:r>
              <a:rPr lang="en-US" sz="1550" dirty="0">
                <a:solidFill>
                  <a:schemeClr val="tx1"/>
                </a:solidFill>
              </a:rPr>
              <a:t>v = c/n.</a:t>
            </a:r>
            <a:endParaRPr lang="en-US" sz="1550" dirty="0"/>
          </a:p>
        </p:txBody>
      </p:sp>
      <p:sp>
        <p:nvSpPr>
          <p:cNvPr id="12" name="step2_dot"/>
          <p:cNvSpPr/>
          <p:nvPr/>
        </p:nvSpPr>
        <p:spPr>
          <a:xfrm>
            <a:off x="6492240" y="3374136"/>
            <a:ext cx="384048" cy="384048"/>
          </a:xfrm>
          <a:prstGeom prst="ellipse">
            <a:avLst/>
          </a:prstGeom>
          <a:solidFill>
            <a:schemeClr val="accent4"/>
          </a:solidFill>
          <a:ln w="12700">
            <a:solidFill>
              <a:schemeClr val="accent4"/>
            </a:solidFill>
            <a:prstDash val="solid"/>
          </a:ln>
        </p:spPr>
      </p:sp>
      <p:sp>
        <p:nvSpPr>
          <p:cNvPr id="13" name="step2_num"/>
          <p:cNvSpPr txBox="1"/>
          <p:nvPr/>
        </p:nvSpPr>
        <p:spPr>
          <a:xfrm>
            <a:off x="6492240" y="33741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step2_tx"/>
          <p:cNvSpPr txBox="1"/>
          <p:nvPr/>
        </p:nvSpPr>
        <p:spPr>
          <a:xfrm>
            <a:off x="7040880" y="3337560"/>
            <a:ext cx="4599432" cy="841248"/>
          </a:xfrm>
          <a:prstGeom prst="rect">
            <a:avLst/>
          </a:prstGeom>
          <a:noFill/>
          <a:ln/>
        </p:spPr>
        <p:txBody>
          <a:bodyPr wrap="square" lIns="0" tIns="0" rIns="0" bIns="0" rtlCol="0" anchor="t"/>
          <a:lstStyle/>
          <a:p>
            <a:pPr indent="0" marL="0">
              <a:buNone/>
            </a:pPr>
            <a:r>
              <a:rPr lang="en-US" sz="1550" b="1" dirty="0">
                <a:solidFill>
                  <a:schemeClr val="tx2"/>
                </a:solidFill>
              </a:rPr>
              <a:t>So the wavelength shortens:   </a:t>
            </a:r>
            <a:pPr indent="0" marL="0">
              <a:buNone/>
            </a:pPr>
            <a:r>
              <a:rPr lang="en-US" sz="1550" dirty="0">
                <a:solidFill>
                  <a:schemeClr val="tx1"/>
                </a:solidFill>
              </a:rPr>
              <a:t>λ</a:t>
            </a:r>
            <a:pPr indent="0" marL="0">
              <a:buNone/>
            </a:pPr>
            <a:r>
              <a:rPr lang="en-US" sz="1550" baseline="-25000" dirty="0">
                <a:solidFill>
                  <a:schemeClr val="tx1"/>
                </a:solidFill>
              </a:rPr>
              <a:t>medium</a:t>
            </a:r>
            <a:pPr indent="0" marL="0">
              <a:buNone/>
            </a:pPr>
            <a:r>
              <a:rPr lang="en-US" sz="1550" dirty="0">
                <a:solidFill>
                  <a:schemeClr val="tx1"/>
                </a:solidFill>
              </a:rPr>
              <a:t> = λ / n.</a:t>
            </a:r>
            <a:endParaRPr lang="en-US" sz="1550" dirty="0"/>
          </a:p>
        </p:txBody>
      </p:sp>
      <p:sp>
        <p:nvSpPr>
          <p:cNvPr id="15" name="step3_dot"/>
          <p:cNvSpPr/>
          <p:nvPr/>
        </p:nvSpPr>
        <p:spPr>
          <a:xfrm>
            <a:off x="6492240" y="4288536"/>
            <a:ext cx="384048" cy="384048"/>
          </a:xfrm>
          <a:prstGeom prst="ellipse">
            <a:avLst/>
          </a:prstGeom>
          <a:solidFill>
            <a:schemeClr val="accent4"/>
          </a:solidFill>
          <a:ln w="12700">
            <a:solidFill>
              <a:schemeClr val="accent4"/>
            </a:solidFill>
            <a:prstDash val="solid"/>
          </a:ln>
        </p:spPr>
      </p:sp>
      <p:sp>
        <p:nvSpPr>
          <p:cNvPr id="16" name="step3_num"/>
          <p:cNvSpPr txBox="1"/>
          <p:nvPr/>
        </p:nvSpPr>
        <p:spPr>
          <a:xfrm>
            <a:off x="6492240" y="42885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step3_tx"/>
          <p:cNvSpPr txBox="1"/>
          <p:nvPr/>
        </p:nvSpPr>
        <p:spPr>
          <a:xfrm>
            <a:off x="7040880" y="4251960"/>
            <a:ext cx="4599432" cy="841248"/>
          </a:xfrm>
          <a:prstGeom prst="rect">
            <a:avLst/>
          </a:prstGeom>
          <a:noFill/>
          <a:ln/>
        </p:spPr>
        <p:txBody>
          <a:bodyPr wrap="square" lIns="0" tIns="0" rIns="0" bIns="0" rtlCol="0" anchor="t"/>
          <a:lstStyle/>
          <a:p>
            <a:pPr indent="0" marL="0">
              <a:buNone/>
            </a:pPr>
            <a:r>
              <a:rPr lang="en-US" sz="1550" b="1" dirty="0">
                <a:solidFill>
                  <a:schemeClr val="tx2"/>
                </a:solidFill>
              </a:rPr>
              <a:t>At an angle, the wavefront swings:   </a:t>
            </a:r>
            <a:pPr indent="0" marL="0">
              <a:buNone/>
            </a:pPr>
            <a:r>
              <a:rPr lang="en-US" sz="1550" dirty="0">
                <a:solidFill>
                  <a:schemeClr val="tx1"/>
                </a:solidFill>
              </a:rPr>
              <a:t>one side slows first, so light bends towards the normal going into higher n, and away from it coming out.</a:t>
            </a:r>
            <a:endParaRPr lang="en-US" sz="1550" dirty="0"/>
          </a:p>
        </p:txBody>
      </p:sp>
      <p:sp>
        <p:nvSpPr>
          <p:cNvPr id="18" name="Shape 15"/>
          <p:cNvSpPr/>
          <p:nvPr/>
        </p:nvSpPr>
        <p:spPr>
          <a:xfrm>
            <a:off x="548640" y="5349240"/>
            <a:ext cx="11094415" cy="777240"/>
          </a:xfrm>
          <a:prstGeom prst="roundRect">
            <a:avLst>
              <a:gd name="adj" fmla="val 9412"/>
            </a:avLst>
          </a:prstGeom>
          <a:solidFill>
            <a:schemeClr val="accent2">
              <a:alpha val="12000"/>
            </a:schemeClr>
          </a:solidFill>
          <a:ln w="9525">
            <a:solidFill>
              <a:schemeClr val="accent2">
                <a:alpha val="12000"/>
              </a:schemeClr>
            </a:solidFill>
            <a:prstDash val="solid"/>
          </a:ln>
        </p:spPr>
      </p:sp>
      <p:sp>
        <p:nvSpPr>
          <p:cNvPr id="19" name="Text 16"/>
          <p:cNvSpPr txBox="1"/>
          <p:nvPr/>
        </p:nvSpPr>
        <p:spPr>
          <a:xfrm>
            <a:off x="731520" y="5458968"/>
            <a:ext cx="10728655" cy="55778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Memory hook</a:t>
            </a:r>
            <a:endParaRPr lang="en-US" sz="1550" dirty="0"/>
          </a:p>
          <a:p>
            <a:pPr indent="0" marL="0">
              <a:spcAft>
                <a:spcPts val="400"/>
              </a:spcAft>
              <a:buNone/>
            </a:pPr>
            <a:r>
              <a:rPr lang="en-US" sz="1550" dirty="0">
                <a:solidFill>
                  <a:schemeClr val="tx1"/>
                </a:solidFill>
              </a:rPr>
              <a:t>Into a slower medium → bend TOWARDS the normal. Into a faster medium → bend AWAY.</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Snell's law puts numbers on the bending</a:t>
            </a:r>
            <a:endParaRPr lang="en-US" sz="3000" dirty="0"/>
          </a:p>
        </p:txBody>
      </p:sp>
      <p:pic>
        <p:nvPicPr>
          <p:cNvPr id="5" name="img_snell.png" descr="Ray entering water from air at angle θ1 and refracting to a smaller angle θ2">    </p:cNvPr>
          <p:cNvPicPr>
            <a:picLocks noChangeAspect="1"/>
          </p:cNvPicPr>
          <p:nvPr/>
        </p:nvPicPr>
        <p:blipFill>
          <a:blip r:embed="rId1"/>
          <a:stretch>
            <a:fillRect/>
          </a:stretch>
        </p:blipFill>
        <p:spPr>
          <a:xfrm>
            <a:off x="580445" y="1417320"/>
            <a:ext cx="5422790" cy="4023360"/>
          </a:xfrm>
          <a:prstGeom prst="rect">
            <a:avLst/>
          </a:prstGeom>
        </p:spPr>
      </p:pic>
      <p:sp>
        <p:nvSpPr>
          <p:cNvPr id="6" name="Shape 3"/>
          <p:cNvSpPr/>
          <p:nvPr/>
        </p:nvSpPr>
        <p:spPr>
          <a:xfrm>
            <a:off x="6400800" y="1508760"/>
            <a:ext cx="5239512" cy="868680"/>
          </a:xfrm>
          <a:prstGeom prst="roundRect">
            <a:avLst>
              <a:gd name="adj" fmla="val 8421"/>
            </a:avLst>
          </a:prstGeom>
          <a:solidFill>
            <a:schemeClr val="accent1">
              <a:alpha val="12000"/>
            </a:schemeClr>
          </a:solidFill>
          <a:ln w="9525">
            <a:solidFill>
              <a:schemeClr val="accent1">
                <a:alpha val="12000"/>
              </a:schemeClr>
            </a:solidFill>
            <a:prstDash val="solid"/>
          </a:ln>
        </p:spPr>
      </p:sp>
      <p:sp>
        <p:nvSpPr>
          <p:cNvPr id="7" name="Text 4"/>
          <p:cNvSpPr txBox="1"/>
          <p:nvPr/>
        </p:nvSpPr>
        <p:spPr>
          <a:xfrm>
            <a:off x="6400800" y="1508760"/>
            <a:ext cx="5239512" cy="86868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n₁ sin θ₁ = n₂ sin θ₂</a:t>
            </a:r>
            <a:endParaRPr lang="en-US" sz="3000" dirty="0"/>
          </a:p>
        </p:txBody>
      </p:sp>
      <p:sp>
        <p:nvSpPr>
          <p:cNvPr id="8" name="Text 5"/>
          <p:cNvSpPr txBox="1"/>
          <p:nvPr/>
        </p:nvSpPr>
        <p:spPr>
          <a:xfrm>
            <a:off x="6400800" y="2560320"/>
            <a:ext cx="5239512" cy="283464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Angles are measured from the normal, </a:t>
            </a:r>
            <a:pPr indent="0" marL="0">
              <a:spcAft>
                <a:spcPts val="800"/>
              </a:spcAft>
              <a:buNone/>
            </a:pPr>
            <a:r>
              <a:rPr lang="en-US" sz="1550" dirty="0">
                <a:solidFill>
                  <a:schemeClr val="tx1"/>
                </a:solidFill>
              </a:rPr>
              <a:t>not from the surface.</a:t>
            </a:r>
            <a:endParaRPr lang="en-US" sz="1550" dirty="0"/>
          </a:p>
          <a:p>
            <a:pPr marL="228600" indent="-228600">
              <a:spcAft>
                <a:spcPts val="800"/>
              </a:spcAft>
              <a:buSzPct val="100000"/>
              <a:buChar char="•"/>
            </a:pPr>
            <a:r>
              <a:rPr lang="en-US" sz="1550" b="1" dirty="0">
                <a:solidFill>
                  <a:schemeClr val="tx2"/>
                </a:solidFill>
              </a:rPr>
              <a:t>Bigger n → smaller angle: </a:t>
            </a:r>
            <a:pPr indent="0" marL="0">
              <a:spcAft>
                <a:spcPts val="800"/>
              </a:spcAft>
              <a:buNone/>
            </a:pPr>
            <a:r>
              <a:rPr lang="en-US" sz="1550" dirty="0">
                <a:solidFill>
                  <a:schemeClr val="tx1"/>
                </a:solidFill>
              </a:rPr>
              <a:t>the ray hugs the normal in the slower medium.</a:t>
            </a:r>
            <a:endParaRPr lang="en-US" sz="1550" dirty="0"/>
          </a:p>
          <a:p>
            <a:pPr marL="228600" indent="-228600">
              <a:spcAft>
                <a:spcPts val="800"/>
              </a:spcAft>
              <a:buSzPct val="100000"/>
              <a:buChar char="•"/>
            </a:pPr>
            <a:r>
              <a:rPr lang="en-US" sz="1550" b="1" dirty="0">
                <a:solidFill>
                  <a:schemeClr val="tx2"/>
                </a:solidFill>
              </a:rPr>
              <a:t>If n₁ = n₂, </a:t>
            </a:r>
            <a:pPr indent="0" marL="0">
              <a:spcAft>
                <a:spcPts val="800"/>
              </a:spcAft>
              <a:buNone/>
            </a:pPr>
            <a:r>
              <a:rPr lang="en-US" sz="1550" dirty="0">
                <a:solidFill>
                  <a:schemeClr val="tx1"/>
                </a:solidFill>
              </a:rPr>
              <a:t>there is no bending — so a glass rod in oil of the same n becomes invisible!</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4"/>
          </a:solidFill>
          <a:ln w="12700">
            <a:solidFill>
              <a:schemeClr val="accent4"/>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WORKED EXAMPLE</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Worked example: light entering a glass of water</a:t>
            </a:r>
            <a:endParaRPr lang="en-US" sz="3000" dirty="0"/>
          </a:p>
        </p:txBody>
      </p:sp>
      <p:sp>
        <p:nvSpPr>
          <p:cNvPr id="5" name="Shape 3"/>
          <p:cNvSpPr/>
          <p:nvPr/>
        </p:nvSpPr>
        <p:spPr>
          <a:xfrm>
            <a:off x="548640" y="1463040"/>
            <a:ext cx="11094415" cy="822960"/>
          </a:xfrm>
          <a:prstGeom prst="roundRect">
            <a:avLst>
              <a:gd name="adj" fmla="val 8889"/>
            </a:avLst>
          </a:prstGeom>
          <a:solidFill>
            <a:schemeClr val="accent4">
              <a:alpha val="12000"/>
            </a:schemeClr>
          </a:solidFill>
          <a:ln w="9525">
            <a:solidFill>
              <a:schemeClr val="accent4">
                <a:alpha val="12000"/>
              </a:schemeClr>
            </a:solidFill>
            <a:prstDash val="solid"/>
          </a:ln>
        </p:spPr>
      </p:sp>
      <p:sp>
        <p:nvSpPr>
          <p:cNvPr id="6" name="Text 4"/>
          <p:cNvSpPr txBox="1"/>
          <p:nvPr/>
        </p:nvSpPr>
        <p:spPr>
          <a:xfrm>
            <a:off x="731520" y="1572768"/>
            <a:ext cx="10728655" cy="60350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Problem</a:t>
            </a:r>
            <a:endParaRPr lang="en-US" sz="1550" dirty="0"/>
          </a:p>
          <a:p>
            <a:pPr indent="0" marL="0">
              <a:spcAft>
                <a:spcPts val="400"/>
              </a:spcAft>
              <a:buNone/>
            </a:pPr>
            <a:r>
              <a:rPr lang="en-US" sz="1550" dirty="0">
                <a:solidFill>
                  <a:schemeClr val="tx1"/>
                </a:solidFill>
              </a:rPr>
              <a:t>A laser beam in air hits a water surface at 40° to the normal. Water has n = 1.33. At what angle does it travel in the water?</a:t>
            </a:r>
            <a:endParaRPr lang="en-US" sz="1550" dirty="0"/>
          </a:p>
        </p:txBody>
      </p:sp>
      <p:sp>
        <p:nvSpPr>
          <p:cNvPr id="7" name="rv1_step0_dot"/>
          <p:cNvSpPr/>
          <p:nvPr/>
        </p:nvSpPr>
        <p:spPr>
          <a:xfrm>
            <a:off x="548640" y="2551176"/>
            <a:ext cx="384048" cy="384048"/>
          </a:xfrm>
          <a:prstGeom prst="ellipse">
            <a:avLst/>
          </a:prstGeom>
          <a:solidFill>
            <a:schemeClr val="accent4"/>
          </a:solidFill>
          <a:ln w="12700">
            <a:solidFill>
              <a:schemeClr val="accent4"/>
            </a:solidFill>
            <a:prstDash val="solid"/>
          </a:ln>
        </p:spPr>
      </p:sp>
      <p:sp>
        <p:nvSpPr>
          <p:cNvPr id="8" name="rv1_step0_num"/>
          <p:cNvSpPr txBox="1"/>
          <p:nvPr/>
        </p:nvSpPr>
        <p:spPr>
          <a:xfrm>
            <a:off x="548640" y="25511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rv1_step0_tx"/>
          <p:cNvSpPr txBox="1"/>
          <p:nvPr/>
        </p:nvSpPr>
        <p:spPr>
          <a:xfrm>
            <a:off x="1097280" y="2514600"/>
            <a:ext cx="6949440" cy="658368"/>
          </a:xfrm>
          <a:prstGeom prst="rect">
            <a:avLst/>
          </a:prstGeom>
          <a:noFill/>
          <a:ln/>
        </p:spPr>
        <p:txBody>
          <a:bodyPr wrap="square" lIns="0" tIns="0" rIns="0" bIns="0" rtlCol="0" anchor="t"/>
          <a:lstStyle/>
          <a:p>
            <a:pPr indent="0" marL="0">
              <a:buNone/>
            </a:pPr>
            <a:r>
              <a:rPr lang="en-US" sz="1600" b="1" dirty="0">
                <a:solidFill>
                  <a:schemeClr val="tx2"/>
                </a:solidFill>
              </a:rPr>
              <a:t>Write Snell's law:   </a:t>
            </a:r>
            <a:pPr indent="0" marL="0">
              <a:buNone/>
            </a:pPr>
            <a:r>
              <a:rPr lang="en-US" sz="1600" dirty="0">
                <a:solidFill>
                  <a:schemeClr val="tx1"/>
                </a:solidFill>
              </a:rPr>
              <a:t>n₁ sin θ₁ = n₂ sin θ₂</a:t>
            </a:r>
            <a:endParaRPr lang="en-US" sz="1600" dirty="0"/>
          </a:p>
        </p:txBody>
      </p:sp>
      <p:sp>
        <p:nvSpPr>
          <p:cNvPr id="10" name="rv2_step1_dot"/>
          <p:cNvSpPr/>
          <p:nvPr/>
        </p:nvSpPr>
        <p:spPr>
          <a:xfrm>
            <a:off x="548640" y="3282696"/>
            <a:ext cx="384048" cy="384048"/>
          </a:xfrm>
          <a:prstGeom prst="ellipse">
            <a:avLst/>
          </a:prstGeom>
          <a:solidFill>
            <a:schemeClr val="accent4"/>
          </a:solidFill>
          <a:ln w="12700">
            <a:solidFill>
              <a:schemeClr val="accent4"/>
            </a:solidFill>
            <a:prstDash val="solid"/>
          </a:ln>
        </p:spPr>
      </p:sp>
      <p:sp>
        <p:nvSpPr>
          <p:cNvPr id="11" name="rv2_step1_num"/>
          <p:cNvSpPr txBox="1"/>
          <p:nvPr/>
        </p:nvSpPr>
        <p:spPr>
          <a:xfrm>
            <a:off x="548640" y="328269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rv2_step1_tx"/>
          <p:cNvSpPr txBox="1"/>
          <p:nvPr/>
        </p:nvSpPr>
        <p:spPr>
          <a:xfrm>
            <a:off x="1097280" y="3246120"/>
            <a:ext cx="6949440" cy="658368"/>
          </a:xfrm>
          <a:prstGeom prst="rect">
            <a:avLst/>
          </a:prstGeom>
          <a:noFill/>
          <a:ln/>
        </p:spPr>
        <p:txBody>
          <a:bodyPr wrap="square" lIns="0" tIns="0" rIns="0" bIns="0" rtlCol="0" anchor="t"/>
          <a:lstStyle/>
          <a:p>
            <a:pPr indent="0" marL="0">
              <a:buNone/>
            </a:pPr>
            <a:r>
              <a:rPr lang="en-US" sz="1600" b="1" dirty="0">
                <a:solidFill>
                  <a:schemeClr val="tx2"/>
                </a:solidFill>
              </a:rPr>
              <a:t>Substitute:   </a:t>
            </a:r>
            <a:pPr indent="0" marL="0">
              <a:buNone/>
            </a:pPr>
            <a:r>
              <a:rPr lang="en-US" sz="1600" dirty="0">
                <a:solidFill>
                  <a:schemeClr val="tx1"/>
                </a:solidFill>
              </a:rPr>
              <a:t>1.00 × sin 40° = 1.33 × sin θ₂</a:t>
            </a:r>
            <a:endParaRPr lang="en-US" sz="1600" dirty="0"/>
          </a:p>
        </p:txBody>
      </p:sp>
      <p:sp>
        <p:nvSpPr>
          <p:cNvPr id="13" name="rv3_step2_dot"/>
          <p:cNvSpPr/>
          <p:nvPr/>
        </p:nvSpPr>
        <p:spPr>
          <a:xfrm>
            <a:off x="548640" y="4014216"/>
            <a:ext cx="384048" cy="384048"/>
          </a:xfrm>
          <a:prstGeom prst="ellipse">
            <a:avLst/>
          </a:prstGeom>
          <a:solidFill>
            <a:schemeClr val="accent4"/>
          </a:solidFill>
          <a:ln w="12700">
            <a:solidFill>
              <a:schemeClr val="accent4"/>
            </a:solidFill>
            <a:prstDash val="solid"/>
          </a:ln>
        </p:spPr>
      </p:sp>
      <p:sp>
        <p:nvSpPr>
          <p:cNvPr id="14" name="rv3_step2_num"/>
          <p:cNvSpPr txBox="1"/>
          <p:nvPr/>
        </p:nvSpPr>
        <p:spPr>
          <a:xfrm>
            <a:off x="548640" y="40142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rv3_step2_tx"/>
          <p:cNvSpPr txBox="1"/>
          <p:nvPr/>
        </p:nvSpPr>
        <p:spPr>
          <a:xfrm>
            <a:off x="1097280" y="3977640"/>
            <a:ext cx="6949440" cy="658368"/>
          </a:xfrm>
          <a:prstGeom prst="rect">
            <a:avLst/>
          </a:prstGeom>
          <a:noFill/>
          <a:ln/>
        </p:spPr>
        <p:txBody>
          <a:bodyPr wrap="square" lIns="0" tIns="0" rIns="0" bIns="0" rtlCol="0" anchor="t"/>
          <a:lstStyle/>
          <a:p>
            <a:pPr indent="0" marL="0">
              <a:buNone/>
            </a:pPr>
            <a:r>
              <a:rPr lang="en-US" sz="1600" b="1" dirty="0">
                <a:solidFill>
                  <a:schemeClr val="tx2"/>
                </a:solidFill>
              </a:rPr>
              <a:t>Solve for sin θ₂:   </a:t>
            </a:r>
            <a:pPr indent="0" marL="0">
              <a:buNone/>
            </a:pPr>
            <a:r>
              <a:rPr lang="en-US" sz="1600" dirty="0">
                <a:solidFill>
                  <a:schemeClr val="tx1"/>
                </a:solidFill>
              </a:rPr>
              <a:t>sin θ₂ = 0.643 / 1.33 = 0.483</a:t>
            </a:r>
            <a:endParaRPr lang="en-US" sz="1600" dirty="0"/>
          </a:p>
        </p:txBody>
      </p:sp>
      <p:sp>
        <p:nvSpPr>
          <p:cNvPr id="16" name="rv4_step3_dot"/>
          <p:cNvSpPr/>
          <p:nvPr/>
        </p:nvSpPr>
        <p:spPr>
          <a:xfrm>
            <a:off x="548640" y="4745736"/>
            <a:ext cx="384048" cy="384048"/>
          </a:xfrm>
          <a:prstGeom prst="ellipse">
            <a:avLst/>
          </a:prstGeom>
          <a:solidFill>
            <a:schemeClr val="accent4"/>
          </a:solidFill>
          <a:ln w="12700">
            <a:solidFill>
              <a:schemeClr val="accent4"/>
            </a:solidFill>
            <a:prstDash val="solid"/>
          </a:ln>
        </p:spPr>
      </p:sp>
      <p:sp>
        <p:nvSpPr>
          <p:cNvPr id="17" name="rv4_step3_num"/>
          <p:cNvSpPr txBox="1"/>
          <p:nvPr/>
        </p:nvSpPr>
        <p:spPr>
          <a:xfrm>
            <a:off x="548640" y="474573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8" name="rv4_step3_tx"/>
          <p:cNvSpPr txBox="1"/>
          <p:nvPr/>
        </p:nvSpPr>
        <p:spPr>
          <a:xfrm>
            <a:off x="1097280" y="4709160"/>
            <a:ext cx="6949440" cy="658368"/>
          </a:xfrm>
          <a:prstGeom prst="rect">
            <a:avLst/>
          </a:prstGeom>
          <a:noFill/>
          <a:ln/>
        </p:spPr>
        <p:txBody>
          <a:bodyPr wrap="square" lIns="0" tIns="0" rIns="0" bIns="0" rtlCol="0" anchor="t"/>
          <a:lstStyle/>
          <a:p>
            <a:pPr indent="0" marL="0">
              <a:buNone/>
            </a:pPr>
            <a:r>
              <a:rPr lang="en-US" sz="1600" b="1" dirty="0">
                <a:solidFill>
                  <a:schemeClr val="tx2"/>
                </a:solidFill>
              </a:rPr>
              <a:t>Inverse sine:   </a:t>
            </a:r>
            <a:pPr indent="0" marL="0">
              <a:buNone/>
            </a:pPr>
            <a:r>
              <a:rPr lang="en-US" sz="1600" dirty="0">
                <a:solidFill>
                  <a:schemeClr val="tx1"/>
                </a:solidFill>
              </a:rPr>
              <a:t>θ₂ = sin⁻¹(0.483) ≈ </a:t>
            </a:r>
            <a:pPr indent="0" marL="0">
              <a:buNone/>
            </a:pPr>
            <a:r>
              <a:rPr lang="en-US" sz="1600" b="1" dirty="0">
                <a:solidFill>
                  <a:schemeClr val="accent1"/>
                </a:solidFill>
              </a:rPr>
              <a:t>28.9°</a:t>
            </a:r>
            <a:endParaRPr lang="en-US" sz="1600" dirty="0"/>
          </a:p>
        </p:txBody>
      </p:sp>
      <p:sp>
        <p:nvSpPr>
          <p:cNvPr id="19" name="rv5_step4_dot"/>
          <p:cNvSpPr/>
          <p:nvPr/>
        </p:nvSpPr>
        <p:spPr>
          <a:xfrm>
            <a:off x="548640" y="5477256"/>
            <a:ext cx="384048" cy="384048"/>
          </a:xfrm>
          <a:prstGeom prst="ellipse">
            <a:avLst/>
          </a:prstGeom>
          <a:solidFill>
            <a:schemeClr val="accent4"/>
          </a:solidFill>
          <a:ln w="12700">
            <a:solidFill>
              <a:schemeClr val="accent4"/>
            </a:solidFill>
            <a:prstDash val="solid"/>
          </a:ln>
        </p:spPr>
      </p:sp>
      <p:sp>
        <p:nvSpPr>
          <p:cNvPr id="20" name="rv5_step4_num"/>
          <p:cNvSpPr txBox="1"/>
          <p:nvPr/>
        </p:nvSpPr>
        <p:spPr>
          <a:xfrm>
            <a:off x="548640" y="54772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rv5_step4_tx"/>
          <p:cNvSpPr txBox="1"/>
          <p:nvPr/>
        </p:nvSpPr>
        <p:spPr>
          <a:xfrm>
            <a:off x="1097280" y="5440680"/>
            <a:ext cx="6949440" cy="658368"/>
          </a:xfrm>
          <a:prstGeom prst="rect">
            <a:avLst/>
          </a:prstGeom>
          <a:noFill/>
          <a:ln/>
        </p:spPr>
        <p:txBody>
          <a:bodyPr wrap="square" lIns="0" tIns="0" rIns="0" bIns="0" rtlCol="0" anchor="t"/>
          <a:lstStyle/>
          <a:p>
            <a:pPr indent="0" marL="0">
              <a:buNone/>
            </a:pPr>
            <a:r>
              <a:rPr lang="en-US" sz="1600" b="1" dirty="0">
                <a:solidFill>
                  <a:schemeClr val="tx2"/>
                </a:solidFill>
              </a:rPr>
              <a:t>Check:   </a:t>
            </a:r>
            <a:pPr indent="0" marL="0">
              <a:buNone/>
            </a:pPr>
            <a:r>
              <a:rPr lang="en-US" sz="1600" dirty="0">
                <a:solidFill>
                  <a:schemeClr val="tx1"/>
                </a:solidFill>
              </a:rPr>
              <a:t>28.9° &lt; 40°, so the ray bent towards the normal — correct for going into a slower medium ✓</a:t>
            </a:r>
            <a:endParaRPr lang="en-US" sz="1600" dirty="0"/>
          </a:p>
        </p:txBody>
      </p:sp>
      <p:sp>
        <p:nvSpPr>
          <p:cNvPr id="22" name="Shape 20"/>
          <p:cNvSpPr/>
          <p:nvPr/>
        </p:nvSpPr>
        <p:spPr>
          <a:xfrm>
            <a:off x="8412480" y="2514600"/>
            <a:ext cx="3227832" cy="2194560"/>
          </a:xfrm>
          <a:prstGeom prst="roundRect">
            <a:avLst>
              <a:gd name="adj" fmla="val 3333"/>
            </a:avLst>
          </a:prstGeom>
          <a:solidFill>
            <a:schemeClr val="accent2">
              <a:alpha val="12000"/>
            </a:schemeClr>
          </a:solidFill>
          <a:ln w="9525">
            <a:solidFill>
              <a:schemeClr val="accent2">
                <a:alpha val="12000"/>
              </a:schemeClr>
            </a:solidFill>
            <a:prstDash val="solid"/>
          </a:ln>
        </p:spPr>
      </p:sp>
      <p:sp>
        <p:nvSpPr>
          <p:cNvPr id="23" name="Text 21"/>
          <p:cNvSpPr txBox="1"/>
          <p:nvPr/>
        </p:nvSpPr>
        <p:spPr>
          <a:xfrm>
            <a:off x="8595360" y="2624328"/>
            <a:ext cx="2862072" cy="197510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Calculator tip</a:t>
            </a:r>
            <a:endParaRPr lang="en-US" sz="1500" dirty="0"/>
          </a:p>
          <a:p>
            <a:pPr indent="0" marL="0">
              <a:spcAft>
                <a:spcPts val="400"/>
              </a:spcAft>
              <a:buNone/>
            </a:pPr>
            <a:r>
              <a:rPr lang="en-US" sz="1500" dirty="0">
                <a:solidFill>
                  <a:schemeClr val="tx1"/>
                </a:solidFill>
              </a:rPr>
              <a:t>Set the calculator to DEGREES.</a:t>
            </a:r>
            <a:endParaRPr lang="en-US" sz="1500" dirty="0"/>
          </a:p>
          <a:p>
            <a:pPr indent="0" marL="0">
              <a:spcAft>
                <a:spcPts val="400"/>
              </a:spcAft>
              <a:buNone/>
            </a:pPr>
            <a:r>
              <a:rPr lang="en-US" sz="1500" dirty="0">
                <a:solidFill>
                  <a:schemeClr val="tx1"/>
                </a:solidFill>
              </a:rPr>
              <a:t>Use sin⁻¹ (often SHIFT + sin) for the last step.</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pools look shallow and straws look bent</a:t>
            </a:r>
            <a:endParaRPr lang="en-US" sz="3000" dirty="0"/>
          </a:p>
        </p:txBody>
      </p:sp>
      <p:pic>
        <p:nvPicPr>
          <p:cNvPr id="5" name="img_apparent_depth.png" descr="Fish appears higher than its true position because light bends at the water surface">    </p:cNvPr>
          <p:cNvPicPr>
            <a:picLocks noChangeAspect="1"/>
          </p:cNvPicPr>
          <p:nvPr/>
        </p:nvPicPr>
        <p:blipFill>
          <a:blip r:embed="rId1"/>
          <a:stretch>
            <a:fillRect/>
          </a:stretch>
        </p:blipFill>
        <p:spPr>
          <a:xfrm>
            <a:off x="548640" y="1417320"/>
            <a:ext cx="6035040" cy="4023360"/>
          </a:xfrm>
          <a:prstGeom prst="rect">
            <a:avLst/>
          </a:prstGeom>
        </p:spPr>
      </p:pic>
      <p:sp>
        <p:nvSpPr>
          <p:cNvPr id="6" name="Text 3"/>
          <p:cNvSpPr txBox="1"/>
          <p:nvPr/>
        </p:nvSpPr>
        <p:spPr>
          <a:xfrm>
            <a:off x="6812280" y="1463040"/>
            <a:ext cx="4828032" cy="246888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Light from the fish bends away from the normal </a:t>
            </a:r>
            <a:pPr indent="0" marL="0">
              <a:spcAft>
                <a:spcPts val="800"/>
              </a:spcAft>
              <a:buNone/>
            </a:pPr>
            <a:r>
              <a:rPr lang="en-US" sz="1550" dirty="0">
                <a:solidFill>
                  <a:schemeClr val="tx1"/>
                </a:solidFill>
              </a:rPr>
              <a:t>as it leaves the water.</a:t>
            </a:r>
            <a:endParaRPr lang="en-US" sz="1550" dirty="0"/>
          </a:p>
          <a:p>
            <a:pPr marL="228600" indent="-228600">
              <a:spcAft>
                <a:spcPts val="800"/>
              </a:spcAft>
              <a:buSzPct val="100000"/>
              <a:buChar char="•"/>
            </a:pPr>
            <a:r>
              <a:rPr lang="en-US" sz="1550" b="1" dirty="0">
                <a:solidFill>
                  <a:schemeClr val="tx2"/>
                </a:solidFill>
              </a:rPr>
              <a:t>Your brain traces the ray back in a straight line, </a:t>
            </a:r>
            <a:pPr indent="0" marL="0">
              <a:spcAft>
                <a:spcPts val="800"/>
              </a:spcAft>
              <a:buNone/>
            </a:pPr>
            <a:r>
              <a:rPr lang="en-US" sz="1550" dirty="0">
                <a:solidFill>
                  <a:schemeClr val="tx1"/>
                </a:solidFill>
              </a:rPr>
              <a:t>so the fish seems higher than it really is.</a:t>
            </a:r>
            <a:endParaRPr lang="en-US" sz="1550" dirty="0"/>
          </a:p>
          <a:p>
            <a:pPr marL="228600" indent="-228600">
              <a:spcAft>
                <a:spcPts val="800"/>
              </a:spcAft>
              <a:buSzPct val="100000"/>
              <a:buChar char="•"/>
            </a:pPr>
            <a:r>
              <a:rPr lang="en-US" sz="1550" b="1" dirty="0">
                <a:solidFill>
                  <a:schemeClr val="tx2"/>
                </a:solidFill>
              </a:rPr>
              <a:t>Looking straight down, </a:t>
            </a:r>
            <a:pPr indent="0" marL="0">
              <a:spcAft>
                <a:spcPts val="800"/>
              </a:spcAft>
              <a:buNone/>
            </a:pPr>
            <a:r>
              <a:rPr lang="en-US" sz="1550" dirty="0">
                <a:solidFill>
                  <a:schemeClr val="tx1"/>
                </a:solidFill>
              </a:rPr>
              <a:t>objects seem about ¾ of their real depth (1/n).</a:t>
            </a:r>
            <a:endParaRPr lang="en-US" sz="1550" dirty="0"/>
          </a:p>
        </p:txBody>
      </p:sp>
      <p:sp>
        <p:nvSpPr>
          <p:cNvPr id="7" name="Shape 4"/>
          <p:cNvSpPr/>
          <p:nvPr/>
        </p:nvSpPr>
        <p:spPr>
          <a:xfrm>
            <a:off x="6812280" y="4023360"/>
            <a:ext cx="4828032" cy="914400"/>
          </a:xfrm>
          <a:prstGeom prst="roundRect">
            <a:avLst>
              <a:gd name="adj" fmla="val 8000"/>
            </a:avLst>
          </a:prstGeom>
          <a:solidFill>
            <a:schemeClr val="accent2">
              <a:alpha val="12000"/>
            </a:schemeClr>
          </a:solidFill>
          <a:ln w="9525">
            <a:solidFill>
              <a:schemeClr val="accent2">
                <a:alpha val="12000"/>
              </a:schemeClr>
            </a:solidFill>
            <a:prstDash val="solid"/>
          </a:ln>
        </p:spPr>
      </p:sp>
      <p:sp>
        <p:nvSpPr>
          <p:cNvPr id="8" name="Text 5"/>
          <p:cNvSpPr txBox="1"/>
          <p:nvPr/>
        </p:nvSpPr>
        <p:spPr>
          <a:xfrm>
            <a:off x="6995160" y="4133088"/>
            <a:ext cx="4462272" cy="69494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Think</a:t>
            </a:r>
            <a:endParaRPr lang="en-US" sz="1500" dirty="0"/>
          </a:p>
          <a:p>
            <a:pPr indent="0" marL="0">
              <a:spcAft>
                <a:spcPts val="400"/>
              </a:spcAft>
              <a:buNone/>
            </a:pPr>
            <a:r>
              <a:rPr lang="en-US" sz="1500" dirty="0">
                <a:solidFill>
                  <a:schemeClr val="tx1"/>
                </a:solidFill>
              </a:rPr>
              <a:t>A fisherman spears a fish he can see. Should he aim exactly at the fish, above it, or below it?</a:t>
            </a:r>
            <a:endParaRPr lang="en-US" sz="1500" dirty="0"/>
          </a:p>
        </p:txBody>
      </p:sp>
      <p:sp>
        <p:nvSpPr>
          <p:cNvPr id="9" name="Text 6"/>
          <p:cNvSpPr txBox="1"/>
          <p:nvPr/>
        </p:nvSpPr>
        <p:spPr>
          <a:xfrm>
            <a:off x="6812280" y="5440680"/>
            <a:ext cx="482803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0" name="rv1_ans_bg"/>
          <p:cNvSpPr/>
          <p:nvPr/>
        </p:nvSpPr>
        <p:spPr>
          <a:xfrm>
            <a:off x="6812280" y="5074920"/>
            <a:ext cx="4828032" cy="1097280"/>
          </a:xfrm>
          <a:prstGeom prst="roundRect">
            <a:avLst>
              <a:gd name="adj" fmla="val 6667"/>
            </a:avLst>
          </a:prstGeom>
          <a:solidFill>
            <a:srgbClr val="EAF5EE"/>
          </a:solidFill>
          <a:ln w="15875">
            <a:solidFill>
              <a:schemeClr val="accent3"/>
            </a:solidFill>
            <a:prstDash val="solid"/>
          </a:ln>
        </p:spPr>
      </p:sp>
      <p:sp>
        <p:nvSpPr>
          <p:cNvPr id="11" name="rv1_ans_tx"/>
          <p:cNvSpPr txBox="1"/>
          <p:nvPr/>
        </p:nvSpPr>
        <p:spPr>
          <a:xfrm>
            <a:off x="6995160" y="5184648"/>
            <a:ext cx="4462272" cy="87782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Below the image he sees</a:t>
            </a:r>
            <a:endParaRPr lang="en-US" sz="1400" dirty="0"/>
          </a:p>
          <a:p>
            <a:pPr indent="0" marL="0">
              <a:spcAft>
                <a:spcPts val="400"/>
              </a:spcAft>
              <a:buNone/>
            </a:pPr>
            <a:r>
              <a:rPr lang="en-US" sz="1400" dirty="0">
                <a:solidFill>
                  <a:schemeClr val="tx1"/>
                </a:solidFill>
              </a:rPr>
              <a:t>The real fish is deeper than it looks. (An archer fish does the opposite calculation when it spits water at insects above the surface!)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Total internal reflection: when light cannot get out</a:t>
            </a:r>
            <a:endParaRPr lang="en-US" sz="3000" dirty="0"/>
          </a:p>
        </p:txBody>
      </p:sp>
      <p:pic>
        <p:nvPicPr>
          <p:cNvPr id="5" name="img_tir.png" descr="Rays from underwater at increasing angles: refracted, at the critical angle, and totally internally reflected">    </p:cNvPr>
          <p:cNvPicPr>
            <a:picLocks noChangeAspect="1"/>
          </p:cNvPicPr>
          <p:nvPr/>
        </p:nvPicPr>
        <p:blipFill>
          <a:blip r:embed="rId1"/>
          <a:stretch>
            <a:fillRect/>
          </a:stretch>
        </p:blipFill>
        <p:spPr>
          <a:xfrm>
            <a:off x="548640" y="1417320"/>
            <a:ext cx="6400800" cy="4023360"/>
          </a:xfrm>
          <a:prstGeom prst="rect">
            <a:avLst/>
          </a:prstGeom>
        </p:spPr>
      </p:pic>
      <p:sp>
        <p:nvSpPr>
          <p:cNvPr id="6" name="Text 3"/>
          <p:cNvSpPr txBox="1"/>
          <p:nvPr/>
        </p:nvSpPr>
        <p:spPr>
          <a:xfrm>
            <a:off x="7178040" y="1463040"/>
            <a:ext cx="4462272" cy="256032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Going from high n to low n, </a:t>
            </a:r>
            <a:pPr indent="0" marL="0">
              <a:spcAft>
                <a:spcPts val="800"/>
              </a:spcAft>
              <a:buNone/>
            </a:pPr>
            <a:r>
              <a:rPr lang="en-US" sz="1550" dirty="0">
                <a:solidFill>
                  <a:schemeClr val="tx1"/>
                </a:solidFill>
              </a:rPr>
              <a:t>light bends away from the normal.</a:t>
            </a:r>
            <a:endParaRPr lang="en-US" sz="1550" dirty="0"/>
          </a:p>
          <a:p>
            <a:pPr marL="228600" indent="-228600">
              <a:spcAft>
                <a:spcPts val="800"/>
              </a:spcAft>
              <a:buSzPct val="100000"/>
              <a:buChar char="•"/>
            </a:pPr>
            <a:r>
              <a:rPr lang="en-US" sz="1550" b="1" dirty="0">
                <a:solidFill>
                  <a:schemeClr val="tx2"/>
                </a:solidFill>
              </a:rPr>
              <a:t>At the critical angle θc, </a:t>
            </a:r>
            <a:pPr indent="0" marL="0">
              <a:spcAft>
                <a:spcPts val="800"/>
              </a:spcAft>
              <a:buNone/>
            </a:pPr>
            <a:r>
              <a:rPr lang="en-US" sz="1550" dirty="0">
                <a:solidFill>
                  <a:schemeClr val="tx1"/>
                </a:solidFill>
              </a:rPr>
              <a:t>the refracted ray skims along the surface (90°).</a:t>
            </a:r>
            <a:endParaRPr lang="en-US" sz="1550" dirty="0"/>
          </a:p>
          <a:p>
            <a:pPr marL="228600" indent="-228600">
              <a:spcAft>
                <a:spcPts val="800"/>
              </a:spcAft>
              <a:buSzPct val="100000"/>
              <a:buChar char="•"/>
            </a:pPr>
            <a:r>
              <a:rPr lang="en-US" sz="1550" b="1" dirty="0">
                <a:solidFill>
                  <a:schemeClr val="tx2"/>
                </a:solidFill>
              </a:rPr>
              <a:t>Beyond θc, </a:t>
            </a:r>
            <a:pPr indent="0" marL="0">
              <a:spcAft>
                <a:spcPts val="800"/>
              </a:spcAft>
              <a:buNone/>
            </a:pPr>
            <a:r>
              <a:rPr lang="en-US" sz="1550" dirty="0">
                <a:solidFill>
                  <a:schemeClr val="tx1"/>
                </a:solidFill>
              </a:rPr>
              <a:t>no light escapes: it is 100% reflected — better than any mirror.</a:t>
            </a:r>
            <a:endParaRPr lang="en-US" sz="1550" dirty="0"/>
          </a:p>
        </p:txBody>
      </p:sp>
      <p:sp>
        <p:nvSpPr>
          <p:cNvPr id="7" name="Shape 4"/>
          <p:cNvSpPr/>
          <p:nvPr/>
        </p:nvSpPr>
        <p:spPr>
          <a:xfrm>
            <a:off x="7178040" y="4069080"/>
            <a:ext cx="4462272" cy="777240"/>
          </a:xfrm>
          <a:prstGeom prst="roundRect">
            <a:avLst>
              <a:gd name="adj" fmla="val 9412"/>
            </a:avLst>
          </a:prstGeom>
          <a:solidFill>
            <a:schemeClr val="accent1">
              <a:alpha val="12000"/>
            </a:schemeClr>
          </a:solidFill>
          <a:ln w="9525">
            <a:solidFill>
              <a:schemeClr val="accent1">
                <a:alpha val="12000"/>
              </a:schemeClr>
            </a:solidFill>
            <a:prstDash val="solid"/>
          </a:ln>
        </p:spPr>
      </p:sp>
      <p:sp>
        <p:nvSpPr>
          <p:cNvPr id="8" name="Text 5"/>
          <p:cNvSpPr txBox="1"/>
          <p:nvPr/>
        </p:nvSpPr>
        <p:spPr>
          <a:xfrm>
            <a:off x="7178040" y="4069080"/>
            <a:ext cx="4462272"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sin θc = n₂ / n₁</a:t>
            </a:r>
            <a:endParaRPr lang="en-US" sz="2600" dirty="0"/>
          </a:p>
        </p:txBody>
      </p:sp>
      <p:sp>
        <p:nvSpPr>
          <p:cNvPr id="9" name="Text 6"/>
          <p:cNvSpPr txBox="1"/>
          <p:nvPr/>
        </p:nvSpPr>
        <p:spPr>
          <a:xfrm>
            <a:off x="7178040" y="4937760"/>
            <a:ext cx="4462272" cy="640080"/>
          </a:xfrm>
          <a:prstGeom prst="rect">
            <a:avLst/>
          </a:prstGeom>
          <a:noFill/>
          <a:ln/>
        </p:spPr>
        <p:txBody>
          <a:bodyPr wrap="square" lIns="0" tIns="0" rIns="0" bIns="0" rtlCol="0" anchor="t"/>
          <a:lstStyle/>
          <a:p>
            <a:pPr indent="0" marL="0">
              <a:spcAft>
                <a:spcPts val="600"/>
              </a:spcAft>
              <a:buNone/>
            </a:pPr>
            <a:r>
              <a:rPr lang="en-US" sz="1450" b="1" dirty="0">
                <a:solidFill>
                  <a:schemeClr val="tx1"/>
                </a:solidFill>
              </a:rPr>
              <a:t>Water → air: sin θc = 1/1.333 → θc ≈ 49°.  Glass → air: ≈ 42°.</a:t>
            </a:r>
            <a:endParaRPr lang="en-US" sz="1450" dirty="0"/>
          </a:p>
        </p:txBody>
      </p:sp>
      <p:sp>
        <p:nvSpPr>
          <p:cNvPr id="10" name="Shape 7"/>
          <p:cNvSpPr/>
          <p:nvPr/>
        </p:nvSpPr>
        <p:spPr>
          <a:xfrm>
            <a:off x="548640" y="5532120"/>
            <a:ext cx="6400800" cy="685800"/>
          </a:xfrm>
          <a:prstGeom prst="roundRect">
            <a:avLst>
              <a:gd name="adj" fmla="val 10667"/>
            </a:avLst>
          </a:prstGeom>
          <a:solidFill>
            <a:schemeClr val="accent2">
              <a:alpha val="12000"/>
            </a:schemeClr>
          </a:solidFill>
          <a:ln w="9525">
            <a:solidFill>
              <a:schemeClr val="accent2">
                <a:alpha val="12000"/>
              </a:schemeClr>
            </a:solidFill>
            <a:prstDash val="solid"/>
          </a:ln>
        </p:spPr>
      </p:sp>
      <p:sp>
        <p:nvSpPr>
          <p:cNvPr id="11" name="Text 8"/>
          <p:cNvSpPr txBox="1"/>
          <p:nvPr/>
        </p:nvSpPr>
        <p:spPr>
          <a:xfrm>
            <a:off x="731520" y="5641848"/>
            <a:ext cx="6035040" cy="46634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Only works one way</a:t>
            </a:r>
            <a:endParaRPr lang="en-US" sz="1450" dirty="0"/>
          </a:p>
          <a:p>
            <a:pPr indent="0" marL="0">
              <a:spcAft>
                <a:spcPts val="400"/>
              </a:spcAft>
              <a:buNone/>
            </a:pPr>
            <a:r>
              <a:rPr lang="en-US" sz="1450" dirty="0">
                <a:solidFill>
                  <a:schemeClr val="tx1"/>
                </a:solidFill>
              </a:rPr>
              <a:t>TIR needs light travelling from the higher-n material towards the lower-n one.</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ag"/>
          <p:cNvSpPr/>
          <p:nvPr/>
        </p:nvSpPr>
        <p:spPr>
          <a:xfrm>
            <a:off x="548640" y="292608"/>
            <a:ext cx="1833372" cy="292608"/>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548640" y="292608"/>
            <a:ext cx="183337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FOOD BIOTECH LINK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a refractometer really measures sugar</a:t>
            </a:r>
            <a:endParaRPr lang="en-US" sz="3000" dirty="0"/>
          </a:p>
        </p:txBody>
      </p:sp>
      <p:pic>
        <p:nvPicPr>
          <p:cNvPr id="5" name="img_refractometer.png" descr="Refractometer: light passes through a prism and juice sample; the light/dark boundary gives °Brix">    </p:cNvPr>
          <p:cNvPicPr>
            <a:picLocks noChangeAspect="1"/>
          </p:cNvPicPr>
          <p:nvPr/>
        </p:nvPicPr>
        <p:blipFill>
          <a:blip r:embed="rId1"/>
          <a:stretch>
            <a:fillRect/>
          </a:stretch>
        </p:blipFill>
        <p:spPr>
          <a:xfrm>
            <a:off x="772427" y="1417320"/>
            <a:ext cx="5313145" cy="3154680"/>
          </a:xfrm>
          <a:prstGeom prst="rect">
            <a:avLst/>
          </a:prstGeom>
        </p:spPr>
      </p:pic>
      <p:sp>
        <p:nvSpPr>
          <p:cNvPr id="6" name="Text 3"/>
          <p:cNvSpPr txBox="1"/>
          <p:nvPr/>
        </p:nvSpPr>
        <p:spPr>
          <a:xfrm>
            <a:off x="6583680" y="1463040"/>
            <a:ext cx="5056632" cy="39319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The juice sits on a high-n glass prism. </a:t>
            </a:r>
            <a:pPr indent="0" marL="0">
              <a:spcAft>
                <a:spcPts val="800"/>
              </a:spcAft>
              <a:buNone/>
            </a:pPr>
            <a:r>
              <a:rPr lang="en-US" sz="1500" dirty="0">
                <a:solidFill>
                  <a:schemeClr val="tx1"/>
                </a:solidFill>
              </a:rPr>
              <a:t>Light enters the prism from the juice at every angle up to a limit — the critical angle for the prism–juice boundary.</a:t>
            </a:r>
            <a:endParaRPr lang="en-US" sz="1500" dirty="0"/>
          </a:p>
          <a:p>
            <a:pPr marL="228600" indent="-228600">
              <a:spcAft>
                <a:spcPts val="800"/>
              </a:spcAft>
              <a:buSzPct val="100000"/>
              <a:buChar char="•"/>
            </a:pPr>
            <a:r>
              <a:rPr lang="en-US" sz="1500" b="1" dirty="0">
                <a:solidFill>
                  <a:schemeClr val="tx2"/>
                </a:solidFill>
              </a:rPr>
              <a:t>So the field of view is bright on one side and dark on the other. </a:t>
            </a:r>
            <a:pPr indent="0" marL="0">
              <a:spcAft>
                <a:spcPts val="800"/>
              </a:spcAft>
              <a:buNone/>
            </a:pPr>
            <a:r>
              <a:rPr lang="en-US" sz="1500" dirty="0">
                <a:solidFill>
                  <a:schemeClr val="tx1"/>
                </a:solidFill>
              </a:rPr>
              <a:t>Where the edge falls depends on sin θc = n</a:t>
            </a:r>
            <a:pPr indent="0" marL="0">
              <a:spcAft>
                <a:spcPts val="800"/>
              </a:spcAft>
              <a:buNone/>
            </a:pPr>
            <a:r>
              <a:rPr lang="en-US" sz="1500" baseline="-25000" dirty="0">
                <a:solidFill>
                  <a:schemeClr val="tx1"/>
                </a:solidFill>
              </a:rPr>
              <a:t>juice</a:t>
            </a:r>
            <a:pPr indent="0" marL="0">
              <a:spcAft>
                <a:spcPts val="800"/>
              </a:spcAft>
              <a:buNone/>
            </a:pPr>
            <a:r>
              <a:rPr lang="en-US" sz="1500" dirty="0">
                <a:solidFill>
                  <a:schemeClr val="tx1"/>
                </a:solidFill>
              </a:rPr>
              <a:t> / n</a:t>
            </a:r>
            <a:pPr indent="0" marL="0">
              <a:spcAft>
                <a:spcPts val="800"/>
              </a:spcAft>
              <a:buNone/>
            </a:pPr>
            <a:r>
              <a:rPr lang="en-US" sz="1500" baseline="-25000" dirty="0">
                <a:solidFill>
                  <a:schemeClr val="tx1"/>
                </a:solidFill>
              </a:rPr>
              <a:t>prism</a:t>
            </a:r>
            <a:pPr indent="0" marL="0">
              <a:spcAft>
                <a:spcPts val="800"/>
              </a:spcAft>
              <a:buNone/>
            </a:pPr>
            <a:r>
              <a:rPr lang="en-US" sz="1500" dirty="0">
                <a:solidFill>
                  <a:schemeClr val="tx1"/>
                </a:solidFill>
              </a:rPr>
              <a:t>.</a:t>
            </a:r>
            <a:endParaRPr lang="en-US" sz="1500" dirty="0"/>
          </a:p>
          <a:p>
            <a:pPr marL="228600" indent="-228600">
              <a:spcAft>
                <a:spcPts val="800"/>
              </a:spcAft>
              <a:buSzPct val="100000"/>
              <a:buChar char="•"/>
            </a:pPr>
            <a:r>
              <a:rPr lang="en-US" sz="1500" b="1" dirty="0">
                <a:solidFill>
                  <a:schemeClr val="tx2"/>
                </a:solidFill>
              </a:rPr>
              <a:t>More sugar → higher n</a:t>
            </a:r>
            <a:pPr indent="0" marL="0">
              <a:spcAft>
                <a:spcPts val="800"/>
              </a:spcAft>
              <a:buNone/>
            </a:pPr>
            <a:r>
              <a:rPr lang="en-US" sz="1500" b="1" baseline="-25000" dirty="0">
                <a:solidFill>
                  <a:schemeClr val="tx2"/>
                </a:solidFill>
              </a:rPr>
              <a:t>juice</a:t>
            </a:r>
            <a:pPr indent="0" marL="0">
              <a:spcAft>
                <a:spcPts val="800"/>
              </a:spcAft>
              <a:buNone/>
            </a:pPr>
            <a:r>
              <a:rPr lang="en-US" sz="1500" b="1" dirty="0">
                <a:solidFill>
                  <a:schemeClr val="tx2"/>
                </a:solidFill>
              </a:rPr>
              <a:t> → larger θc → the edge moves. </a:t>
            </a:r>
            <a:pPr indent="0" marL="0">
              <a:spcAft>
                <a:spcPts val="800"/>
              </a:spcAft>
              <a:buNone/>
            </a:pPr>
            <a:r>
              <a:rPr lang="en-US" sz="1500" dirty="0">
                <a:solidFill>
                  <a:schemeClr val="tx1"/>
                </a:solidFill>
              </a:rPr>
              <a:t>The scale is marked directly in °Brix.</a:t>
            </a:r>
            <a:endParaRPr lang="en-US" sz="1500" dirty="0"/>
          </a:p>
        </p:txBody>
      </p:sp>
      <p:sp>
        <p:nvSpPr>
          <p:cNvPr id="7" name="Shape 4"/>
          <p:cNvSpPr/>
          <p:nvPr/>
        </p:nvSpPr>
        <p:spPr>
          <a:xfrm>
            <a:off x="548640" y="4709160"/>
            <a:ext cx="5760720" cy="1463040"/>
          </a:xfrm>
          <a:prstGeom prst="roundRect">
            <a:avLst>
              <a:gd name="adj" fmla="val 5000"/>
            </a:avLst>
          </a:prstGeom>
          <a:solidFill>
            <a:schemeClr val="accent5">
              <a:alpha val="12000"/>
            </a:schemeClr>
          </a:solidFill>
          <a:ln w="9525">
            <a:solidFill>
              <a:schemeClr val="accent5">
                <a:alpha val="12000"/>
              </a:schemeClr>
            </a:solidFill>
            <a:prstDash val="solid"/>
          </a:ln>
        </p:spPr>
      </p:sp>
      <p:sp>
        <p:nvSpPr>
          <p:cNvPr id="8" name="Text 5"/>
          <p:cNvSpPr txBox="1"/>
          <p:nvPr/>
        </p:nvSpPr>
        <p:spPr>
          <a:xfrm>
            <a:off x="731520" y="4818888"/>
            <a:ext cx="5394960" cy="1243584"/>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Measurement ethics (CLO3)</a:t>
            </a:r>
            <a:endParaRPr lang="en-US" sz="1400" dirty="0"/>
          </a:p>
          <a:p>
            <a:pPr indent="0" marL="0">
              <a:spcAft>
                <a:spcPts val="400"/>
              </a:spcAft>
              <a:buNone/>
            </a:pPr>
            <a:r>
              <a:rPr lang="en-US" sz="1400" dirty="0">
                <a:solidFill>
                  <a:schemeClr val="tx1"/>
                </a:solidFill>
              </a:rPr>
              <a:t>n changes with temperature: correct readings to 20 °C and zero the instrument with distilled water. An uncalibrated refractometer gives a precise-looking but wrong Brix value.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ag"/>
          <p:cNvSpPr/>
          <p:nvPr/>
        </p:nvSpPr>
        <p:spPr>
          <a:xfrm>
            <a:off x="548640" y="292608"/>
            <a:ext cx="106527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06527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YOUR TURN</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Your turn: how much does sugar move the edge?</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4 minutes, in pairs</a:t>
            </a:r>
            <a:endParaRPr lang="en-US" sz="1100" dirty="0"/>
          </a:p>
        </p:txBody>
      </p:sp>
      <p:sp>
        <p:nvSpPr>
          <p:cNvPr id="7" name="Shape 5"/>
          <p:cNvSpPr/>
          <p:nvPr/>
        </p:nvSpPr>
        <p:spPr>
          <a:xfrm>
            <a:off x="548640" y="1463040"/>
            <a:ext cx="11094415" cy="777240"/>
          </a:xfrm>
          <a:prstGeom prst="roundRect">
            <a:avLst>
              <a:gd name="adj" fmla="val 9412"/>
            </a:avLst>
          </a:prstGeom>
          <a:solidFill>
            <a:schemeClr val="accent2">
              <a:alpha val="12000"/>
            </a:schemeClr>
          </a:solidFill>
          <a:ln w="9525">
            <a:solidFill>
              <a:schemeClr val="accent2">
                <a:alpha val="12000"/>
              </a:schemeClr>
            </a:solidFill>
            <a:prstDash val="solid"/>
          </a:ln>
        </p:spPr>
      </p:sp>
      <p:sp>
        <p:nvSpPr>
          <p:cNvPr id="8" name="Text 6"/>
          <p:cNvSpPr txBox="1"/>
          <p:nvPr/>
        </p:nvSpPr>
        <p:spPr>
          <a:xfrm>
            <a:off x="731520" y="1572768"/>
            <a:ext cx="10728655" cy="55778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Situation</a:t>
            </a:r>
            <a:endParaRPr lang="en-US" sz="1500" dirty="0"/>
          </a:p>
          <a:p>
            <a:pPr indent="0" marL="0">
              <a:spcAft>
                <a:spcPts val="400"/>
              </a:spcAft>
              <a:buNone/>
            </a:pPr>
            <a:r>
              <a:rPr lang="en-US" sz="1500" dirty="0">
                <a:solidFill>
                  <a:schemeClr val="tx1"/>
                </a:solidFill>
              </a:rPr>
              <a:t>A refractometer prism has n = 1.72. Compare distilled water (n = 1.333) with a juice at 20 °Brix (n = 1.364).</a:t>
            </a:r>
            <a:endParaRPr lang="en-US" sz="1500" dirty="0"/>
          </a:p>
        </p:txBody>
      </p:sp>
      <p:sp>
        <p:nvSpPr>
          <p:cNvPr id="9" name="Text 7"/>
          <p:cNvSpPr txBox="1"/>
          <p:nvPr/>
        </p:nvSpPr>
        <p:spPr>
          <a:xfrm>
            <a:off x="548640" y="2468880"/>
            <a:ext cx="5120640" cy="1051560"/>
          </a:xfrm>
          <a:prstGeom prst="rect">
            <a:avLst/>
          </a:prstGeom>
          <a:noFill/>
          <a:ln/>
        </p:spPr>
        <p:txBody>
          <a:bodyPr wrap="square" lIns="0" tIns="0" rIns="0" bIns="0" rtlCol="0" anchor="t"/>
          <a:lstStyle/>
          <a:p>
            <a:pPr indent="0" marL="0">
              <a:buNone/>
            </a:pPr>
            <a:r>
              <a:rPr lang="en-US" sz="1700" b="1" dirty="0">
                <a:solidFill>
                  <a:schemeClr val="accent2"/>
                </a:solidFill>
              </a:rPr>
              <a:t>(a)  </a:t>
            </a:r>
            <a:pPr indent="0" marL="0">
              <a:buNone/>
            </a:pPr>
            <a:r>
              <a:rPr lang="en-US" sz="1700" dirty="0">
                <a:solidFill>
                  <a:schemeClr val="tx1"/>
                </a:solidFill>
              </a:rPr>
              <a:t>Find the critical angle θc for the water–prism boundary.</a:t>
            </a:r>
            <a:endParaRPr lang="en-US" sz="1700" dirty="0"/>
          </a:p>
        </p:txBody>
      </p:sp>
      <p:sp>
        <p:nvSpPr>
          <p:cNvPr id="10" name="Text 8"/>
          <p:cNvSpPr txBox="1"/>
          <p:nvPr/>
        </p:nvSpPr>
        <p:spPr>
          <a:xfrm>
            <a:off x="548640" y="3703320"/>
            <a:ext cx="5120640" cy="1051560"/>
          </a:xfrm>
          <a:prstGeom prst="rect">
            <a:avLst/>
          </a:prstGeom>
          <a:noFill/>
          <a:ln/>
        </p:spPr>
        <p:txBody>
          <a:bodyPr wrap="square" lIns="0" tIns="0" rIns="0" bIns="0" rtlCol="0" anchor="t"/>
          <a:lstStyle/>
          <a:p>
            <a:pPr indent="0" marL="0">
              <a:buNone/>
            </a:pPr>
            <a:r>
              <a:rPr lang="en-US" sz="1700" b="1" dirty="0">
                <a:solidFill>
                  <a:schemeClr val="accent2"/>
                </a:solidFill>
              </a:rPr>
              <a:t>(b)  </a:t>
            </a:r>
            <a:pPr indent="0" marL="0">
              <a:buNone/>
            </a:pPr>
            <a:r>
              <a:rPr lang="en-US" sz="1700" dirty="0">
                <a:solidFill>
                  <a:schemeClr val="tx1"/>
                </a:solidFill>
              </a:rPr>
              <a:t>Find θc for the juice–prism boundary.</a:t>
            </a:r>
            <a:endParaRPr lang="en-US" sz="1700" dirty="0"/>
          </a:p>
        </p:txBody>
      </p:sp>
      <p:sp>
        <p:nvSpPr>
          <p:cNvPr id="11" name="Text 9"/>
          <p:cNvSpPr txBox="1"/>
          <p:nvPr/>
        </p:nvSpPr>
        <p:spPr>
          <a:xfrm>
            <a:off x="548640" y="4937760"/>
            <a:ext cx="5120640" cy="1051560"/>
          </a:xfrm>
          <a:prstGeom prst="rect">
            <a:avLst/>
          </a:prstGeom>
          <a:noFill/>
          <a:ln/>
        </p:spPr>
        <p:txBody>
          <a:bodyPr wrap="square" lIns="0" tIns="0" rIns="0" bIns="0" rtlCol="0" anchor="t"/>
          <a:lstStyle/>
          <a:p>
            <a:pPr indent="0" marL="0">
              <a:buNone/>
            </a:pPr>
            <a:r>
              <a:rPr lang="en-US" sz="1700" b="1" dirty="0">
                <a:solidFill>
                  <a:schemeClr val="accent2"/>
                </a:solidFill>
              </a:rPr>
              <a:t>(c)  </a:t>
            </a:r>
            <a:pPr indent="0" marL="0">
              <a:buNone/>
            </a:pPr>
            <a:r>
              <a:rPr lang="en-US" sz="1700" dirty="0">
                <a:solidFill>
                  <a:schemeClr val="tx1"/>
                </a:solidFill>
              </a:rPr>
              <a:t>Why is such a small change in n enough for a good instrument?</a:t>
            </a:r>
            <a:endParaRPr lang="en-US" sz="1700" dirty="0"/>
          </a:p>
        </p:txBody>
      </p:sp>
      <p:sp>
        <p:nvSpPr>
          <p:cNvPr id="12" name="Text 10"/>
          <p:cNvSpPr txBox="1"/>
          <p:nvPr/>
        </p:nvSpPr>
        <p:spPr>
          <a:xfrm>
            <a:off x="5943600" y="274320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3" name="rv1_a_bg"/>
          <p:cNvSpPr/>
          <p:nvPr/>
        </p:nvSpPr>
        <p:spPr>
          <a:xfrm>
            <a:off x="5943600" y="2423160"/>
            <a:ext cx="5696712" cy="1005840"/>
          </a:xfrm>
          <a:prstGeom prst="roundRect">
            <a:avLst>
              <a:gd name="adj" fmla="val 7273"/>
            </a:avLst>
          </a:prstGeom>
          <a:solidFill>
            <a:srgbClr val="EAF5EE"/>
          </a:solidFill>
          <a:ln w="15875">
            <a:solidFill>
              <a:schemeClr val="accent3"/>
            </a:solidFill>
            <a:prstDash val="solid"/>
          </a:ln>
        </p:spPr>
      </p:sp>
      <p:sp>
        <p:nvSpPr>
          <p:cNvPr id="14" name="rv1_a_tx"/>
          <p:cNvSpPr txBox="1"/>
          <p:nvPr/>
        </p:nvSpPr>
        <p:spPr>
          <a:xfrm>
            <a:off x="6126480" y="2532888"/>
            <a:ext cx="5330952" cy="786384"/>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sin θc = 1.333/1.72 = 0.775 → θc ≈ 50.8°</a:t>
            </a:r>
            <a:endParaRPr lang="en-US" sz="1500" dirty="0"/>
          </a:p>
        </p:txBody>
      </p:sp>
      <p:sp>
        <p:nvSpPr>
          <p:cNvPr id="15" name="Text 13"/>
          <p:cNvSpPr txBox="1"/>
          <p:nvPr/>
        </p:nvSpPr>
        <p:spPr>
          <a:xfrm>
            <a:off x="5943600" y="397764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6" name="rv2_b_bg"/>
          <p:cNvSpPr/>
          <p:nvPr/>
        </p:nvSpPr>
        <p:spPr>
          <a:xfrm>
            <a:off x="5943600" y="3657600"/>
            <a:ext cx="5696712" cy="1005840"/>
          </a:xfrm>
          <a:prstGeom prst="roundRect">
            <a:avLst>
              <a:gd name="adj" fmla="val 7273"/>
            </a:avLst>
          </a:prstGeom>
          <a:solidFill>
            <a:srgbClr val="EAF5EE"/>
          </a:solidFill>
          <a:ln w="15875">
            <a:solidFill>
              <a:schemeClr val="accent3"/>
            </a:solidFill>
            <a:prstDash val="solid"/>
          </a:ln>
        </p:spPr>
      </p:sp>
      <p:sp>
        <p:nvSpPr>
          <p:cNvPr id="17" name="rv2_b_tx"/>
          <p:cNvSpPr txBox="1"/>
          <p:nvPr/>
        </p:nvSpPr>
        <p:spPr>
          <a:xfrm>
            <a:off x="6126480" y="3767328"/>
            <a:ext cx="5330952" cy="786384"/>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sin θc = 1.364/1.72 = 0.793 → θc ≈ 52.5°</a:t>
            </a:r>
            <a:endParaRPr lang="en-US" sz="1500" dirty="0"/>
          </a:p>
        </p:txBody>
      </p:sp>
      <p:sp>
        <p:nvSpPr>
          <p:cNvPr id="18" name="Text 16"/>
          <p:cNvSpPr txBox="1"/>
          <p:nvPr/>
        </p:nvSpPr>
        <p:spPr>
          <a:xfrm>
            <a:off x="5943600" y="532638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9" name="rv3_c_bg"/>
          <p:cNvSpPr/>
          <p:nvPr/>
        </p:nvSpPr>
        <p:spPr>
          <a:xfrm>
            <a:off x="5943600" y="4892040"/>
            <a:ext cx="5696712" cy="1234440"/>
          </a:xfrm>
          <a:prstGeom prst="roundRect">
            <a:avLst>
              <a:gd name="adj" fmla="val 5926"/>
            </a:avLst>
          </a:prstGeom>
          <a:solidFill>
            <a:srgbClr val="EAF5EE"/>
          </a:solidFill>
          <a:ln w="15875">
            <a:solidFill>
              <a:schemeClr val="accent3"/>
            </a:solidFill>
            <a:prstDash val="solid"/>
          </a:ln>
        </p:spPr>
      </p:sp>
      <p:sp>
        <p:nvSpPr>
          <p:cNvPr id="20" name="rv3_c_tx"/>
          <p:cNvSpPr txBox="1"/>
          <p:nvPr/>
        </p:nvSpPr>
        <p:spPr>
          <a:xfrm>
            <a:off x="6126480" y="5001768"/>
            <a:ext cx="5330952" cy="1014984"/>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A 1.7° shift moves the light/dark edge clearly across the scale; optics magnify it, so a fraction of a °Brix can be read.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00"/>
                                        <p:tgtEl>
                                          <p:spTgt spid="1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9" grpId="0" animBg="1"/>
      <p:bldP spid="2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Optical fibres: light trapped by total internal reflection</a:t>
            </a:r>
            <a:endParaRPr lang="en-US" sz="3000" dirty="0"/>
          </a:p>
        </p:txBody>
      </p:sp>
      <p:pic>
        <p:nvPicPr>
          <p:cNvPr id="5" name="img_fibre.png" descr="Light zig-zagging along an optical fibre by repeated total internal reflection">    </p:cNvPr>
          <p:cNvPicPr>
            <a:picLocks noChangeAspect="1"/>
          </p:cNvPicPr>
          <p:nvPr/>
        </p:nvPicPr>
        <p:blipFill>
          <a:blip r:embed="rId1"/>
          <a:stretch>
            <a:fillRect/>
          </a:stretch>
        </p:blipFill>
        <p:spPr>
          <a:xfrm>
            <a:off x="2487485" y="1417320"/>
            <a:ext cx="7216726" cy="2468880"/>
          </a:xfrm>
          <a:prstGeom prst="rect">
            <a:avLst/>
          </a:prstGeom>
        </p:spPr>
      </p:pic>
      <p:sp>
        <p:nvSpPr>
          <p:cNvPr id="6" name="Shape 3"/>
          <p:cNvSpPr/>
          <p:nvPr/>
        </p:nvSpPr>
        <p:spPr>
          <a:xfrm>
            <a:off x="548640" y="4069080"/>
            <a:ext cx="3545738" cy="2103120"/>
          </a:xfrm>
          <a:prstGeom prst="roundRect">
            <a:avLst>
              <a:gd name="adj" fmla="val 3478"/>
            </a:avLst>
          </a:prstGeom>
          <a:solidFill>
            <a:schemeClr val="accent1">
              <a:alpha val="10000"/>
            </a:schemeClr>
          </a:solidFill>
          <a:ln w="9525">
            <a:solidFill>
              <a:schemeClr val="accent1">
                <a:alpha val="10000"/>
              </a:schemeClr>
            </a:solidFill>
            <a:prstDash val="solid"/>
          </a:ln>
        </p:spPr>
      </p:sp>
      <p:sp>
        <p:nvSpPr>
          <p:cNvPr id="7" name="Text 4"/>
          <p:cNvSpPr txBox="1"/>
          <p:nvPr/>
        </p:nvSpPr>
        <p:spPr>
          <a:xfrm>
            <a:off x="777240" y="4206240"/>
            <a:ext cx="3088538" cy="1874520"/>
          </a:xfrm>
          <a:prstGeom prst="rect">
            <a:avLst/>
          </a:prstGeom>
          <a:noFill/>
          <a:ln/>
        </p:spPr>
        <p:txBody>
          <a:bodyPr wrap="square" lIns="0" tIns="0" rIns="0" bIns="0" rtlCol="0" anchor="t"/>
          <a:lstStyle/>
          <a:p>
            <a:pPr indent="0" marL="0">
              <a:buNone/>
            </a:pPr>
            <a:r>
              <a:rPr lang="en-US" sz="1700" b="1" dirty="0">
                <a:solidFill>
                  <a:schemeClr val="accent1"/>
                </a:solidFill>
              </a:rPr>
              <a:t>Medicine</a:t>
            </a:r>
            <a:endParaRPr lang="en-US" sz="1500" dirty="0"/>
          </a:p>
          <a:p>
            <a:pPr indent="0" marL="0">
              <a:buNone/>
            </a:pPr>
            <a:r>
              <a:rPr lang="en-US" sz="1500" dirty="0">
                <a:solidFill>
                  <a:schemeClr val="tx1"/>
                </a:solidFill>
              </a:rPr>
              <a:t>Endoscopes carry light in and an image out through a flexible bundle of fibres — seeing inside the gut without surgery.</a:t>
            </a:r>
            <a:endParaRPr lang="en-US" sz="1500" dirty="0"/>
          </a:p>
        </p:txBody>
      </p:sp>
      <p:sp>
        <p:nvSpPr>
          <p:cNvPr id="8" name="Shape 5"/>
          <p:cNvSpPr/>
          <p:nvPr/>
        </p:nvSpPr>
        <p:spPr>
          <a:xfrm>
            <a:off x="4322978" y="4069080"/>
            <a:ext cx="3545738" cy="2103120"/>
          </a:xfrm>
          <a:prstGeom prst="roundRect">
            <a:avLst>
              <a:gd name="adj" fmla="val 3478"/>
            </a:avLst>
          </a:prstGeom>
          <a:solidFill>
            <a:schemeClr val="accent3">
              <a:alpha val="10000"/>
            </a:schemeClr>
          </a:solidFill>
          <a:ln w="9525">
            <a:solidFill>
              <a:schemeClr val="accent3">
                <a:alpha val="10000"/>
              </a:schemeClr>
            </a:solidFill>
            <a:prstDash val="solid"/>
          </a:ln>
        </p:spPr>
      </p:sp>
      <p:sp>
        <p:nvSpPr>
          <p:cNvPr id="9" name="Text 6"/>
          <p:cNvSpPr txBox="1"/>
          <p:nvPr/>
        </p:nvSpPr>
        <p:spPr>
          <a:xfrm>
            <a:off x="4551578" y="4206240"/>
            <a:ext cx="3088538" cy="1874520"/>
          </a:xfrm>
          <a:prstGeom prst="rect">
            <a:avLst/>
          </a:prstGeom>
          <a:noFill/>
          <a:ln/>
        </p:spPr>
        <p:txBody>
          <a:bodyPr wrap="square" lIns="0" tIns="0" rIns="0" bIns="0" rtlCol="0" anchor="t"/>
          <a:lstStyle/>
          <a:p>
            <a:pPr indent="0" marL="0">
              <a:buNone/>
            </a:pPr>
            <a:r>
              <a:rPr lang="en-US" sz="1700" b="1" dirty="0">
                <a:solidFill>
                  <a:schemeClr val="accent3"/>
                </a:solidFill>
              </a:rPr>
              <a:t>Food processing</a:t>
            </a:r>
            <a:endParaRPr lang="en-US" sz="1500" dirty="0"/>
          </a:p>
          <a:p>
            <a:pPr indent="0" marL="0">
              <a:buNone/>
            </a:pPr>
            <a:r>
              <a:rPr lang="en-US" sz="1500" dirty="0">
                <a:solidFill>
                  <a:schemeClr val="tx1"/>
                </a:solidFill>
              </a:rPr>
              <a:t>Fibre-optic probes put a spectrometer "inside" a pipe or reactor for in-line NIR or fluorescence measurements.</a:t>
            </a:r>
            <a:endParaRPr lang="en-US" sz="1500" dirty="0"/>
          </a:p>
        </p:txBody>
      </p:sp>
      <p:sp>
        <p:nvSpPr>
          <p:cNvPr id="10" name="Shape 7"/>
          <p:cNvSpPr/>
          <p:nvPr/>
        </p:nvSpPr>
        <p:spPr>
          <a:xfrm>
            <a:off x="8097317" y="4069080"/>
            <a:ext cx="3545738" cy="2103120"/>
          </a:xfrm>
          <a:prstGeom prst="roundRect">
            <a:avLst>
              <a:gd name="adj" fmla="val 3478"/>
            </a:avLst>
          </a:prstGeom>
          <a:solidFill>
            <a:schemeClr val="accent4">
              <a:alpha val="10000"/>
            </a:schemeClr>
          </a:solidFill>
          <a:ln w="9525">
            <a:solidFill>
              <a:schemeClr val="accent4">
                <a:alpha val="10000"/>
              </a:schemeClr>
            </a:solidFill>
            <a:prstDash val="solid"/>
          </a:ln>
        </p:spPr>
      </p:sp>
      <p:sp>
        <p:nvSpPr>
          <p:cNvPr id="11" name="Text 8"/>
          <p:cNvSpPr txBox="1"/>
          <p:nvPr/>
        </p:nvSpPr>
        <p:spPr>
          <a:xfrm>
            <a:off x="8325917" y="4206240"/>
            <a:ext cx="3088538" cy="1874520"/>
          </a:xfrm>
          <a:prstGeom prst="rect">
            <a:avLst/>
          </a:prstGeom>
          <a:noFill/>
          <a:ln/>
        </p:spPr>
        <p:txBody>
          <a:bodyPr wrap="square" lIns="0" tIns="0" rIns="0" bIns="0" rtlCol="0" anchor="t"/>
          <a:lstStyle/>
          <a:p>
            <a:pPr indent="0" marL="0">
              <a:buNone/>
            </a:pPr>
            <a:r>
              <a:rPr lang="en-US" sz="1700" b="1" dirty="0">
                <a:solidFill>
                  <a:schemeClr val="accent4"/>
                </a:solidFill>
              </a:rPr>
              <a:t>Everyday</a:t>
            </a:r>
            <a:endParaRPr lang="en-US" sz="1500" dirty="0"/>
          </a:p>
          <a:p>
            <a:pPr indent="0" marL="0">
              <a:buNone/>
            </a:pPr>
            <a:r>
              <a:rPr lang="en-US" sz="1500" dirty="0">
                <a:solidFill>
                  <a:schemeClr val="tx1"/>
                </a:solidFill>
              </a:rPr>
              <a:t>Internet and phone data travel as light pulses through glass fibres; the sparkle of diamonds is also TIR.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Light inside glass hits the surface beyond the critical angle…</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Shape 5"/>
          <p:cNvSpPr/>
          <p:nvPr/>
        </p:nvSpPr>
        <p:spPr>
          <a:xfrm>
            <a:off x="548640"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8" name="Shape 6"/>
          <p:cNvSpPr/>
          <p:nvPr/>
        </p:nvSpPr>
        <p:spPr>
          <a:xfrm>
            <a:off x="713232" y="1844802"/>
            <a:ext cx="493776" cy="493776"/>
          </a:xfrm>
          <a:prstGeom prst="ellipse">
            <a:avLst/>
          </a:prstGeom>
          <a:solidFill>
            <a:schemeClr val="accent2"/>
          </a:solidFill>
          <a:ln w="12700">
            <a:solidFill>
              <a:schemeClr val="accent2"/>
            </a:solidFill>
            <a:prstDash val="solid"/>
          </a:ln>
        </p:spPr>
      </p:sp>
      <p:sp>
        <p:nvSpPr>
          <p:cNvPr id="9" name="Text 7"/>
          <p:cNvSpPr txBox="1"/>
          <p:nvPr/>
        </p:nvSpPr>
        <p:spPr>
          <a:xfrm>
            <a:off x="713232"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Text 8"/>
          <p:cNvSpPr txBox="1"/>
          <p:nvPr/>
        </p:nvSpPr>
        <p:spPr>
          <a:xfrm>
            <a:off x="1371600"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It escapes into the air, bending away from the normal</a:t>
            </a:r>
            <a:endParaRPr lang="en-US" sz="1600" dirty="0"/>
          </a:p>
        </p:txBody>
      </p:sp>
      <p:sp>
        <p:nvSpPr>
          <p:cNvPr id="11" name="Shape 9"/>
          <p:cNvSpPr/>
          <p:nvPr/>
        </p:nvSpPr>
        <p:spPr>
          <a:xfrm>
            <a:off x="6210148"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2" name="Shape 10"/>
          <p:cNvSpPr/>
          <p:nvPr/>
        </p:nvSpPr>
        <p:spPr>
          <a:xfrm>
            <a:off x="6374740" y="1844802"/>
            <a:ext cx="493776" cy="493776"/>
          </a:xfrm>
          <a:prstGeom prst="ellipse">
            <a:avLst/>
          </a:prstGeom>
          <a:solidFill>
            <a:schemeClr val="accent2"/>
          </a:solidFill>
          <a:ln w="12700">
            <a:solidFill>
              <a:schemeClr val="accent2"/>
            </a:solidFill>
            <a:prstDash val="solid"/>
          </a:ln>
        </p:spPr>
      </p:sp>
      <p:sp>
        <p:nvSpPr>
          <p:cNvPr id="13" name="Text 11"/>
          <p:cNvSpPr txBox="1"/>
          <p:nvPr/>
        </p:nvSpPr>
        <p:spPr>
          <a:xfrm>
            <a:off x="6374740"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4" name="Text 12"/>
          <p:cNvSpPr txBox="1"/>
          <p:nvPr/>
        </p:nvSpPr>
        <p:spPr>
          <a:xfrm>
            <a:off x="7033108"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It escapes into the air, bending towards the normal</a:t>
            </a:r>
            <a:endParaRPr lang="en-US" sz="1600" dirty="0"/>
          </a:p>
        </p:txBody>
      </p:sp>
      <p:sp>
        <p:nvSpPr>
          <p:cNvPr id="15" name="Shape 13"/>
          <p:cNvSpPr/>
          <p:nvPr/>
        </p:nvSpPr>
        <p:spPr>
          <a:xfrm>
            <a:off x="548640"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6" name="Shape 14"/>
          <p:cNvSpPr/>
          <p:nvPr/>
        </p:nvSpPr>
        <p:spPr>
          <a:xfrm>
            <a:off x="713232" y="3147822"/>
            <a:ext cx="493776" cy="493776"/>
          </a:xfrm>
          <a:prstGeom prst="ellipse">
            <a:avLst/>
          </a:prstGeom>
          <a:solidFill>
            <a:schemeClr val="accent2"/>
          </a:solidFill>
          <a:ln w="12700">
            <a:solidFill>
              <a:schemeClr val="accent2"/>
            </a:solidFill>
            <a:prstDash val="solid"/>
          </a:ln>
        </p:spPr>
      </p:sp>
      <p:sp>
        <p:nvSpPr>
          <p:cNvPr id="17" name="Text 15"/>
          <p:cNvSpPr txBox="1"/>
          <p:nvPr/>
        </p:nvSpPr>
        <p:spPr>
          <a:xfrm>
            <a:off x="713232"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8" name="Text 16"/>
          <p:cNvSpPr txBox="1"/>
          <p:nvPr/>
        </p:nvSpPr>
        <p:spPr>
          <a:xfrm>
            <a:off x="1371600"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All of it reflects back into the glass</a:t>
            </a:r>
            <a:endParaRPr lang="en-US" sz="1600" dirty="0"/>
          </a:p>
        </p:txBody>
      </p:sp>
      <p:sp>
        <p:nvSpPr>
          <p:cNvPr id="19" name="rv1_ring"/>
          <p:cNvSpPr/>
          <p:nvPr/>
        </p:nvSpPr>
        <p:spPr>
          <a:xfrm>
            <a:off x="502920" y="2811780"/>
            <a:ext cx="5524348" cy="1165860"/>
          </a:xfrm>
          <a:prstGeom prst="roundRect">
            <a:avLst>
              <a:gd name="adj" fmla="val 7843"/>
            </a:avLst>
          </a:prstGeom>
          <a:solidFill>
            <a:schemeClr val="bg1">
              <a:alpha val="0"/>
            </a:schemeClr>
          </a:solidFill>
          <a:ln w="50800">
            <a:solidFill>
              <a:schemeClr val="accent3"/>
            </a:solidFill>
            <a:prstDash val="solid"/>
          </a:ln>
        </p:spPr>
      </p:sp>
      <p:sp>
        <p:nvSpPr>
          <p:cNvPr id="20" name="Shape 18"/>
          <p:cNvSpPr/>
          <p:nvPr/>
        </p:nvSpPr>
        <p:spPr>
          <a:xfrm>
            <a:off x="6210148"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21" name="Shape 19"/>
          <p:cNvSpPr/>
          <p:nvPr/>
        </p:nvSpPr>
        <p:spPr>
          <a:xfrm>
            <a:off x="6374740" y="3147822"/>
            <a:ext cx="493776" cy="493776"/>
          </a:xfrm>
          <a:prstGeom prst="ellipse">
            <a:avLst/>
          </a:prstGeom>
          <a:solidFill>
            <a:schemeClr val="accent2"/>
          </a:solidFill>
          <a:ln w="12700">
            <a:solidFill>
              <a:schemeClr val="accent2"/>
            </a:solidFill>
            <a:prstDash val="solid"/>
          </a:ln>
        </p:spPr>
      </p:sp>
      <p:sp>
        <p:nvSpPr>
          <p:cNvPr id="22" name="Text 20"/>
          <p:cNvSpPr txBox="1"/>
          <p:nvPr/>
        </p:nvSpPr>
        <p:spPr>
          <a:xfrm>
            <a:off x="6374740"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3" name="Text 21"/>
          <p:cNvSpPr txBox="1"/>
          <p:nvPr/>
        </p:nvSpPr>
        <p:spPr>
          <a:xfrm>
            <a:off x="7033108"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It is absorbed by the surface</a:t>
            </a:r>
            <a:endParaRPr lang="en-US" sz="1600" dirty="0"/>
          </a:p>
        </p:txBody>
      </p:sp>
      <p:sp>
        <p:nvSpPr>
          <p:cNvPr id="24" name="Text 22"/>
          <p:cNvSpPr txBox="1"/>
          <p:nvPr/>
        </p:nvSpPr>
        <p:spPr>
          <a:xfrm>
            <a:off x="548640" y="496062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5" name="rv1_ans_bg"/>
          <p:cNvSpPr/>
          <p:nvPr/>
        </p:nvSpPr>
        <p:spPr>
          <a:xfrm>
            <a:off x="548640" y="4160520"/>
            <a:ext cx="11094415" cy="1965960"/>
          </a:xfrm>
          <a:prstGeom prst="roundRect">
            <a:avLst>
              <a:gd name="adj" fmla="val 3721"/>
            </a:avLst>
          </a:prstGeom>
          <a:solidFill>
            <a:srgbClr val="EAF5EE"/>
          </a:solidFill>
          <a:ln w="15875">
            <a:solidFill>
              <a:schemeClr val="accent3"/>
            </a:solidFill>
            <a:prstDash val="solid"/>
          </a:ln>
        </p:spPr>
      </p:sp>
      <p:sp>
        <p:nvSpPr>
          <p:cNvPr id="26" name="rv1_ans_tx"/>
          <p:cNvSpPr txBox="1"/>
          <p:nvPr/>
        </p:nvSpPr>
        <p:spPr>
          <a:xfrm>
            <a:off x="731520" y="4270248"/>
            <a:ext cx="10728655" cy="17465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C — total internal reflection</a:t>
            </a:r>
            <a:endParaRPr lang="en-US" sz="1500" dirty="0"/>
          </a:p>
          <a:p>
            <a:pPr indent="0" marL="0">
              <a:spcAft>
                <a:spcPts val="400"/>
              </a:spcAft>
              <a:buNone/>
            </a:pPr>
            <a:r>
              <a:rPr lang="en-US" sz="1500" dirty="0">
                <a:solidFill>
                  <a:schemeClr val="tx1"/>
                </a:solidFill>
              </a:rPr>
              <a:t>Beyond θc, Snell's law would need sin θ₂ &gt; 1, which is impossible, so there is no refracted ray at all. All the light reflects.</a:t>
            </a:r>
            <a:endParaRPr lang="en-US" sz="1500" dirty="0"/>
          </a:p>
          <a:p>
            <a:pPr indent="0" marL="0">
              <a:spcAft>
                <a:spcPts val="400"/>
              </a:spcAft>
              <a:buNone/>
            </a:pPr>
            <a:r>
              <a:rPr lang="en-US" sz="1500" dirty="0">
                <a:solidFill>
                  <a:schemeClr val="accent6"/>
                </a:solidFill>
              </a:rPr>
              <a:t>If the light were going from air into glass instead, TIR could never happen.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D</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Lenses &amp; images</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How lenses form images — in cameras, magnifiers, your eye and the microscope</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Lenses use refraction at curved surfaces</a:t>
            </a:r>
            <a:endParaRPr lang="en-US" sz="3000" dirty="0"/>
          </a:p>
        </p:txBody>
      </p:sp>
      <p:pic>
        <p:nvPicPr>
          <p:cNvPr id="5" name="img_lenses.png" descr="Converging lens focusing parallel rays to a focal point; diverging lens spreading them as if from a focal point">    </p:cNvPr>
          <p:cNvPicPr>
            <a:picLocks noChangeAspect="1"/>
          </p:cNvPicPr>
          <p:nvPr/>
        </p:nvPicPr>
        <p:blipFill>
          <a:blip r:embed="rId1"/>
          <a:stretch>
            <a:fillRect/>
          </a:stretch>
        </p:blipFill>
        <p:spPr>
          <a:xfrm>
            <a:off x="1889608" y="1417320"/>
            <a:ext cx="8412480" cy="3291840"/>
          </a:xfrm>
          <a:prstGeom prst="rect">
            <a:avLst/>
          </a:prstGeom>
        </p:spPr>
      </p:pic>
      <p:sp>
        <p:nvSpPr>
          <p:cNvPr id="6" name="Text 3"/>
          <p:cNvSpPr txBox="1"/>
          <p:nvPr/>
        </p:nvSpPr>
        <p:spPr>
          <a:xfrm>
            <a:off x="548640" y="4800600"/>
            <a:ext cx="11094415" cy="14630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Converging (convex) lens: </a:t>
            </a:r>
            <a:pPr indent="0" marL="0">
              <a:spcAft>
                <a:spcPts val="800"/>
              </a:spcAft>
              <a:buNone/>
            </a:pPr>
            <a:r>
              <a:rPr lang="en-US" sz="1500" dirty="0">
                <a:solidFill>
                  <a:schemeClr val="tx1"/>
                </a:solidFill>
              </a:rPr>
              <a:t>thicker in the middle; bends parallel rays to meet at the focal point F. Used in cameras, magnifiers, microscopes, the eye.</a:t>
            </a:r>
            <a:endParaRPr lang="en-US" sz="1500" dirty="0"/>
          </a:p>
          <a:p>
            <a:pPr marL="228600" indent="-228600">
              <a:spcAft>
                <a:spcPts val="800"/>
              </a:spcAft>
              <a:buSzPct val="100000"/>
              <a:buChar char="•"/>
            </a:pPr>
            <a:r>
              <a:rPr lang="en-US" sz="1500" b="1" dirty="0">
                <a:solidFill>
                  <a:schemeClr val="tx2"/>
                </a:solidFill>
              </a:rPr>
              <a:t>Diverging (concave) lens: </a:t>
            </a:r>
            <a:pPr indent="0" marL="0">
              <a:spcAft>
                <a:spcPts val="800"/>
              </a:spcAft>
              <a:buNone/>
            </a:pPr>
            <a:r>
              <a:rPr lang="en-US" sz="1500" dirty="0">
                <a:solidFill>
                  <a:schemeClr val="tx1"/>
                </a:solidFill>
              </a:rPr>
              <a:t>thinner in the middle; spreads parallel rays as if they came from F. Used to correct short-sightedness.</a:t>
            </a:r>
            <a:endParaRPr lang="en-US" sz="1500" dirty="0"/>
          </a:p>
          <a:p>
            <a:pPr marL="228600" indent="-228600">
              <a:spcAft>
                <a:spcPts val="800"/>
              </a:spcAft>
              <a:buSzPct val="100000"/>
              <a:buChar char="•"/>
            </a:pPr>
            <a:r>
              <a:rPr lang="en-US" sz="1500" b="1" dirty="0">
                <a:solidFill>
                  <a:schemeClr val="tx2"/>
                </a:solidFill>
              </a:rPr>
              <a:t>Focal length f: </a:t>
            </a:r>
            <a:pPr indent="0" marL="0">
              <a:spcAft>
                <a:spcPts val="800"/>
              </a:spcAft>
              <a:buNone/>
            </a:pPr>
            <a:r>
              <a:rPr lang="en-US" sz="1500" dirty="0">
                <a:solidFill>
                  <a:schemeClr val="tx1"/>
                </a:solidFill>
              </a:rPr>
              <a:t>distance from lens to F. A shorter f means a stronger lens.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Finding an image with two rays</a:t>
            </a:r>
            <a:endParaRPr lang="en-US" sz="3000" dirty="0"/>
          </a:p>
        </p:txBody>
      </p:sp>
      <p:pic>
        <p:nvPicPr>
          <p:cNvPr id="5" name="img_raydiagram.png" descr="Ray diagram for a converging lens with the object beyond 2F, giving a real, inverted, smaller image">    </p:cNvPr>
          <p:cNvPicPr>
            <a:picLocks noChangeAspect="1"/>
          </p:cNvPicPr>
          <p:nvPr/>
        </p:nvPicPr>
        <p:blipFill>
          <a:blip r:embed="rId1"/>
          <a:stretch>
            <a:fillRect/>
          </a:stretch>
        </p:blipFill>
        <p:spPr>
          <a:xfrm>
            <a:off x="548640" y="1417320"/>
            <a:ext cx="6766560" cy="3291840"/>
          </a:xfrm>
          <a:prstGeom prst="rect">
            <a:avLst/>
          </a:prstGeom>
        </p:spPr>
      </p:pic>
      <p:sp>
        <p:nvSpPr>
          <p:cNvPr id="6" name="step0_dot"/>
          <p:cNvSpPr/>
          <p:nvPr/>
        </p:nvSpPr>
        <p:spPr>
          <a:xfrm>
            <a:off x="7589520" y="1499616"/>
            <a:ext cx="384048" cy="384048"/>
          </a:xfrm>
          <a:prstGeom prst="ellipse">
            <a:avLst/>
          </a:prstGeom>
          <a:solidFill>
            <a:schemeClr val="accent4"/>
          </a:solidFill>
          <a:ln w="12700">
            <a:solidFill>
              <a:schemeClr val="accent4"/>
            </a:solidFill>
            <a:prstDash val="solid"/>
          </a:ln>
        </p:spPr>
      </p:sp>
      <p:sp>
        <p:nvSpPr>
          <p:cNvPr id="7" name="step0_num"/>
          <p:cNvSpPr txBox="1"/>
          <p:nvPr/>
        </p:nvSpPr>
        <p:spPr>
          <a:xfrm>
            <a:off x="7589520" y="14996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step0_tx"/>
          <p:cNvSpPr txBox="1"/>
          <p:nvPr/>
        </p:nvSpPr>
        <p:spPr>
          <a:xfrm>
            <a:off x="8138160" y="1463040"/>
            <a:ext cx="3502152" cy="1024128"/>
          </a:xfrm>
          <a:prstGeom prst="rect">
            <a:avLst/>
          </a:prstGeom>
          <a:noFill/>
          <a:ln/>
        </p:spPr>
        <p:txBody>
          <a:bodyPr wrap="square" lIns="0" tIns="0" rIns="0" bIns="0" rtlCol="0" anchor="t"/>
          <a:lstStyle/>
          <a:p>
            <a:pPr indent="0" marL="0">
              <a:buNone/>
            </a:pPr>
            <a:r>
              <a:rPr lang="en-US" sz="1500" b="1" dirty="0">
                <a:solidFill>
                  <a:schemeClr val="tx2"/>
                </a:solidFill>
              </a:rPr>
              <a:t>Ray 1:   </a:t>
            </a:r>
            <a:pPr indent="0" marL="0">
              <a:buNone/>
            </a:pPr>
            <a:r>
              <a:rPr lang="en-US" sz="1500" dirty="0">
                <a:solidFill>
                  <a:schemeClr val="tx1"/>
                </a:solidFill>
              </a:rPr>
              <a:t>from the top of the object, parallel to the axis → refracts through F on the far side.</a:t>
            </a:r>
            <a:endParaRPr lang="en-US" sz="1500" dirty="0"/>
          </a:p>
        </p:txBody>
      </p:sp>
      <p:sp>
        <p:nvSpPr>
          <p:cNvPr id="9" name="step1_dot"/>
          <p:cNvSpPr/>
          <p:nvPr/>
        </p:nvSpPr>
        <p:spPr>
          <a:xfrm>
            <a:off x="7589520" y="2596896"/>
            <a:ext cx="384048" cy="384048"/>
          </a:xfrm>
          <a:prstGeom prst="ellipse">
            <a:avLst/>
          </a:prstGeom>
          <a:solidFill>
            <a:schemeClr val="accent4"/>
          </a:solidFill>
          <a:ln w="12700">
            <a:solidFill>
              <a:schemeClr val="accent4"/>
            </a:solidFill>
            <a:prstDash val="solid"/>
          </a:ln>
        </p:spPr>
      </p:sp>
      <p:sp>
        <p:nvSpPr>
          <p:cNvPr id="10" name="step1_num"/>
          <p:cNvSpPr txBox="1"/>
          <p:nvPr/>
        </p:nvSpPr>
        <p:spPr>
          <a:xfrm>
            <a:off x="7589520" y="259689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step1_tx"/>
          <p:cNvSpPr txBox="1"/>
          <p:nvPr/>
        </p:nvSpPr>
        <p:spPr>
          <a:xfrm>
            <a:off x="8138160" y="2560320"/>
            <a:ext cx="3502152" cy="1024128"/>
          </a:xfrm>
          <a:prstGeom prst="rect">
            <a:avLst/>
          </a:prstGeom>
          <a:noFill/>
          <a:ln/>
        </p:spPr>
        <p:txBody>
          <a:bodyPr wrap="square" lIns="0" tIns="0" rIns="0" bIns="0" rtlCol="0" anchor="t"/>
          <a:lstStyle/>
          <a:p>
            <a:pPr indent="0" marL="0">
              <a:buNone/>
            </a:pPr>
            <a:r>
              <a:rPr lang="en-US" sz="1500" b="1" dirty="0">
                <a:solidFill>
                  <a:schemeClr val="tx2"/>
                </a:solidFill>
              </a:rPr>
              <a:t>Ray 2:   </a:t>
            </a:r>
            <a:pPr indent="0" marL="0">
              <a:buNone/>
            </a:pPr>
            <a:r>
              <a:rPr lang="en-US" sz="1500" dirty="0">
                <a:solidFill>
                  <a:schemeClr val="tx1"/>
                </a:solidFill>
              </a:rPr>
              <a:t>through the centre of the lens → goes straight on.</a:t>
            </a:r>
            <a:endParaRPr lang="en-US" sz="1500" dirty="0"/>
          </a:p>
        </p:txBody>
      </p:sp>
      <p:sp>
        <p:nvSpPr>
          <p:cNvPr id="12" name="step2_dot"/>
          <p:cNvSpPr/>
          <p:nvPr/>
        </p:nvSpPr>
        <p:spPr>
          <a:xfrm>
            <a:off x="7589520" y="3694176"/>
            <a:ext cx="384048" cy="384048"/>
          </a:xfrm>
          <a:prstGeom prst="ellipse">
            <a:avLst/>
          </a:prstGeom>
          <a:solidFill>
            <a:schemeClr val="accent4"/>
          </a:solidFill>
          <a:ln w="12700">
            <a:solidFill>
              <a:schemeClr val="accent4"/>
            </a:solidFill>
            <a:prstDash val="solid"/>
          </a:ln>
        </p:spPr>
      </p:sp>
      <p:sp>
        <p:nvSpPr>
          <p:cNvPr id="13" name="step2_num"/>
          <p:cNvSpPr txBox="1"/>
          <p:nvPr/>
        </p:nvSpPr>
        <p:spPr>
          <a:xfrm>
            <a:off x="7589520" y="36941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step2_tx"/>
          <p:cNvSpPr txBox="1"/>
          <p:nvPr/>
        </p:nvSpPr>
        <p:spPr>
          <a:xfrm>
            <a:off x="8138160" y="3657600"/>
            <a:ext cx="3502152" cy="1024128"/>
          </a:xfrm>
          <a:prstGeom prst="rect">
            <a:avLst/>
          </a:prstGeom>
          <a:noFill/>
          <a:ln/>
        </p:spPr>
        <p:txBody>
          <a:bodyPr wrap="square" lIns="0" tIns="0" rIns="0" bIns="0" rtlCol="0" anchor="t"/>
          <a:lstStyle/>
          <a:p>
            <a:pPr indent="0" marL="0">
              <a:buNone/>
            </a:pPr>
            <a:r>
              <a:rPr lang="en-US" sz="1500" b="1" dirty="0">
                <a:solidFill>
                  <a:schemeClr val="tx2"/>
                </a:solidFill>
              </a:rPr>
              <a:t>Where they cross   </a:t>
            </a:r>
            <a:pPr indent="0" marL="0">
              <a:buNone/>
            </a:pPr>
            <a:r>
              <a:rPr lang="en-US" sz="1500" dirty="0">
                <a:solidFill>
                  <a:schemeClr val="tx1"/>
                </a:solidFill>
              </a:rPr>
              <a:t>is the top of the image. (A third ray, through the near F and out parallel, can check it.)</a:t>
            </a:r>
            <a:endParaRPr lang="en-US" sz="1500" dirty="0"/>
          </a:p>
        </p:txBody>
      </p:sp>
      <p:sp>
        <p:nvSpPr>
          <p:cNvPr id="15" name="Shape 12"/>
          <p:cNvSpPr/>
          <p:nvPr/>
        </p:nvSpPr>
        <p:spPr>
          <a:xfrm>
            <a:off x="548640" y="4892040"/>
            <a:ext cx="11094415" cy="868680"/>
          </a:xfrm>
          <a:prstGeom prst="roundRect">
            <a:avLst>
              <a:gd name="adj" fmla="val 8421"/>
            </a:avLst>
          </a:prstGeom>
          <a:solidFill>
            <a:schemeClr val="accent2">
              <a:alpha val="12000"/>
            </a:schemeClr>
          </a:solidFill>
          <a:ln w="9525">
            <a:solidFill>
              <a:schemeClr val="accent2">
                <a:alpha val="12000"/>
              </a:schemeClr>
            </a:solidFill>
            <a:prstDash val="solid"/>
          </a:ln>
        </p:spPr>
      </p:sp>
      <p:sp>
        <p:nvSpPr>
          <p:cNvPr id="16" name="Text 13"/>
          <p:cNvSpPr txBox="1"/>
          <p:nvPr/>
        </p:nvSpPr>
        <p:spPr>
          <a:xfrm>
            <a:off x="731520" y="5001768"/>
            <a:ext cx="10728655" cy="64922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Describe every image with three words</a:t>
            </a:r>
            <a:endParaRPr lang="en-US" sz="1600" dirty="0"/>
          </a:p>
          <a:p>
            <a:pPr indent="0" marL="0">
              <a:spcAft>
                <a:spcPts val="400"/>
              </a:spcAft>
              <a:buNone/>
            </a:pPr>
            <a:r>
              <a:rPr lang="en-US" sz="1600" dirty="0">
                <a:solidFill>
                  <a:schemeClr val="tx1"/>
                </a:solidFill>
              </a:rPr>
              <a:t>Real or virtual?   Upright or inverted?   Magnified or diminished?</a:t>
            </a:r>
            <a:endParaRPr lang="en-US" sz="1600" dirty="0"/>
          </a:p>
        </p:txBody>
      </p:sp>
      <p:sp>
        <p:nvSpPr>
          <p:cNvPr id="17" name="Text 14"/>
          <p:cNvSpPr txBox="1"/>
          <p:nvPr/>
        </p:nvSpPr>
        <p:spPr>
          <a:xfrm>
            <a:off x="548640" y="5806440"/>
            <a:ext cx="11094415" cy="457200"/>
          </a:xfrm>
          <a:prstGeom prst="rect">
            <a:avLst/>
          </a:prstGeom>
          <a:noFill/>
          <a:ln/>
        </p:spPr>
        <p:txBody>
          <a:bodyPr wrap="square" lIns="0" tIns="0" rIns="0" bIns="0" rtlCol="0" anchor="t"/>
          <a:lstStyle/>
          <a:p>
            <a:pPr indent="0" marL="0">
              <a:spcAft>
                <a:spcPts val="600"/>
              </a:spcAft>
              <a:buNone/>
            </a:pPr>
            <a:r>
              <a:rPr lang="en-US" sz="1350" dirty="0">
                <a:solidFill>
                  <a:schemeClr val="accent6"/>
                </a:solidFill>
              </a:rPr>
              <a:t>Real image: light actually meets there (it can be caught on a screen or a camera sensor). Virtual image: light only seems to come from there.</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CLASS ACTIVITY</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Move the object: what happens to the image?</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5 minutes, in pairs</a:t>
            </a:r>
            <a:endParaRPr lang="en-US" sz="1100" dirty="0"/>
          </a:p>
        </p:txBody>
      </p:sp>
      <p:sp>
        <p:nvSpPr>
          <p:cNvPr id="7" name="Text 5"/>
          <p:cNvSpPr txBox="1"/>
          <p:nvPr/>
        </p:nvSpPr>
        <p:spPr>
          <a:xfrm>
            <a:off x="548640" y="1463040"/>
            <a:ext cx="11094415" cy="54864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Sketch a ray diagram for each position (or use a magnifying glass and a window across the room). Predict the image, then reveal row by row.</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400800" cy="914400"/>
        </p:xfrm>
        <a:graphic>
          <a:graphicData uri="http://schemas.openxmlformats.org/drawingml/2006/table">
            <a:tbl>
              <a:tblPr/>
              <a:tblGrid>
                <a:gridCol w="2194560"/>
                <a:gridCol w="2194560"/>
                <a:gridCol w="2011680"/>
              </a:tblGrid>
              <a:tr h="566928">
                <a:tc>
                  <a:txBody>
                    <a:bodyPr/>
                    <a:lstStyle/>
                    <a:p>
                      <a:pPr algn="ctr" indent="0" marL="0">
                        <a:buNone/>
                      </a:pPr>
                      <a:r>
                        <a:rPr lang="en-US" sz="1500" b="1" dirty="0">
                          <a:solidFill>
                            <a:schemeClr val="bg1"/>
                          </a:solidFill>
                        </a:rPr>
                        <a:t>Object position</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Image</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Where you meet it</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accent2"/>
                    </a:solidFill>
                  </a:tcPr>
                </a:tc>
              </a:tr>
              <a:tr h="566928">
                <a:tc>
                  <a:txBody>
                    <a:bodyPr/>
                    <a:lstStyle/>
                    <a:p>
                      <a:pPr indent="0" marL="0">
                        <a:buNone/>
                      </a:pPr>
                      <a:r>
                        <a:rPr lang="en-US" sz="1500" dirty="0">
                          <a:solidFill>
                            <a:schemeClr val="tx1"/>
                          </a:solidFill>
                        </a:rPr>
                        <a:t>Far away, beyond 2F</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66928">
                <a:tc>
                  <a:txBody>
                    <a:bodyPr/>
                    <a:lstStyle/>
                    <a:p>
                      <a:pPr indent="0" marL="0">
                        <a:buNone/>
                      </a:pPr>
                      <a:r>
                        <a:rPr lang="en-US" sz="1500" dirty="0">
                          <a:solidFill>
                            <a:schemeClr val="tx1"/>
                          </a:solidFill>
                        </a:rPr>
                        <a:t>At 2F</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66928">
                <a:tc>
                  <a:txBody>
                    <a:bodyPr/>
                    <a:lstStyle/>
                    <a:p>
                      <a:pPr indent="0" marL="0">
                        <a:buNone/>
                      </a:pPr>
                      <a:r>
                        <a:rPr lang="en-US" sz="1500" dirty="0">
                          <a:solidFill>
                            <a:schemeClr val="tx1"/>
                          </a:solidFill>
                        </a:rPr>
                        <a:t>Between F and 2F</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66928">
                <a:tc>
                  <a:txBody>
                    <a:bodyPr/>
                    <a:lstStyle/>
                    <a:p>
                      <a:pPr indent="0" marL="0">
                        <a:buNone/>
                      </a:pPr>
                      <a:r>
                        <a:rPr lang="en-US" sz="1500" dirty="0">
                          <a:solidFill>
                            <a:schemeClr val="tx1"/>
                          </a:solidFill>
                        </a:rPr>
                        <a:t>Inside F</a:t>
                      </a: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500" dirty="0"/>
                    </a:p>
                  </a:txBody>
                  <a:tcPr marL="91440" marR="91440"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9" name="rv1_a0"/>
          <p:cNvSpPr txBox="1"/>
          <p:nvPr/>
        </p:nvSpPr>
        <p:spPr>
          <a:xfrm>
            <a:off x="2788920" y="2706624"/>
            <a:ext cx="2148840" cy="493776"/>
          </a:xfrm>
          <a:prstGeom prst="rect">
            <a:avLst/>
          </a:prstGeom>
          <a:noFill/>
          <a:ln/>
        </p:spPr>
        <p:txBody>
          <a:bodyPr wrap="square" lIns="0" tIns="0" rIns="0" bIns="0" rtlCol="0" anchor="ctr"/>
          <a:lstStyle/>
          <a:p>
            <a:pPr algn="ctr" indent="0" marL="0">
              <a:buNone/>
            </a:pPr>
            <a:r>
              <a:rPr lang="en-US" sz="1350" b="1" dirty="0">
                <a:solidFill>
                  <a:schemeClr val="accent3"/>
                </a:solidFill>
              </a:rPr>
              <a:t>real, inverted, smaller</a:t>
            </a:r>
            <a:endParaRPr lang="en-US" sz="1350" dirty="0"/>
          </a:p>
        </p:txBody>
      </p:sp>
      <p:sp>
        <p:nvSpPr>
          <p:cNvPr id="10" name="rv1_b0"/>
          <p:cNvSpPr txBox="1"/>
          <p:nvPr/>
        </p:nvSpPr>
        <p:spPr>
          <a:xfrm>
            <a:off x="4983480" y="2706624"/>
            <a:ext cx="1920240" cy="493776"/>
          </a:xfrm>
          <a:prstGeom prst="rect">
            <a:avLst/>
          </a:prstGeom>
          <a:noFill/>
          <a:ln/>
        </p:spPr>
        <p:txBody>
          <a:bodyPr wrap="square" lIns="0" tIns="0" rIns="0" bIns="0" rtlCol="0" anchor="ctr"/>
          <a:lstStyle/>
          <a:p>
            <a:pPr algn="ctr" indent="0" marL="0">
              <a:buNone/>
            </a:pPr>
            <a:r>
              <a:rPr lang="en-US" sz="1350" dirty="0">
                <a:solidFill>
                  <a:schemeClr val="tx1"/>
                </a:solidFill>
              </a:rPr>
              <a:t>camera, the eye</a:t>
            </a:r>
            <a:endParaRPr lang="en-US" sz="1350" dirty="0"/>
          </a:p>
        </p:txBody>
      </p:sp>
      <p:sp>
        <p:nvSpPr>
          <p:cNvPr id="11" name="rv2_a1"/>
          <p:cNvSpPr txBox="1"/>
          <p:nvPr/>
        </p:nvSpPr>
        <p:spPr>
          <a:xfrm>
            <a:off x="2788920" y="3273552"/>
            <a:ext cx="2148840" cy="493776"/>
          </a:xfrm>
          <a:prstGeom prst="rect">
            <a:avLst/>
          </a:prstGeom>
          <a:noFill/>
          <a:ln/>
        </p:spPr>
        <p:txBody>
          <a:bodyPr wrap="square" lIns="0" tIns="0" rIns="0" bIns="0" rtlCol="0" anchor="ctr"/>
          <a:lstStyle/>
          <a:p>
            <a:pPr algn="ctr" indent="0" marL="0">
              <a:buNone/>
            </a:pPr>
            <a:r>
              <a:rPr lang="en-US" sz="1350" b="1" dirty="0">
                <a:solidFill>
                  <a:schemeClr val="accent3"/>
                </a:solidFill>
              </a:rPr>
              <a:t>real, inverted, same size</a:t>
            </a:r>
            <a:endParaRPr lang="en-US" sz="1350" dirty="0"/>
          </a:p>
        </p:txBody>
      </p:sp>
      <p:sp>
        <p:nvSpPr>
          <p:cNvPr id="12" name="rv2_b1"/>
          <p:cNvSpPr txBox="1"/>
          <p:nvPr/>
        </p:nvSpPr>
        <p:spPr>
          <a:xfrm>
            <a:off x="4983480" y="3273552"/>
            <a:ext cx="1920240" cy="493776"/>
          </a:xfrm>
          <a:prstGeom prst="rect">
            <a:avLst/>
          </a:prstGeom>
          <a:noFill/>
          <a:ln/>
        </p:spPr>
        <p:txBody>
          <a:bodyPr wrap="square" lIns="0" tIns="0" rIns="0" bIns="0" rtlCol="0" anchor="ctr"/>
          <a:lstStyle/>
          <a:p>
            <a:pPr algn="ctr" indent="0" marL="0">
              <a:buNone/>
            </a:pPr>
            <a:r>
              <a:rPr lang="en-US" sz="1350" dirty="0">
                <a:solidFill>
                  <a:schemeClr val="tx1"/>
                </a:solidFill>
              </a:rPr>
              <a:t>photocopier</a:t>
            </a:r>
            <a:endParaRPr lang="en-US" sz="1350" dirty="0"/>
          </a:p>
        </p:txBody>
      </p:sp>
      <p:sp>
        <p:nvSpPr>
          <p:cNvPr id="13" name="rv3_a2"/>
          <p:cNvSpPr txBox="1"/>
          <p:nvPr/>
        </p:nvSpPr>
        <p:spPr>
          <a:xfrm>
            <a:off x="2788920" y="3840480"/>
            <a:ext cx="2148840" cy="493776"/>
          </a:xfrm>
          <a:prstGeom prst="rect">
            <a:avLst/>
          </a:prstGeom>
          <a:noFill/>
          <a:ln/>
        </p:spPr>
        <p:txBody>
          <a:bodyPr wrap="square" lIns="0" tIns="0" rIns="0" bIns="0" rtlCol="0" anchor="ctr"/>
          <a:lstStyle/>
          <a:p>
            <a:pPr algn="ctr" indent="0" marL="0">
              <a:buNone/>
            </a:pPr>
            <a:r>
              <a:rPr lang="en-US" sz="1350" b="1" dirty="0">
                <a:solidFill>
                  <a:schemeClr val="accent3"/>
                </a:solidFill>
              </a:rPr>
              <a:t>real, inverted, larger</a:t>
            </a:r>
            <a:endParaRPr lang="en-US" sz="1350" dirty="0"/>
          </a:p>
        </p:txBody>
      </p:sp>
      <p:sp>
        <p:nvSpPr>
          <p:cNvPr id="14" name="rv3_b2"/>
          <p:cNvSpPr txBox="1"/>
          <p:nvPr/>
        </p:nvSpPr>
        <p:spPr>
          <a:xfrm>
            <a:off x="4983480" y="3840480"/>
            <a:ext cx="1920240" cy="493776"/>
          </a:xfrm>
          <a:prstGeom prst="rect">
            <a:avLst/>
          </a:prstGeom>
          <a:noFill/>
          <a:ln/>
        </p:spPr>
        <p:txBody>
          <a:bodyPr wrap="square" lIns="0" tIns="0" rIns="0" bIns="0" rtlCol="0" anchor="ctr"/>
          <a:lstStyle/>
          <a:p>
            <a:pPr algn="ctr" indent="0" marL="0">
              <a:buNone/>
            </a:pPr>
            <a:r>
              <a:rPr lang="en-US" sz="1350" dirty="0">
                <a:solidFill>
                  <a:schemeClr val="tx1"/>
                </a:solidFill>
              </a:rPr>
              <a:t>projector; microscope objective</a:t>
            </a:r>
            <a:endParaRPr lang="en-US" sz="1350" dirty="0"/>
          </a:p>
        </p:txBody>
      </p:sp>
      <p:sp>
        <p:nvSpPr>
          <p:cNvPr id="15" name="rv4_a3"/>
          <p:cNvSpPr txBox="1"/>
          <p:nvPr/>
        </p:nvSpPr>
        <p:spPr>
          <a:xfrm>
            <a:off x="2788920" y="4407408"/>
            <a:ext cx="2148840" cy="493776"/>
          </a:xfrm>
          <a:prstGeom prst="rect">
            <a:avLst/>
          </a:prstGeom>
          <a:noFill/>
          <a:ln/>
        </p:spPr>
        <p:txBody>
          <a:bodyPr wrap="square" lIns="0" tIns="0" rIns="0" bIns="0" rtlCol="0" anchor="ctr"/>
          <a:lstStyle/>
          <a:p>
            <a:pPr algn="ctr" indent="0" marL="0">
              <a:buNone/>
            </a:pPr>
            <a:r>
              <a:rPr lang="en-US" sz="1350" b="1" dirty="0">
                <a:solidFill>
                  <a:schemeClr val="accent3"/>
                </a:solidFill>
              </a:rPr>
              <a:t>virtual, upright, larger</a:t>
            </a:r>
            <a:endParaRPr lang="en-US" sz="1350" dirty="0"/>
          </a:p>
        </p:txBody>
      </p:sp>
      <p:sp>
        <p:nvSpPr>
          <p:cNvPr id="16" name="rv4_b3"/>
          <p:cNvSpPr txBox="1"/>
          <p:nvPr/>
        </p:nvSpPr>
        <p:spPr>
          <a:xfrm>
            <a:off x="4983480" y="4407408"/>
            <a:ext cx="1920240" cy="493776"/>
          </a:xfrm>
          <a:prstGeom prst="rect">
            <a:avLst/>
          </a:prstGeom>
          <a:noFill/>
          <a:ln/>
        </p:spPr>
        <p:txBody>
          <a:bodyPr wrap="square" lIns="0" tIns="0" rIns="0" bIns="0" rtlCol="0" anchor="ctr"/>
          <a:lstStyle/>
          <a:p>
            <a:pPr algn="ctr" indent="0" marL="0">
              <a:buNone/>
            </a:pPr>
            <a:r>
              <a:rPr lang="en-US" sz="1350" dirty="0">
                <a:solidFill>
                  <a:schemeClr val="tx1"/>
                </a:solidFill>
              </a:rPr>
              <a:t>magnifying glass</a:t>
            </a:r>
            <a:endParaRPr lang="en-US" sz="1350" dirty="0"/>
          </a:p>
        </p:txBody>
      </p:sp>
      <p:pic>
        <p:nvPicPr>
          <p:cNvPr id="17" name="rv5_cases" descr="Four ray diagrams for different object positions">    </p:cNvPr>
          <p:cNvPicPr>
            <a:picLocks noChangeAspect="1"/>
          </p:cNvPicPr>
          <p:nvPr/>
        </p:nvPicPr>
        <p:blipFill>
          <a:blip r:embed="rId1"/>
          <a:stretch>
            <a:fillRect/>
          </a:stretch>
        </p:blipFill>
        <p:spPr>
          <a:xfrm>
            <a:off x="7132320" y="2309571"/>
            <a:ext cx="4507992" cy="2604618"/>
          </a:xfrm>
          <a:prstGeom prst="rect">
            <a:avLst/>
          </a:prstGeom>
        </p:spPr>
      </p:pic>
      <p:sp>
        <p:nvSpPr>
          <p:cNvPr id="18" name="Text 14"/>
          <p:cNvSpPr txBox="1"/>
          <p:nvPr/>
        </p:nvSpPr>
        <p:spPr>
          <a:xfrm>
            <a:off x="7132320" y="5257800"/>
            <a:ext cx="4507992" cy="365760"/>
          </a:xfrm>
          <a:prstGeom prst="rect">
            <a:avLst/>
          </a:prstGeom>
          <a:noFill/>
          <a:ln/>
        </p:spPr>
        <p:txBody>
          <a:bodyPr wrap="square" lIns="0" tIns="0" rIns="0" bIns="0" rtlCol="0" anchor="t"/>
          <a:lstStyle/>
          <a:p>
            <a:pPr indent="0" marL="0">
              <a:spcAft>
                <a:spcPts val="600"/>
              </a:spcAft>
              <a:buNone/>
            </a:pPr>
            <a:r>
              <a:rPr lang="en-US" sz="1300" i="1" dirty="0">
                <a:solidFill>
                  <a:schemeClr val="accent6"/>
                </a:solidFill>
              </a:rPr>
              <a:t>Click 5 shows all four ray diagrams.</a:t>
            </a:r>
            <a:endParaRPr lang="en-US" sz="1300" dirty="0"/>
          </a:p>
        </p:txBody>
      </p:sp>
      <p:sp>
        <p:nvSpPr>
          <p:cNvPr id="19" name="Shape 15"/>
          <p:cNvSpPr/>
          <p:nvPr/>
        </p:nvSpPr>
        <p:spPr>
          <a:xfrm>
            <a:off x="548640" y="5120640"/>
            <a:ext cx="6400800" cy="1051560"/>
          </a:xfrm>
          <a:prstGeom prst="roundRect">
            <a:avLst>
              <a:gd name="adj" fmla="val 6957"/>
            </a:avLst>
          </a:prstGeom>
          <a:solidFill>
            <a:schemeClr val="accent1">
              <a:alpha val="12000"/>
            </a:schemeClr>
          </a:solidFill>
          <a:ln w="9525">
            <a:solidFill>
              <a:schemeClr val="accent1">
                <a:alpha val="12000"/>
              </a:schemeClr>
            </a:solidFill>
            <a:prstDash val="solid"/>
          </a:ln>
        </p:spPr>
      </p:sp>
      <p:sp>
        <p:nvSpPr>
          <p:cNvPr id="20" name="Text 16"/>
          <p:cNvSpPr txBox="1"/>
          <p:nvPr/>
        </p:nvSpPr>
        <p:spPr>
          <a:xfrm>
            <a:off x="731520" y="5230368"/>
            <a:ext cx="6035040" cy="832104"/>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Pattern</a:t>
            </a:r>
            <a:endParaRPr lang="en-US" sz="1450" dirty="0"/>
          </a:p>
          <a:p>
            <a:pPr indent="0" marL="0">
              <a:spcAft>
                <a:spcPts val="400"/>
              </a:spcAft>
              <a:buNone/>
            </a:pPr>
            <a:r>
              <a:rPr lang="en-US" sz="1450" dirty="0">
                <a:solidFill>
                  <a:schemeClr val="tx1"/>
                </a:solidFill>
              </a:rPr>
              <a:t>As the object moves towards F, the real image moves away from the lens and grows. Inside F there is no real image — only a virtual, magnified one.</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4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4"/>
          </a:solidFill>
          <a:ln w="12700">
            <a:solidFill>
              <a:schemeClr val="accent4"/>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WORKED EXAMPLE</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Worked example: a camera on a fruit-grading line</a:t>
            </a:r>
            <a:endParaRPr lang="en-US" sz="3000" dirty="0"/>
          </a:p>
        </p:txBody>
      </p:sp>
      <p:sp>
        <p:nvSpPr>
          <p:cNvPr id="5" name="Shape 3"/>
          <p:cNvSpPr/>
          <p:nvPr/>
        </p:nvSpPr>
        <p:spPr>
          <a:xfrm>
            <a:off x="548640" y="1463040"/>
            <a:ext cx="11094415" cy="868680"/>
          </a:xfrm>
          <a:prstGeom prst="roundRect">
            <a:avLst>
              <a:gd name="adj" fmla="val 8421"/>
            </a:avLst>
          </a:prstGeom>
          <a:solidFill>
            <a:schemeClr val="accent4">
              <a:alpha val="12000"/>
            </a:schemeClr>
          </a:solidFill>
          <a:ln w="9525">
            <a:solidFill>
              <a:schemeClr val="accent4">
                <a:alpha val="12000"/>
              </a:schemeClr>
            </a:solidFill>
            <a:prstDash val="solid"/>
          </a:ln>
        </p:spPr>
      </p:sp>
      <p:sp>
        <p:nvSpPr>
          <p:cNvPr id="6" name="Text 4"/>
          <p:cNvSpPr txBox="1"/>
          <p:nvPr/>
        </p:nvSpPr>
        <p:spPr>
          <a:xfrm>
            <a:off x="731520" y="1572768"/>
            <a:ext cx="10728655" cy="649224"/>
          </a:xfrm>
          <a:prstGeom prst="rect">
            <a:avLst/>
          </a:prstGeom>
          <a:noFill/>
          <a:ln/>
        </p:spPr>
        <p:txBody>
          <a:bodyPr wrap="square" lIns="0" tIns="0" rIns="0" bIns="0" rtlCol="0" anchor="t"/>
          <a:lstStyle/>
          <a:p>
            <a:pPr indent="0" marL="0">
              <a:spcAft>
                <a:spcPts val="400"/>
              </a:spcAft>
              <a:buNone/>
            </a:pPr>
            <a:r>
              <a:rPr lang="en-US" sz="1400" b="1" dirty="0">
                <a:solidFill>
                  <a:schemeClr val="accent4"/>
                </a:solidFill>
              </a:rPr>
              <a:t>Problem</a:t>
            </a:r>
            <a:endParaRPr lang="en-US" sz="1550" dirty="0"/>
          </a:p>
          <a:p>
            <a:pPr indent="0" marL="0">
              <a:spcAft>
                <a:spcPts val="400"/>
              </a:spcAft>
              <a:buNone/>
            </a:pPr>
            <a:r>
              <a:rPr lang="en-US" sz="1550" dirty="0">
                <a:solidFill>
                  <a:schemeClr val="tx1"/>
                </a:solidFill>
              </a:rPr>
              <a:t>A machine-vision camera with a 50 mm lens photographs apples 500 mm away. Where does the image form, and how big is an 80 mm apple on the sensor?</a:t>
            </a:r>
            <a:endParaRPr lang="en-US" sz="1550" dirty="0"/>
          </a:p>
        </p:txBody>
      </p:sp>
      <p:sp>
        <p:nvSpPr>
          <p:cNvPr id="7" name="Shape 5"/>
          <p:cNvSpPr/>
          <p:nvPr/>
        </p:nvSpPr>
        <p:spPr>
          <a:xfrm>
            <a:off x="548640" y="2514600"/>
            <a:ext cx="11094415" cy="731520"/>
          </a:xfrm>
          <a:prstGeom prst="roundRect">
            <a:avLst>
              <a:gd name="adj" fmla="val 10000"/>
            </a:avLst>
          </a:prstGeom>
          <a:solidFill>
            <a:schemeClr val="accent1">
              <a:alpha val="12000"/>
            </a:schemeClr>
          </a:solidFill>
          <a:ln w="9525">
            <a:solidFill>
              <a:schemeClr val="accent1">
                <a:alpha val="12000"/>
              </a:schemeClr>
            </a:solidFill>
            <a:prstDash val="solid"/>
          </a:ln>
        </p:spPr>
      </p:sp>
      <p:sp>
        <p:nvSpPr>
          <p:cNvPr id="8" name="Text 6"/>
          <p:cNvSpPr txBox="1"/>
          <p:nvPr/>
        </p:nvSpPr>
        <p:spPr>
          <a:xfrm>
            <a:off x="548640" y="2514600"/>
            <a:ext cx="11094415" cy="73152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1/f = 1/d</a:t>
            </a:r>
            <a:pPr algn="ctr" indent="0" marL="0">
              <a:buNone/>
            </a:pPr>
            <a:r>
              <a:rPr lang="en-US" sz="2400" b="1" baseline="-25000" dirty="0">
                <a:solidFill>
                  <a:schemeClr val="accent1"/>
                </a:solidFill>
                <a:latin typeface="Cambria" pitchFamily="34" charset="0"/>
                <a:ea typeface="Cambria" pitchFamily="34" charset="-122"/>
                <a:cs typeface="Cambria" pitchFamily="34" charset="-120"/>
              </a:rPr>
              <a:t>o</a:t>
            </a:r>
            <a:pPr algn="ctr" indent="0" marL="0">
              <a:buNone/>
            </a:pPr>
            <a:r>
              <a:rPr lang="en-US" sz="2400" b="1" dirty="0">
                <a:solidFill>
                  <a:schemeClr val="accent1"/>
                </a:solidFill>
                <a:latin typeface="Cambria" pitchFamily="34" charset="0"/>
                <a:ea typeface="Cambria" pitchFamily="34" charset="-122"/>
                <a:cs typeface="Cambria" pitchFamily="34" charset="-120"/>
              </a:rPr>
              <a:t> + 1/d</a:t>
            </a:r>
            <a:pPr algn="ctr" indent="0" marL="0">
              <a:buNone/>
            </a:pPr>
            <a:r>
              <a:rPr lang="en-US" sz="2400" b="1" baseline="-25000" dirty="0">
                <a:solidFill>
                  <a:schemeClr val="accent1"/>
                </a:solidFill>
                <a:latin typeface="Cambria" pitchFamily="34" charset="0"/>
                <a:ea typeface="Cambria" pitchFamily="34" charset="-122"/>
                <a:cs typeface="Cambria" pitchFamily="34" charset="-120"/>
              </a:rPr>
              <a:t>i</a:t>
            </a:r>
            <a:pPr algn="ctr" indent="0" marL="0">
              <a:buNone/>
            </a:pPr>
            <a:r>
              <a:rPr lang="en-US" sz="2400" b="1" dirty="0">
                <a:solidFill>
                  <a:schemeClr val="accent1"/>
                </a:solidFill>
                <a:latin typeface="Cambria" pitchFamily="34" charset="0"/>
                <a:ea typeface="Cambria" pitchFamily="34" charset="-122"/>
                <a:cs typeface="Cambria" pitchFamily="34" charset="-120"/>
              </a:rPr>
              <a:t>      m = − d</a:t>
            </a:r>
            <a:pPr algn="ctr" indent="0" marL="0">
              <a:buNone/>
            </a:pPr>
            <a:r>
              <a:rPr lang="en-US" sz="2400" b="1" baseline="-25000" dirty="0">
                <a:solidFill>
                  <a:schemeClr val="accent1"/>
                </a:solidFill>
                <a:latin typeface="Cambria" pitchFamily="34" charset="0"/>
                <a:ea typeface="Cambria" pitchFamily="34" charset="-122"/>
                <a:cs typeface="Cambria" pitchFamily="34" charset="-120"/>
              </a:rPr>
              <a:t>i</a:t>
            </a:r>
            <a:pPr algn="ctr" indent="0" marL="0">
              <a:buNone/>
            </a:pPr>
            <a:r>
              <a:rPr lang="en-US" sz="2400" b="1" dirty="0">
                <a:solidFill>
                  <a:schemeClr val="accent1"/>
                </a:solidFill>
                <a:latin typeface="Cambria" pitchFamily="34" charset="0"/>
                <a:ea typeface="Cambria" pitchFamily="34" charset="-122"/>
                <a:cs typeface="Cambria" pitchFamily="34" charset="-120"/>
              </a:rPr>
              <a:t> / d</a:t>
            </a:r>
            <a:pPr algn="ctr" indent="0" marL="0">
              <a:buNone/>
            </a:pPr>
            <a:r>
              <a:rPr lang="en-US" sz="2400" b="1" baseline="-25000" dirty="0">
                <a:solidFill>
                  <a:schemeClr val="accent1"/>
                </a:solidFill>
                <a:latin typeface="Cambria" pitchFamily="34" charset="0"/>
                <a:ea typeface="Cambria" pitchFamily="34" charset="-122"/>
                <a:cs typeface="Cambria" pitchFamily="34" charset="-120"/>
              </a:rPr>
              <a:t>o</a:t>
            </a:r>
            <a:endParaRPr lang="en-US" sz="2400" dirty="0"/>
          </a:p>
        </p:txBody>
      </p:sp>
      <p:sp>
        <p:nvSpPr>
          <p:cNvPr id="9" name="rv1_step0_dot"/>
          <p:cNvSpPr/>
          <p:nvPr/>
        </p:nvSpPr>
        <p:spPr>
          <a:xfrm>
            <a:off x="548640" y="3465576"/>
            <a:ext cx="384048" cy="384048"/>
          </a:xfrm>
          <a:prstGeom prst="ellipse">
            <a:avLst/>
          </a:prstGeom>
          <a:solidFill>
            <a:schemeClr val="accent4"/>
          </a:solidFill>
          <a:ln w="12700">
            <a:solidFill>
              <a:schemeClr val="accent4"/>
            </a:solidFill>
            <a:prstDash val="solid"/>
          </a:ln>
        </p:spPr>
      </p:sp>
      <p:sp>
        <p:nvSpPr>
          <p:cNvPr id="10" name="rv1_step0_num"/>
          <p:cNvSpPr txBox="1"/>
          <p:nvPr/>
        </p:nvSpPr>
        <p:spPr>
          <a:xfrm>
            <a:off x="548640" y="34655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rv1_step0_tx"/>
          <p:cNvSpPr txBox="1"/>
          <p:nvPr/>
        </p:nvSpPr>
        <p:spPr>
          <a:xfrm>
            <a:off x="1097280" y="3429000"/>
            <a:ext cx="10545775" cy="612648"/>
          </a:xfrm>
          <a:prstGeom prst="rect">
            <a:avLst/>
          </a:prstGeom>
          <a:noFill/>
          <a:ln/>
        </p:spPr>
        <p:txBody>
          <a:bodyPr wrap="square" lIns="0" tIns="0" rIns="0" bIns="0" rtlCol="0" anchor="t"/>
          <a:lstStyle/>
          <a:p>
            <a:pPr indent="0" marL="0">
              <a:buNone/>
            </a:pPr>
            <a:r>
              <a:rPr lang="en-US" sz="1600" b="1" dirty="0">
                <a:solidFill>
                  <a:schemeClr val="tx2"/>
                </a:solidFill>
              </a:rPr>
              <a:t>Image distance:   </a:t>
            </a:r>
            <a:pPr indent="0" marL="0">
              <a:buNone/>
            </a:pPr>
            <a:r>
              <a:rPr lang="en-US" sz="1600" dirty="0">
                <a:solidFill>
                  <a:schemeClr val="tx1"/>
                </a:solidFill>
              </a:rPr>
              <a:t>1/d</a:t>
            </a:r>
            <a:pPr indent="0" marL="0">
              <a:buNone/>
            </a:pPr>
            <a:r>
              <a:rPr lang="en-US" sz="1600" baseline="-25000" dirty="0">
                <a:solidFill>
                  <a:schemeClr val="tx1"/>
                </a:solidFill>
              </a:rPr>
              <a:t>i</a:t>
            </a:r>
            <a:pPr indent="0" marL="0">
              <a:buNone/>
            </a:pPr>
            <a:r>
              <a:rPr lang="en-US" sz="1600" dirty="0">
                <a:solidFill>
                  <a:schemeClr val="tx1"/>
                </a:solidFill>
              </a:rPr>
              <a:t> = 1/50 − 1/500 = 9/500  →  d</a:t>
            </a:r>
            <a:pPr indent="0" marL="0">
              <a:buNone/>
            </a:pPr>
            <a:r>
              <a:rPr lang="en-US" sz="1600" baseline="-25000" dirty="0">
                <a:solidFill>
                  <a:schemeClr val="tx1"/>
                </a:solidFill>
              </a:rPr>
              <a:t>i</a:t>
            </a:r>
            <a:pPr indent="0" marL="0">
              <a:buNone/>
            </a:pPr>
            <a:r>
              <a:rPr lang="en-US" sz="1600" dirty="0">
                <a:solidFill>
                  <a:schemeClr val="tx1"/>
                </a:solidFill>
              </a:rPr>
              <a:t> = 55.6 mm</a:t>
            </a:r>
            <a:endParaRPr lang="en-US" sz="1600" dirty="0"/>
          </a:p>
        </p:txBody>
      </p:sp>
      <p:sp>
        <p:nvSpPr>
          <p:cNvPr id="12" name="rv2_step1_dot"/>
          <p:cNvSpPr/>
          <p:nvPr/>
        </p:nvSpPr>
        <p:spPr>
          <a:xfrm>
            <a:off x="548640" y="4151376"/>
            <a:ext cx="384048" cy="384048"/>
          </a:xfrm>
          <a:prstGeom prst="ellipse">
            <a:avLst/>
          </a:prstGeom>
          <a:solidFill>
            <a:schemeClr val="accent4"/>
          </a:solidFill>
          <a:ln w="12700">
            <a:solidFill>
              <a:schemeClr val="accent4"/>
            </a:solidFill>
            <a:prstDash val="solid"/>
          </a:ln>
        </p:spPr>
      </p:sp>
      <p:sp>
        <p:nvSpPr>
          <p:cNvPr id="13" name="rv2_step1_num"/>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4" name="rv2_step1_tx"/>
          <p:cNvSpPr txBox="1"/>
          <p:nvPr/>
        </p:nvSpPr>
        <p:spPr>
          <a:xfrm>
            <a:off x="1097280" y="4114800"/>
            <a:ext cx="10545775" cy="612648"/>
          </a:xfrm>
          <a:prstGeom prst="rect">
            <a:avLst/>
          </a:prstGeom>
          <a:noFill/>
          <a:ln/>
        </p:spPr>
        <p:txBody>
          <a:bodyPr wrap="square" lIns="0" tIns="0" rIns="0" bIns="0" rtlCol="0" anchor="t"/>
          <a:lstStyle/>
          <a:p>
            <a:pPr indent="0" marL="0">
              <a:buNone/>
            </a:pPr>
            <a:r>
              <a:rPr lang="en-US" sz="1600" b="1" dirty="0">
                <a:solidFill>
                  <a:schemeClr val="tx2"/>
                </a:solidFill>
              </a:rPr>
              <a:t>Magnification:   </a:t>
            </a:r>
            <a:pPr indent="0" marL="0">
              <a:buNone/>
            </a:pPr>
            <a:r>
              <a:rPr lang="en-US" sz="1600" dirty="0">
                <a:solidFill>
                  <a:schemeClr val="tx1"/>
                </a:solidFill>
              </a:rPr>
              <a:t>m = − 55.6 / 500 = − 0.111</a:t>
            </a:r>
            <a:endParaRPr lang="en-US" sz="1600" dirty="0"/>
          </a:p>
        </p:txBody>
      </p:sp>
      <p:sp>
        <p:nvSpPr>
          <p:cNvPr id="15" name="rv3_step2_dot"/>
          <p:cNvSpPr/>
          <p:nvPr/>
        </p:nvSpPr>
        <p:spPr>
          <a:xfrm>
            <a:off x="548640" y="4837176"/>
            <a:ext cx="384048" cy="384048"/>
          </a:xfrm>
          <a:prstGeom prst="ellipse">
            <a:avLst/>
          </a:prstGeom>
          <a:solidFill>
            <a:schemeClr val="accent4"/>
          </a:solidFill>
          <a:ln w="12700">
            <a:solidFill>
              <a:schemeClr val="accent4"/>
            </a:solidFill>
            <a:prstDash val="solid"/>
          </a:ln>
        </p:spPr>
      </p:sp>
      <p:sp>
        <p:nvSpPr>
          <p:cNvPr id="16" name="rv3_step2_num"/>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rv3_step2_tx"/>
          <p:cNvSpPr txBox="1"/>
          <p:nvPr/>
        </p:nvSpPr>
        <p:spPr>
          <a:xfrm>
            <a:off x="1097280" y="4800600"/>
            <a:ext cx="10545775" cy="612648"/>
          </a:xfrm>
          <a:prstGeom prst="rect">
            <a:avLst/>
          </a:prstGeom>
          <a:noFill/>
          <a:ln/>
        </p:spPr>
        <p:txBody>
          <a:bodyPr wrap="square" lIns="0" tIns="0" rIns="0" bIns="0" rtlCol="0" anchor="t"/>
          <a:lstStyle/>
          <a:p>
            <a:pPr indent="0" marL="0">
              <a:buNone/>
            </a:pPr>
            <a:r>
              <a:rPr lang="en-US" sz="1600" b="1" dirty="0">
                <a:solidFill>
                  <a:schemeClr val="tx2"/>
                </a:solidFill>
              </a:rPr>
              <a:t>Image size:   </a:t>
            </a:r>
            <a:pPr indent="0" marL="0">
              <a:buNone/>
            </a:pPr>
            <a:r>
              <a:rPr lang="en-US" sz="1600" dirty="0">
                <a:solidFill>
                  <a:schemeClr val="tx1"/>
                </a:solidFill>
              </a:rPr>
              <a:t>80 mm × 0.111 = </a:t>
            </a:r>
            <a:pPr indent="0" marL="0">
              <a:buNone/>
            </a:pPr>
            <a:r>
              <a:rPr lang="en-US" sz="1600" b="1" dirty="0">
                <a:solidFill>
                  <a:schemeClr val="accent1"/>
                </a:solidFill>
              </a:rPr>
              <a:t>8.9 mm, inverted</a:t>
            </a:r>
            <a:endParaRPr lang="en-US" sz="1600" dirty="0"/>
          </a:p>
        </p:txBody>
      </p:sp>
      <p:sp>
        <p:nvSpPr>
          <p:cNvPr id="18" name="rv4_step3_dot"/>
          <p:cNvSpPr/>
          <p:nvPr/>
        </p:nvSpPr>
        <p:spPr>
          <a:xfrm>
            <a:off x="548640" y="5522976"/>
            <a:ext cx="384048" cy="384048"/>
          </a:xfrm>
          <a:prstGeom prst="ellipse">
            <a:avLst/>
          </a:prstGeom>
          <a:solidFill>
            <a:schemeClr val="accent4"/>
          </a:solidFill>
          <a:ln w="12700">
            <a:solidFill>
              <a:schemeClr val="accent4"/>
            </a:solidFill>
            <a:prstDash val="solid"/>
          </a:ln>
        </p:spPr>
      </p:sp>
      <p:sp>
        <p:nvSpPr>
          <p:cNvPr id="19" name="rv4_step3_num"/>
          <p:cNvSpPr txBox="1"/>
          <p:nvPr/>
        </p:nvSpPr>
        <p:spPr>
          <a:xfrm>
            <a:off x="548640" y="552297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rv4_step3_tx"/>
          <p:cNvSpPr txBox="1"/>
          <p:nvPr/>
        </p:nvSpPr>
        <p:spPr>
          <a:xfrm>
            <a:off x="1097280" y="5486400"/>
            <a:ext cx="10545775" cy="612648"/>
          </a:xfrm>
          <a:prstGeom prst="rect">
            <a:avLst/>
          </a:prstGeom>
          <a:noFill/>
          <a:ln/>
        </p:spPr>
        <p:txBody>
          <a:bodyPr wrap="square" lIns="0" tIns="0" rIns="0" bIns="0" rtlCol="0" anchor="t"/>
          <a:lstStyle/>
          <a:p>
            <a:pPr indent="0" marL="0">
              <a:buNone/>
            </a:pPr>
            <a:r>
              <a:rPr lang="en-US" sz="1600" b="1" dirty="0">
                <a:solidFill>
                  <a:schemeClr val="tx2"/>
                </a:solidFill>
              </a:rPr>
              <a:t>So what?   </a:t>
            </a:r>
            <a:pPr indent="0" marL="0">
              <a:buNone/>
            </a:pPr>
            <a:r>
              <a:rPr lang="en-US" sz="1600" dirty="0">
                <a:solidFill>
                  <a:schemeClr val="tx1"/>
                </a:solidFill>
              </a:rPr>
              <a:t>The sensor must sit 55.6 mm behind the lens (slightly more than f) to focus. Knowing m lets software convert pixels into real apple diameters for size grading.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ag"/>
          <p:cNvSpPr/>
          <p:nvPr/>
        </p:nvSpPr>
        <p:spPr>
          <a:xfrm>
            <a:off x="548640" y="292608"/>
            <a:ext cx="106527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06527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YOUR TURN</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Your turn: checking rice for weevils with a magnifier</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4 minutes, in pairs</a:t>
            </a:r>
            <a:endParaRPr lang="en-US" sz="1100" dirty="0"/>
          </a:p>
        </p:txBody>
      </p:sp>
      <p:pic>
        <p:nvPicPr>
          <p:cNvPr id="7" name="img_magnifier.png" descr="Magnifying glass with the object inside F giving a virtual, upright, magnified image">    </p:cNvPr>
          <p:cNvPicPr>
            <a:picLocks noChangeAspect="1"/>
          </p:cNvPicPr>
          <p:nvPr/>
        </p:nvPicPr>
        <p:blipFill>
          <a:blip r:embed="rId1"/>
          <a:stretch>
            <a:fillRect/>
          </a:stretch>
        </p:blipFill>
        <p:spPr>
          <a:xfrm>
            <a:off x="548640" y="1417320"/>
            <a:ext cx="5120640" cy="2880360"/>
          </a:xfrm>
          <a:prstGeom prst="rect">
            <a:avLst/>
          </a:prstGeom>
        </p:spPr>
      </p:pic>
      <p:sp>
        <p:nvSpPr>
          <p:cNvPr id="8" name="Shape 5"/>
          <p:cNvSpPr/>
          <p:nvPr/>
        </p:nvSpPr>
        <p:spPr>
          <a:xfrm>
            <a:off x="548640" y="4434840"/>
            <a:ext cx="5120640" cy="960120"/>
          </a:xfrm>
          <a:prstGeom prst="roundRect">
            <a:avLst>
              <a:gd name="adj" fmla="val 7619"/>
            </a:avLst>
          </a:prstGeom>
          <a:solidFill>
            <a:schemeClr val="accent2">
              <a:alpha val="12000"/>
            </a:schemeClr>
          </a:solidFill>
          <a:ln w="9525">
            <a:solidFill>
              <a:schemeClr val="accent2">
                <a:alpha val="12000"/>
              </a:schemeClr>
            </a:solidFill>
            <a:prstDash val="solid"/>
          </a:ln>
        </p:spPr>
      </p:sp>
      <p:sp>
        <p:nvSpPr>
          <p:cNvPr id="9" name="Text 6"/>
          <p:cNvSpPr txBox="1"/>
          <p:nvPr/>
        </p:nvSpPr>
        <p:spPr>
          <a:xfrm>
            <a:off x="731520" y="4544568"/>
            <a:ext cx="4754880" cy="74066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Situation</a:t>
            </a:r>
            <a:endParaRPr lang="en-US" sz="1550" dirty="0"/>
          </a:p>
          <a:p>
            <a:pPr indent="0" marL="0">
              <a:spcAft>
                <a:spcPts val="400"/>
              </a:spcAft>
              <a:buNone/>
            </a:pPr>
            <a:r>
              <a:rPr lang="en-US" sz="1550" dirty="0">
                <a:solidFill>
                  <a:schemeClr val="tx1"/>
                </a:solidFill>
              </a:rPr>
              <a:t>A magnifying glass has f = 10 cm. You hold it 5.0 cm above a rice grain.</a:t>
            </a:r>
            <a:endParaRPr lang="en-US" sz="1550" dirty="0"/>
          </a:p>
        </p:txBody>
      </p:sp>
      <p:sp>
        <p:nvSpPr>
          <p:cNvPr id="10" name="Text 7"/>
          <p:cNvSpPr txBox="1"/>
          <p:nvPr/>
        </p:nvSpPr>
        <p:spPr>
          <a:xfrm>
            <a:off x="5943600" y="1463040"/>
            <a:ext cx="5696712" cy="502920"/>
          </a:xfrm>
          <a:prstGeom prst="rect">
            <a:avLst/>
          </a:prstGeom>
          <a:noFill/>
          <a:ln/>
        </p:spPr>
        <p:txBody>
          <a:bodyPr wrap="square" lIns="0" tIns="0" rIns="0" bIns="0" rtlCol="0" anchor="t"/>
          <a:lstStyle/>
          <a:p>
            <a:pPr indent="0" marL="0">
              <a:buNone/>
            </a:pPr>
            <a:r>
              <a:rPr lang="en-US" sz="1600" b="1" dirty="0">
                <a:solidFill>
                  <a:schemeClr val="accent2"/>
                </a:solidFill>
              </a:rPr>
              <a:t>(a)  </a:t>
            </a:r>
            <a:pPr indent="0" marL="0">
              <a:buNone/>
            </a:pPr>
            <a:r>
              <a:rPr lang="en-US" sz="1600" dirty="0">
                <a:solidFill>
                  <a:schemeClr val="tx1"/>
                </a:solidFill>
              </a:rPr>
              <a:t>Use 1/f = 1/d</a:t>
            </a:r>
            <a:pPr indent="0" marL="0">
              <a:buNone/>
            </a:pPr>
            <a:r>
              <a:rPr lang="en-US" sz="1600" baseline="-25000" dirty="0">
                <a:solidFill>
                  <a:schemeClr val="tx1"/>
                </a:solidFill>
              </a:rPr>
              <a:t>o</a:t>
            </a:r>
            <a:pPr indent="0" marL="0">
              <a:buNone/>
            </a:pPr>
            <a:r>
              <a:rPr lang="en-US" sz="1600" dirty="0">
                <a:solidFill>
                  <a:schemeClr val="tx1"/>
                </a:solidFill>
              </a:rPr>
              <a:t> + 1/d</a:t>
            </a:r>
            <a:pPr indent="0" marL="0">
              <a:buNone/>
            </a:pPr>
            <a:r>
              <a:rPr lang="en-US" sz="1600" baseline="-25000" dirty="0">
                <a:solidFill>
                  <a:schemeClr val="tx1"/>
                </a:solidFill>
              </a:rPr>
              <a:t>i</a:t>
            </a:r>
            <a:pPr indent="0" marL="0">
              <a:buNone/>
            </a:pPr>
            <a:r>
              <a:rPr lang="en-US" sz="1600" dirty="0">
                <a:solidFill>
                  <a:schemeClr val="tx1"/>
                </a:solidFill>
              </a:rPr>
              <a:t> to find d</a:t>
            </a:r>
            <a:pPr indent="0" marL="0">
              <a:buNone/>
            </a:pPr>
            <a:r>
              <a:rPr lang="en-US" sz="1600" baseline="-25000" dirty="0">
                <a:solidFill>
                  <a:schemeClr val="tx1"/>
                </a:solidFill>
              </a:rPr>
              <a:t>i</a:t>
            </a:r>
            <a:pPr indent="0" marL="0">
              <a:buNone/>
            </a:pPr>
            <a:r>
              <a:rPr lang="en-US" sz="1600" dirty="0">
                <a:solidFill>
                  <a:schemeClr val="tx1"/>
                </a:solidFill>
              </a:rPr>
              <a:t>.</a:t>
            </a:r>
            <a:endParaRPr lang="en-US" sz="1600" dirty="0"/>
          </a:p>
        </p:txBody>
      </p:sp>
      <p:sp>
        <p:nvSpPr>
          <p:cNvPr id="11" name="Text 8"/>
          <p:cNvSpPr txBox="1"/>
          <p:nvPr/>
        </p:nvSpPr>
        <p:spPr>
          <a:xfrm>
            <a:off x="5943600" y="2011680"/>
            <a:ext cx="5696712" cy="502920"/>
          </a:xfrm>
          <a:prstGeom prst="rect">
            <a:avLst/>
          </a:prstGeom>
          <a:noFill/>
          <a:ln/>
        </p:spPr>
        <p:txBody>
          <a:bodyPr wrap="square" lIns="0" tIns="0" rIns="0" bIns="0" rtlCol="0" anchor="t"/>
          <a:lstStyle/>
          <a:p>
            <a:pPr indent="0" marL="0">
              <a:buNone/>
            </a:pPr>
            <a:r>
              <a:rPr lang="en-US" sz="1600" b="1" dirty="0">
                <a:solidFill>
                  <a:schemeClr val="accent2"/>
                </a:solidFill>
              </a:rPr>
              <a:t>(b)  </a:t>
            </a:r>
            <a:pPr indent="0" marL="0">
              <a:buNone/>
            </a:pPr>
            <a:r>
              <a:rPr lang="en-US" sz="1600" dirty="0">
                <a:solidFill>
                  <a:schemeClr val="tx1"/>
                </a:solidFill>
              </a:rPr>
              <a:t>Find the magnification m.</a:t>
            </a:r>
            <a:endParaRPr lang="en-US" sz="1600" dirty="0"/>
          </a:p>
        </p:txBody>
      </p:sp>
      <p:sp>
        <p:nvSpPr>
          <p:cNvPr id="12" name="Text 9"/>
          <p:cNvSpPr txBox="1"/>
          <p:nvPr/>
        </p:nvSpPr>
        <p:spPr>
          <a:xfrm>
            <a:off x="5943600" y="2560320"/>
            <a:ext cx="5696712" cy="502920"/>
          </a:xfrm>
          <a:prstGeom prst="rect">
            <a:avLst/>
          </a:prstGeom>
          <a:noFill/>
          <a:ln/>
        </p:spPr>
        <p:txBody>
          <a:bodyPr wrap="square" lIns="0" tIns="0" rIns="0" bIns="0" rtlCol="0" anchor="t"/>
          <a:lstStyle/>
          <a:p>
            <a:pPr indent="0" marL="0">
              <a:buNone/>
            </a:pPr>
            <a:r>
              <a:rPr lang="en-US" sz="1600" b="1" dirty="0">
                <a:solidFill>
                  <a:schemeClr val="accent2"/>
                </a:solidFill>
              </a:rPr>
              <a:t>(c)  </a:t>
            </a:r>
            <a:pPr indent="0" marL="0">
              <a:buNone/>
            </a:pPr>
            <a:r>
              <a:rPr lang="en-US" sz="1600" dirty="0">
                <a:solidFill>
                  <a:schemeClr val="tx1"/>
                </a:solidFill>
              </a:rPr>
              <a:t>Describe the image in three words. Why can't you catch it on paper?</a:t>
            </a:r>
            <a:endParaRPr lang="en-US" sz="1600" dirty="0"/>
          </a:p>
        </p:txBody>
      </p:sp>
      <p:sp>
        <p:nvSpPr>
          <p:cNvPr id="13" name="Text 10"/>
          <p:cNvSpPr txBox="1"/>
          <p:nvPr/>
        </p:nvSpPr>
        <p:spPr>
          <a:xfrm>
            <a:off x="5943600" y="349758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4" name="rv1_a_bg"/>
          <p:cNvSpPr/>
          <p:nvPr/>
        </p:nvSpPr>
        <p:spPr>
          <a:xfrm>
            <a:off x="5943600" y="3200400"/>
            <a:ext cx="5696712" cy="960120"/>
          </a:xfrm>
          <a:prstGeom prst="roundRect">
            <a:avLst>
              <a:gd name="adj" fmla="val 7619"/>
            </a:avLst>
          </a:prstGeom>
          <a:solidFill>
            <a:srgbClr val="EAF5EE"/>
          </a:solidFill>
          <a:ln w="15875">
            <a:solidFill>
              <a:schemeClr val="accent3"/>
            </a:solidFill>
            <a:prstDash val="solid"/>
          </a:ln>
        </p:spPr>
      </p:sp>
      <p:sp>
        <p:nvSpPr>
          <p:cNvPr id="15" name="rv1_a_tx"/>
          <p:cNvSpPr txBox="1"/>
          <p:nvPr/>
        </p:nvSpPr>
        <p:spPr>
          <a:xfrm>
            <a:off x="6126480" y="3310128"/>
            <a:ext cx="5330952" cy="740664"/>
          </a:xfrm>
          <a:prstGeom prst="rect">
            <a:avLst/>
          </a:prstGeom>
          <a:noFill/>
          <a:ln/>
        </p:spPr>
        <p:txBody>
          <a:bodyPr wrap="square" lIns="0" tIns="0" rIns="0" bIns="0" rtlCol="0" anchor="t"/>
          <a:lstStyle/>
          <a:p>
            <a:pPr indent="0" marL="0">
              <a:spcAft>
                <a:spcPts val="400"/>
              </a:spcAft>
              <a:buNone/>
            </a:pPr>
            <a:r>
              <a:rPr lang="en-US" sz="1450" b="1" dirty="0">
                <a:solidFill>
                  <a:schemeClr val="tx1"/>
                </a:solidFill>
              </a:rPr>
              <a:t>1/d</a:t>
            </a:r>
            <a:pPr indent="0" marL="0">
              <a:spcAft>
                <a:spcPts val="400"/>
              </a:spcAft>
              <a:buNone/>
            </a:pPr>
            <a:r>
              <a:rPr lang="en-US" sz="1450" b="1" baseline="-25000" dirty="0">
                <a:solidFill>
                  <a:schemeClr val="tx1"/>
                </a:solidFill>
              </a:rPr>
              <a:t>i</a:t>
            </a:r>
            <a:pPr indent="0" marL="0">
              <a:spcAft>
                <a:spcPts val="400"/>
              </a:spcAft>
              <a:buNone/>
            </a:pPr>
            <a:r>
              <a:rPr lang="en-US" sz="1450" b="1" dirty="0">
                <a:solidFill>
                  <a:schemeClr val="tx1"/>
                </a:solidFill>
              </a:rPr>
              <a:t> = 1/10 − 1/5 = −1/10  →  d</a:t>
            </a:r>
            <a:pPr indent="0" marL="0">
              <a:spcAft>
                <a:spcPts val="400"/>
              </a:spcAft>
              <a:buNone/>
            </a:pPr>
            <a:r>
              <a:rPr lang="en-US" sz="1450" b="1" baseline="-25000" dirty="0">
                <a:solidFill>
                  <a:schemeClr val="tx1"/>
                </a:solidFill>
              </a:rPr>
              <a:t>i</a:t>
            </a:r>
            <a:pPr indent="0" marL="0">
              <a:spcAft>
                <a:spcPts val="400"/>
              </a:spcAft>
              <a:buNone/>
            </a:pPr>
            <a:r>
              <a:rPr lang="en-US" sz="1450" b="1" dirty="0">
                <a:solidFill>
                  <a:schemeClr val="tx1"/>
                </a:solidFill>
              </a:rPr>
              <a:t> = −10 cm</a:t>
            </a:r>
            <a:endParaRPr lang="en-US" sz="1450" dirty="0"/>
          </a:p>
          <a:p>
            <a:pPr indent="0" marL="0">
              <a:spcAft>
                <a:spcPts val="400"/>
              </a:spcAft>
              <a:buNone/>
            </a:pPr>
            <a:r>
              <a:rPr lang="en-US" sz="1450" dirty="0">
                <a:solidFill>
                  <a:schemeClr val="tx1"/>
                </a:solidFill>
              </a:rPr>
              <a:t>Negative: the image is on the same side as the grain.</a:t>
            </a:r>
            <a:endParaRPr lang="en-US" sz="1450" dirty="0"/>
          </a:p>
        </p:txBody>
      </p:sp>
      <p:sp>
        <p:nvSpPr>
          <p:cNvPr id="16" name="Text 13"/>
          <p:cNvSpPr txBox="1"/>
          <p:nvPr/>
        </p:nvSpPr>
        <p:spPr>
          <a:xfrm>
            <a:off x="5943600" y="450342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7" name="rv2_b_bg"/>
          <p:cNvSpPr/>
          <p:nvPr/>
        </p:nvSpPr>
        <p:spPr>
          <a:xfrm>
            <a:off x="5943600" y="4297680"/>
            <a:ext cx="5696712" cy="777240"/>
          </a:xfrm>
          <a:prstGeom prst="roundRect">
            <a:avLst>
              <a:gd name="adj" fmla="val 9412"/>
            </a:avLst>
          </a:prstGeom>
          <a:solidFill>
            <a:srgbClr val="EAF5EE"/>
          </a:solidFill>
          <a:ln w="15875">
            <a:solidFill>
              <a:schemeClr val="accent3"/>
            </a:solidFill>
            <a:prstDash val="solid"/>
          </a:ln>
        </p:spPr>
      </p:sp>
      <p:sp>
        <p:nvSpPr>
          <p:cNvPr id="18" name="rv2_b_tx"/>
          <p:cNvSpPr txBox="1"/>
          <p:nvPr/>
        </p:nvSpPr>
        <p:spPr>
          <a:xfrm>
            <a:off x="6126480" y="4407408"/>
            <a:ext cx="5330952" cy="557784"/>
          </a:xfrm>
          <a:prstGeom prst="rect">
            <a:avLst/>
          </a:prstGeom>
          <a:noFill/>
          <a:ln/>
        </p:spPr>
        <p:txBody>
          <a:bodyPr wrap="square" lIns="0" tIns="0" rIns="0" bIns="0" rtlCol="0" anchor="ctr"/>
          <a:lstStyle/>
          <a:p>
            <a:pPr indent="0" marL="0">
              <a:spcAft>
                <a:spcPts val="400"/>
              </a:spcAft>
              <a:buNone/>
            </a:pPr>
            <a:r>
              <a:rPr lang="en-US" sz="1450" b="1" dirty="0">
                <a:solidFill>
                  <a:schemeClr val="tx1"/>
                </a:solidFill>
              </a:rPr>
              <a:t>m = −(−10)/5 = +2  →  twice as big, upright</a:t>
            </a:r>
            <a:endParaRPr lang="en-US" sz="1450" dirty="0"/>
          </a:p>
        </p:txBody>
      </p:sp>
      <p:sp>
        <p:nvSpPr>
          <p:cNvPr id="19" name="Text 16"/>
          <p:cNvSpPr txBox="1"/>
          <p:nvPr/>
        </p:nvSpPr>
        <p:spPr>
          <a:xfrm>
            <a:off x="5943600" y="5509260"/>
            <a:ext cx="56967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0" name="rv3_c_bg"/>
          <p:cNvSpPr/>
          <p:nvPr/>
        </p:nvSpPr>
        <p:spPr>
          <a:xfrm>
            <a:off x="5943600" y="5212080"/>
            <a:ext cx="5696712" cy="960120"/>
          </a:xfrm>
          <a:prstGeom prst="roundRect">
            <a:avLst>
              <a:gd name="adj" fmla="val 7619"/>
            </a:avLst>
          </a:prstGeom>
          <a:solidFill>
            <a:srgbClr val="EAF5EE"/>
          </a:solidFill>
          <a:ln w="15875">
            <a:solidFill>
              <a:schemeClr val="accent3"/>
            </a:solidFill>
            <a:prstDash val="solid"/>
          </a:ln>
        </p:spPr>
      </p:sp>
      <p:sp>
        <p:nvSpPr>
          <p:cNvPr id="21" name="rv3_c_tx"/>
          <p:cNvSpPr txBox="1"/>
          <p:nvPr/>
        </p:nvSpPr>
        <p:spPr>
          <a:xfrm>
            <a:off x="6126480" y="5321808"/>
            <a:ext cx="5330952" cy="740664"/>
          </a:xfrm>
          <a:prstGeom prst="rect">
            <a:avLst/>
          </a:prstGeom>
          <a:noFill/>
          <a:ln/>
        </p:spPr>
        <p:txBody>
          <a:bodyPr wrap="square" lIns="0" tIns="0" rIns="0" bIns="0" rtlCol="0" anchor="t"/>
          <a:lstStyle/>
          <a:p>
            <a:pPr indent="0" marL="0">
              <a:spcAft>
                <a:spcPts val="400"/>
              </a:spcAft>
              <a:buNone/>
            </a:pPr>
            <a:r>
              <a:rPr lang="en-US" sz="1450" dirty="0">
                <a:solidFill>
                  <a:schemeClr val="tx1"/>
                </a:solidFill>
              </a:rPr>
              <a:t>Virtual, upright, magnified. The light never actually meets there — it only appears to come from behind the lens.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4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400"/>
                                        <p:tgtEl>
                                          <p:spTgt spid="2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18" grpId="0" animBg="1"/>
      <p:bldP spid="20" grpId="0" animBg="1"/>
      <p:bldP spid="2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eye: a camera that refocuses itself</a:t>
            </a:r>
            <a:endParaRPr lang="en-US" sz="3000" dirty="0"/>
          </a:p>
        </p:txBody>
      </p:sp>
      <p:pic>
        <p:nvPicPr>
          <p:cNvPr id="5" name="img_eye.png" descr="Normal, short-sighted and long-sighted eyes with focusing rays">    </p:cNvPr>
          <p:cNvPicPr>
            <a:picLocks noChangeAspect="1"/>
          </p:cNvPicPr>
          <p:nvPr/>
        </p:nvPicPr>
        <p:blipFill>
          <a:blip r:embed="rId1"/>
          <a:stretch>
            <a:fillRect/>
          </a:stretch>
        </p:blipFill>
        <p:spPr>
          <a:xfrm>
            <a:off x="1145229" y="1417320"/>
            <a:ext cx="9901238" cy="3017520"/>
          </a:xfrm>
          <a:prstGeom prst="rect">
            <a:avLst/>
          </a:prstGeom>
        </p:spPr>
      </p:pic>
      <p:sp>
        <p:nvSpPr>
          <p:cNvPr id="6" name="Text 3"/>
          <p:cNvSpPr txBox="1"/>
          <p:nvPr/>
        </p:nvSpPr>
        <p:spPr>
          <a:xfrm>
            <a:off x="548640" y="457200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Most of the focusing is done by the cornea; </a:t>
            </a:r>
            <a:pPr indent="0" marL="0">
              <a:spcAft>
                <a:spcPts val="800"/>
              </a:spcAft>
              <a:buNone/>
            </a:pPr>
            <a:r>
              <a:rPr lang="en-US" sz="1500" dirty="0">
                <a:solidFill>
                  <a:schemeClr val="tx1"/>
                </a:solidFill>
              </a:rPr>
              <a:t>the lens fine-tunes it by changing shape (accommodation). The image on the retina is real and inverted — the brain flips it.</a:t>
            </a:r>
            <a:endParaRPr lang="en-US" sz="1500" dirty="0"/>
          </a:p>
          <a:p>
            <a:pPr marL="228600" indent="-228600">
              <a:spcAft>
                <a:spcPts val="800"/>
              </a:spcAft>
              <a:buSzPct val="100000"/>
              <a:buChar char="•"/>
            </a:pPr>
            <a:r>
              <a:rPr lang="en-US" sz="1500" b="1" dirty="0">
                <a:solidFill>
                  <a:schemeClr val="tx2"/>
                </a:solidFill>
              </a:rPr>
              <a:t>Short-sighted (myopia): </a:t>
            </a:r>
            <a:pPr indent="0" marL="0">
              <a:spcAft>
                <a:spcPts val="800"/>
              </a:spcAft>
              <a:buNone/>
            </a:pPr>
            <a:r>
              <a:rPr lang="en-US" sz="1500" dirty="0">
                <a:solidFill>
                  <a:schemeClr val="tx1"/>
                </a:solidFill>
              </a:rPr>
              <a:t>the eye focuses too strongly, in front of the retina → a diverging lens spreads the light first.</a:t>
            </a:r>
            <a:endParaRPr lang="en-US" sz="1500" dirty="0"/>
          </a:p>
          <a:p>
            <a:pPr marL="228600" indent="-228600">
              <a:spcAft>
                <a:spcPts val="800"/>
              </a:spcAft>
              <a:buSzPct val="100000"/>
              <a:buChar char="•"/>
            </a:pPr>
            <a:r>
              <a:rPr lang="en-US" sz="1500" b="1" dirty="0">
                <a:solidFill>
                  <a:schemeClr val="tx2"/>
                </a:solidFill>
              </a:rPr>
              <a:t>Long-sighted (hyperopia) and ageing (presbyopia): </a:t>
            </a:r>
            <a:pPr indent="0" marL="0">
              <a:spcAft>
                <a:spcPts val="800"/>
              </a:spcAft>
              <a:buNone/>
            </a:pPr>
            <a:r>
              <a:rPr lang="en-US" sz="1500" dirty="0">
                <a:solidFill>
                  <a:schemeClr val="tx1"/>
                </a:solidFill>
              </a:rPr>
              <a:t>too weak → a converging lens adds power.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compound microscope: two lenses working together</a:t>
            </a:r>
            <a:endParaRPr lang="en-US" sz="3000" dirty="0"/>
          </a:p>
        </p:txBody>
      </p:sp>
      <p:pic>
        <p:nvPicPr>
          <p:cNvPr id="5" name="img_microscope.png" descr="Compound microscope: objective forms a real magnified image, eyepiece magnifies it further">    </p:cNvPr>
          <p:cNvPicPr>
            <a:picLocks noChangeAspect="1"/>
          </p:cNvPicPr>
          <p:nvPr/>
        </p:nvPicPr>
        <p:blipFill>
          <a:blip r:embed="rId1"/>
          <a:stretch>
            <a:fillRect/>
          </a:stretch>
        </p:blipFill>
        <p:spPr>
          <a:xfrm>
            <a:off x="548640" y="1428206"/>
            <a:ext cx="6949440" cy="2812869"/>
          </a:xfrm>
          <a:prstGeom prst="rect">
            <a:avLst/>
          </a:prstGeom>
        </p:spPr>
      </p:pic>
      <p:sp>
        <p:nvSpPr>
          <p:cNvPr id="6" name="Text 3"/>
          <p:cNvSpPr txBox="1"/>
          <p:nvPr/>
        </p:nvSpPr>
        <p:spPr>
          <a:xfrm>
            <a:off x="7772400" y="1463040"/>
            <a:ext cx="3867912" cy="438912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Objective lens (very short f): </a:t>
            </a:r>
            <a:pPr indent="0" marL="0">
              <a:spcAft>
                <a:spcPts val="800"/>
              </a:spcAft>
              <a:buNone/>
            </a:pPr>
            <a:r>
              <a:rPr lang="en-US" sz="1500" dirty="0">
                <a:solidFill>
                  <a:schemeClr val="tx1"/>
                </a:solidFill>
              </a:rPr>
              <a:t>the specimen sits just outside F, so it forms a real, inverted, magnified image (like a projector).</a:t>
            </a:r>
            <a:endParaRPr lang="en-US" sz="1500" dirty="0"/>
          </a:p>
          <a:p>
            <a:pPr marL="228600" indent="-228600">
              <a:spcAft>
                <a:spcPts val="800"/>
              </a:spcAft>
              <a:buSzPct val="100000"/>
              <a:buChar char="•"/>
            </a:pPr>
            <a:r>
              <a:rPr lang="en-US" sz="1500" b="1" dirty="0">
                <a:solidFill>
                  <a:schemeClr val="tx2"/>
                </a:solidFill>
              </a:rPr>
              <a:t>Eyepiece: </a:t>
            </a:r>
            <a:pPr indent="0" marL="0">
              <a:spcAft>
                <a:spcPts val="800"/>
              </a:spcAft>
              <a:buNone/>
            </a:pPr>
            <a:r>
              <a:rPr lang="en-US" sz="1500" dirty="0">
                <a:solidFill>
                  <a:schemeClr val="tx1"/>
                </a:solidFill>
              </a:rPr>
              <a:t>acts as a magnifying glass on that image → a virtual, further-magnified image.</a:t>
            </a:r>
            <a:endParaRPr lang="en-US" sz="1500" dirty="0"/>
          </a:p>
          <a:p>
            <a:pPr marL="228600" indent="-228600">
              <a:spcAft>
                <a:spcPts val="800"/>
              </a:spcAft>
              <a:buSzPct val="100000"/>
              <a:buChar char="•"/>
            </a:pPr>
            <a:r>
              <a:rPr lang="en-US" sz="1500" b="1" dirty="0">
                <a:solidFill>
                  <a:schemeClr val="tx2"/>
                </a:solidFill>
              </a:rPr>
              <a:t>Total magnification </a:t>
            </a:r>
            <a:pPr indent="0" marL="0">
              <a:spcAft>
                <a:spcPts val="800"/>
              </a:spcAft>
              <a:buNone/>
            </a:pPr>
            <a:r>
              <a:rPr lang="en-US" sz="1500" dirty="0">
                <a:solidFill>
                  <a:schemeClr val="tx1"/>
                </a:solidFill>
              </a:rPr>
              <a:t>= objective × eyepiece, e.g. 40× × 10× = 400×; 100× oil × 10× = 1000×.</a:t>
            </a:r>
            <a:endParaRPr lang="en-US" sz="1500" dirty="0"/>
          </a:p>
        </p:txBody>
      </p:sp>
      <p:sp>
        <p:nvSpPr>
          <p:cNvPr id="7" name="Shape 4"/>
          <p:cNvSpPr/>
          <p:nvPr/>
        </p:nvSpPr>
        <p:spPr>
          <a:xfrm>
            <a:off x="548640" y="4434840"/>
            <a:ext cx="6949440" cy="1097280"/>
          </a:xfrm>
          <a:prstGeom prst="roundRect">
            <a:avLst>
              <a:gd name="adj" fmla="val 6667"/>
            </a:avLst>
          </a:prstGeom>
          <a:solidFill>
            <a:schemeClr val="accent2">
              <a:alpha val="12000"/>
            </a:schemeClr>
          </a:solidFill>
          <a:ln w="9525">
            <a:solidFill>
              <a:schemeClr val="accent2">
                <a:alpha val="12000"/>
              </a:schemeClr>
            </a:solidFill>
            <a:prstDash val="solid"/>
          </a:ln>
        </p:spPr>
      </p:sp>
      <p:sp>
        <p:nvSpPr>
          <p:cNvPr id="8" name="Text 5"/>
          <p:cNvSpPr txBox="1"/>
          <p:nvPr/>
        </p:nvSpPr>
        <p:spPr>
          <a:xfrm>
            <a:off x="731520" y="4544568"/>
            <a:ext cx="6583680" cy="87782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But magnification is not everything</a:t>
            </a:r>
            <a:endParaRPr lang="en-US" sz="1500" dirty="0"/>
          </a:p>
          <a:p>
            <a:pPr indent="0" marL="0">
              <a:spcAft>
                <a:spcPts val="400"/>
              </a:spcAft>
              <a:buNone/>
            </a:pPr>
            <a:r>
              <a:rPr lang="en-US" sz="1500" dirty="0">
                <a:solidFill>
                  <a:schemeClr val="tx1"/>
                </a:solidFill>
              </a:rPr>
              <a:t>A bigger image is only useful if it contains more detail. How much detail a microscope can show is set by diffraction — Part F.</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Will a stronger eyepiece show more detail?</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Text 5"/>
          <p:cNvSpPr txBox="1"/>
          <p:nvPr/>
        </p:nvSpPr>
        <p:spPr>
          <a:xfrm>
            <a:off x="548640" y="1463040"/>
            <a:ext cx="11094415" cy="82296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Your 1000× image of yeast cells looks fuzzy even when perfectly focused. A classmate swaps the 10× eyepiece for a 20× one (2000× total). What happens?</a:t>
            </a:r>
            <a:endParaRPr lang="en-US" sz="1700" dirty="0"/>
          </a:p>
        </p:txBody>
      </p:sp>
      <p:sp>
        <p:nvSpPr>
          <p:cNvPr id="8" name="Shape 6"/>
          <p:cNvSpPr/>
          <p:nvPr/>
        </p:nvSpPr>
        <p:spPr>
          <a:xfrm>
            <a:off x="548640" y="2377440"/>
            <a:ext cx="5432908" cy="800100"/>
          </a:xfrm>
          <a:prstGeom prst="roundRect">
            <a:avLst>
              <a:gd name="adj" fmla="val 9143"/>
            </a:avLst>
          </a:prstGeom>
          <a:solidFill>
            <a:schemeClr val="tx2">
              <a:alpha val="6000"/>
            </a:schemeClr>
          </a:solidFill>
          <a:ln w="9525">
            <a:solidFill>
              <a:schemeClr val="tx2">
                <a:alpha val="6000"/>
              </a:schemeClr>
            </a:solidFill>
            <a:prstDash val="solid"/>
          </a:ln>
        </p:spPr>
      </p:sp>
      <p:sp>
        <p:nvSpPr>
          <p:cNvPr id="9" name="Shape 7"/>
          <p:cNvSpPr/>
          <p:nvPr/>
        </p:nvSpPr>
        <p:spPr>
          <a:xfrm>
            <a:off x="713232" y="2530602"/>
            <a:ext cx="493776" cy="493776"/>
          </a:xfrm>
          <a:prstGeom prst="ellipse">
            <a:avLst/>
          </a:prstGeom>
          <a:solidFill>
            <a:schemeClr val="accent2"/>
          </a:solidFill>
          <a:ln w="12700">
            <a:solidFill>
              <a:schemeClr val="accent2"/>
            </a:solidFill>
            <a:prstDash val="solid"/>
          </a:ln>
        </p:spPr>
      </p:sp>
      <p:sp>
        <p:nvSpPr>
          <p:cNvPr id="10" name="Text 8"/>
          <p:cNvSpPr txBox="1"/>
          <p:nvPr/>
        </p:nvSpPr>
        <p:spPr>
          <a:xfrm>
            <a:off x="713232" y="25306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9"/>
          <p:cNvSpPr txBox="1"/>
          <p:nvPr/>
        </p:nvSpPr>
        <p:spPr>
          <a:xfrm>
            <a:off x="1371600" y="2450592"/>
            <a:ext cx="4472788" cy="653796"/>
          </a:xfrm>
          <a:prstGeom prst="rect">
            <a:avLst/>
          </a:prstGeom>
          <a:noFill/>
          <a:ln/>
        </p:spPr>
        <p:txBody>
          <a:bodyPr wrap="square" lIns="0" tIns="0" rIns="0" bIns="0" rtlCol="0" anchor="ctr"/>
          <a:lstStyle/>
          <a:p>
            <a:pPr indent="0" marL="0">
              <a:buNone/>
            </a:pPr>
            <a:r>
              <a:rPr lang="en-US" sz="1600" dirty="0">
                <a:solidFill>
                  <a:schemeClr val="tx1"/>
                </a:solidFill>
              </a:rPr>
              <a:t>You see twice as much detail</a:t>
            </a:r>
            <a:endParaRPr lang="en-US" sz="1600" dirty="0"/>
          </a:p>
        </p:txBody>
      </p:sp>
      <p:sp>
        <p:nvSpPr>
          <p:cNvPr id="12" name="Shape 10"/>
          <p:cNvSpPr/>
          <p:nvPr/>
        </p:nvSpPr>
        <p:spPr>
          <a:xfrm>
            <a:off x="6210148" y="2377440"/>
            <a:ext cx="5432908" cy="800100"/>
          </a:xfrm>
          <a:prstGeom prst="roundRect">
            <a:avLst>
              <a:gd name="adj" fmla="val 9143"/>
            </a:avLst>
          </a:prstGeom>
          <a:solidFill>
            <a:schemeClr val="tx2">
              <a:alpha val="6000"/>
            </a:schemeClr>
          </a:solidFill>
          <a:ln w="9525">
            <a:solidFill>
              <a:schemeClr val="tx2">
                <a:alpha val="6000"/>
              </a:schemeClr>
            </a:solidFill>
            <a:prstDash val="solid"/>
          </a:ln>
        </p:spPr>
      </p:sp>
      <p:sp>
        <p:nvSpPr>
          <p:cNvPr id="13" name="Shape 11"/>
          <p:cNvSpPr/>
          <p:nvPr/>
        </p:nvSpPr>
        <p:spPr>
          <a:xfrm>
            <a:off x="6374740" y="2530602"/>
            <a:ext cx="493776" cy="493776"/>
          </a:xfrm>
          <a:prstGeom prst="ellipse">
            <a:avLst/>
          </a:prstGeom>
          <a:solidFill>
            <a:schemeClr val="accent2"/>
          </a:solidFill>
          <a:ln w="12700">
            <a:solidFill>
              <a:schemeClr val="accent2"/>
            </a:solidFill>
            <a:prstDash val="solid"/>
          </a:ln>
        </p:spPr>
      </p:sp>
      <p:sp>
        <p:nvSpPr>
          <p:cNvPr id="14" name="Text 12"/>
          <p:cNvSpPr txBox="1"/>
          <p:nvPr/>
        </p:nvSpPr>
        <p:spPr>
          <a:xfrm>
            <a:off x="6374740" y="25306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3"/>
          <p:cNvSpPr txBox="1"/>
          <p:nvPr/>
        </p:nvSpPr>
        <p:spPr>
          <a:xfrm>
            <a:off x="7033108" y="2450592"/>
            <a:ext cx="4472788" cy="653796"/>
          </a:xfrm>
          <a:prstGeom prst="rect">
            <a:avLst/>
          </a:prstGeom>
          <a:noFill/>
          <a:ln/>
        </p:spPr>
        <p:txBody>
          <a:bodyPr wrap="square" lIns="0" tIns="0" rIns="0" bIns="0" rtlCol="0" anchor="ctr"/>
          <a:lstStyle/>
          <a:p>
            <a:pPr indent="0" marL="0">
              <a:buNone/>
            </a:pPr>
            <a:r>
              <a:rPr lang="en-US" sz="1600" dirty="0">
                <a:solidFill>
                  <a:schemeClr val="tx1"/>
                </a:solidFill>
              </a:rPr>
              <a:t>The image is bigger but no sharper</a:t>
            </a:r>
            <a:endParaRPr lang="en-US" sz="1600" dirty="0"/>
          </a:p>
        </p:txBody>
      </p:sp>
      <p:sp>
        <p:nvSpPr>
          <p:cNvPr id="16" name="rv1_ring"/>
          <p:cNvSpPr/>
          <p:nvPr/>
        </p:nvSpPr>
        <p:spPr>
          <a:xfrm>
            <a:off x="6164428" y="2331720"/>
            <a:ext cx="5524348" cy="891540"/>
          </a:xfrm>
          <a:prstGeom prst="roundRect">
            <a:avLst>
              <a:gd name="adj" fmla="val 10256"/>
            </a:avLst>
          </a:prstGeom>
          <a:solidFill>
            <a:schemeClr val="bg1">
              <a:alpha val="0"/>
            </a:schemeClr>
          </a:solidFill>
          <a:ln w="50800">
            <a:solidFill>
              <a:schemeClr val="accent3"/>
            </a:solidFill>
            <a:prstDash val="solid"/>
          </a:ln>
        </p:spPr>
      </p:sp>
      <p:sp>
        <p:nvSpPr>
          <p:cNvPr id="17" name="Shape 15"/>
          <p:cNvSpPr/>
          <p:nvPr/>
        </p:nvSpPr>
        <p:spPr>
          <a:xfrm>
            <a:off x="548640" y="3406140"/>
            <a:ext cx="5432908" cy="800100"/>
          </a:xfrm>
          <a:prstGeom prst="roundRect">
            <a:avLst>
              <a:gd name="adj" fmla="val 9143"/>
            </a:avLst>
          </a:prstGeom>
          <a:solidFill>
            <a:schemeClr val="tx2">
              <a:alpha val="6000"/>
            </a:schemeClr>
          </a:solidFill>
          <a:ln w="9525">
            <a:solidFill>
              <a:schemeClr val="tx2">
                <a:alpha val="6000"/>
              </a:schemeClr>
            </a:solidFill>
            <a:prstDash val="solid"/>
          </a:ln>
        </p:spPr>
      </p:sp>
      <p:sp>
        <p:nvSpPr>
          <p:cNvPr id="18" name="Shape 16"/>
          <p:cNvSpPr/>
          <p:nvPr/>
        </p:nvSpPr>
        <p:spPr>
          <a:xfrm>
            <a:off x="713232" y="3559302"/>
            <a:ext cx="493776" cy="493776"/>
          </a:xfrm>
          <a:prstGeom prst="ellipse">
            <a:avLst/>
          </a:prstGeom>
          <a:solidFill>
            <a:schemeClr val="accent2"/>
          </a:solidFill>
          <a:ln w="12700">
            <a:solidFill>
              <a:schemeClr val="accent2"/>
            </a:solidFill>
            <a:prstDash val="solid"/>
          </a:ln>
        </p:spPr>
      </p:sp>
      <p:sp>
        <p:nvSpPr>
          <p:cNvPr id="19" name="Text 17"/>
          <p:cNvSpPr txBox="1"/>
          <p:nvPr/>
        </p:nvSpPr>
        <p:spPr>
          <a:xfrm>
            <a:off x="713232" y="35593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20" name="Text 18"/>
          <p:cNvSpPr txBox="1"/>
          <p:nvPr/>
        </p:nvSpPr>
        <p:spPr>
          <a:xfrm>
            <a:off x="1371600" y="3479292"/>
            <a:ext cx="4472788" cy="653796"/>
          </a:xfrm>
          <a:prstGeom prst="rect">
            <a:avLst/>
          </a:prstGeom>
          <a:noFill/>
          <a:ln/>
        </p:spPr>
        <p:txBody>
          <a:bodyPr wrap="square" lIns="0" tIns="0" rIns="0" bIns="0" rtlCol="0" anchor="ctr"/>
          <a:lstStyle/>
          <a:p>
            <a:pPr indent="0" marL="0">
              <a:buNone/>
            </a:pPr>
            <a:r>
              <a:rPr lang="en-US" sz="1600" dirty="0">
                <a:solidFill>
                  <a:schemeClr val="tx1"/>
                </a:solidFill>
              </a:rPr>
              <a:t>The image becomes sharper and brighter</a:t>
            </a:r>
            <a:endParaRPr lang="en-US" sz="1600" dirty="0"/>
          </a:p>
        </p:txBody>
      </p:sp>
      <p:sp>
        <p:nvSpPr>
          <p:cNvPr id="21" name="Shape 19"/>
          <p:cNvSpPr/>
          <p:nvPr/>
        </p:nvSpPr>
        <p:spPr>
          <a:xfrm>
            <a:off x="6210148" y="3406140"/>
            <a:ext cx="5432908" cy="800100"/>
          </a:xfrm>
          <a:prstGeom prst="roundRect">
            <a:avLst>
              <a:gd name="adj" fmla="val 9143"/>
            </a:avLst>
          </a:prstGeom>
          <a:solidFill>
            <a:schemeClr val="tx2">
              <a:alpha val="6000"/>
            </a:schemeClr>
          </a:solidFill>
          <a:ln w="9525">
            <a:solidFill>
              <a:schemeClr val="tx2">
                <a:alpha val="6000"/>
              </a:schemeClr>
            </a:solidFill>
            <a:prstDash val="solid"/>
          </a:ln>
        </p:spPr>
      </p:sp>
      <p:sp>
        <p:nvSpPr>
          <p:cNvPr id="22" name="Shape 20"/>
          <p:cNvSpPr/>
          <p:nvPr/>
        </p:nvSpPr>
        <p:spPr>
          <a:xfrm>
            <a:off x="6374740" y="3559302"/>
            <a:ext cx="493776" cy="493776"/>
          </a:xfrm>
          <a:prstGeom prst="ellipse">
            <a:avLst/>
          </a:prstGeom>
          <a:solidFill>
            <a:schemeClr val="accent2"/>
          </a:solidFill>
          <a:ln w="12700">
            <a:solidFill>
              <a:schemeClr val="accent2"/>
            </a:solidFill>
            <a:prstDash val="solid"/>
          </a:ln>
        </p:spPr>
      </p:sp>
      <p:sp>
        <p:nvSpPr>
          <p:cNvPr id="23" name="Text 21"/>
          <p:cNvSpPr txBox="1"/>
          <p:nvPr/>
        </p:nvSpPr>
        <p:spPr>
          <a:xfrm>
            <a:off x="6374740" y="35593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4" name="Text 22"/>
          <p:cNvSpPr txBox="1"/>
          <p:nvPr/>
        </p:nvSpPr>
        <p:spPr>
          <a:xfrm>
            <a:off x="7033108" y="3479292"/>
            <a:ext cx="4472788" cy="653796"/>
          </a:xfrm>
          <a:prstGeom prst="rect">
            <a:avLst/>
          </a:prstGeom>
          <a:noFill/>
          <a:ln/>
        </p:spPr>
        <p:txBody>
          <a:bodyPr wrap="square" lIns="0" tIns="0" rIns="0" bIns="0" rtlCol="0" anchor="ctr"/>
          <a:lstStyle/>
          <a:p>
            <a:pPr indent="0" marL="0">
              <a:buNone/>
            </a:pPr>
            <a:r>
              <a:rPr lang="en-US" sz="1600" dirty="0">
                <a:solidFill>
                  <a:schemeClr val="tx1"/>
                </a:solidFill>
              </a:rPr>
              <a:t>You can now see individual proteins</a:t>
            </a:r>
            <a:endParaRPr lang="en-US" sz="1600" dirty="0"/>
          </a:p>
        </p:txBody>
      </p:sp>
      <p:sp>
        <p:nvSpPr>
          <p:cNvPr id="25" name="Text 23"/>
          <p:cNvSpPr txBox="1"/>
          <p:nvPr/>
        </p:nvSpPr>
        <p:spPr>
          <a:xfrm>
            <a:off x="548640" y="512064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6" name="rv1_ans_bg"/>
          <p:cNvSpPr/>
          <p:nvPr/>
        </p:nvSpPr>
        <p:spPr>
          <a:xfrm>
            <a:off x="548640" y="4434840"/>
            <a:ext cx="11094415" cy="1737360"/>
          </a:xfrm>
          <a:prstGeom prst="roundRect">
            <a:avLst>
              <a:gd name="adj" fmla="val 4211"/>
            </a:avLst>
          </a:prstGeom>
          <a:solidFill>
            <a:srgbClr val="EAF5EE"/>
          </a:solidFill>
          <a:ln w="15875">
            <a:solidFill>
              <a:schemeClr val="accent3"/>
            </a:solidFill>
            <a:prstDash val="solid"/>
          </a:ln>
        </p:spPr>
      </p:sp>
      <p:sp>
        <p:nvSpPr>
          <p:cNvPr id="27" name="rv1_ans_tx"/>
          <p:cNvSpPr txBox="1"/>
          <p:nvPr/>
        </p:nvSpPr>
        <p:spPr>
          <a:xfrm>
            <a:off x="731520" y="4544568"/>
            <a:ext cx="10728655" cy="15179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B — "empty magnification"</a:t>
            </a:r>
            <a:endParaRPr lang="en-US" sz="1500" dirty="0"/>
          </a:p>
          <a:p>
            <a:pPr indent="0" marL="0">
              <a:spcAft>
                <a:spcPts val="400"/>
              </a:spcAft>
              <a:buNone/>
            </a:pPr>
            <a:r>
              <a:rPr lang="en-US" sz="1500" dirty="0">
                <a:solidFill>
                  <a:schemeClr val="tx1"/>
                </a:solidFill>
              </a:rPr>
              <a:t>The fuzziness comes from diffraction in the objective, not from the image being too small. Magnifying a blurry image just gives a bigger blur.</a:t>
            </a:r>
            <a:endParaRPr lang="en-US" sz="1500" dirty="0"/>
          </a:p>
          <a:p>
            <a:pPr indent="0" marL="0">
              <a:spcAft>
                <a:spcPts val="400"/>
              </a:spcAft>
              <a:buNone/>
            </a:pPr>
            <a:r>
              <a:rPr lang="en-US" sz="1500" dirty="0">
                <a:solidFill>
                  <a:schemeClr val="accent6"/>
                </a:solidFill>
              </a:rPr>
              <a:t>To see more detail you need better resolution: a higher-NA objective, shorter wavelength light, or a different kind of microscope (Part F).</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E</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Interference</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Part 2 begins: light behaving as a wave — double slits, soap films, rainbow sheens and gratings</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Young's double slit: proof that light is a wave</a:t>
            </a:r>
            <a:endParaRPr lang="en-US" sz="3000" dirty="0"/>
          </a:p>
        </p:txBody>
      </p:sp>
      <p:pic>
        <p:nvPicPr>
          <p:cNvPr id="5" name="img_double_slit.png" descr="Waves from two slits overlapping, producing bright and dark fringes on a screen">    </p:cNvPr>
          <p:cNvPicPr>
            <a:picLocks noChangeAspect="1"/>
          </p:cNvPicPr>
          <p:nvPr/>
        </p:nvPicPr>
        <p:blipFill>
          <a:blip r:embed="rId1"/>
          <a:stretch>
            <a:fillRect/>
          </a:stretch>
        </p:blipFill>
        <p:spPr>
          <a:xfrm>
            <a:off x="563078" y="1417320"/>
            <a:ext cx="6737684" cy="3200400"/>
          </a:xfrm>
          <a:prstGeom prst="rect">
            <a:avLst/>
          </a:prstGeom>
        </p:spPr>
      </p:pic>
      <p:sp>
        <p:nvSpPr>
          <p:cNvPr id="6" name="Text 3"/>
          <p:cNvSpPr txBox="1"/>
          <p:nvPr/>
        </p:nvSpPr>
        <p:spPr>
          <a:xfrm>
            <a:off x="7589520" y="1463040"/>
            <a:ext cx="4050792" cy="40233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Two narrow slits </a:t>
            </a:r>
            <a:pPr indent="0" marL="0">
              <a:spcAft>
                <a:spcPts val="800"/>
              </a:spcAft>
              <a:buNone/>
            </a:pPr>
            <a:r>
              <a:rPr lang="en-US" sz="1500" dirty="0">
                <a:solidFill>
                  <a:schemeClr val="tx1"/>
                </a:solidFill>
              </a:rPr>
              <a:t>act as two coherent sources (same frequency, fixed phase).</a:t>
            </a:r>
            <a:endParaRPr lang="en-US" sz="1500" dirty="0"/>
          </a:p>
          <a:p>
            <a:pPr marL="228600" indent="-228600">
              <a:spcAft>
                <a:spcPts val="800"/>
              </a:spcAft>
              <a:buSzPct val="100000"/>
              <a:buChar char="•"/>
            </a:pPr>
            <a:r>
              <a:rPr lang="en-US" sz="1500" b="1" dirty="0">
                <a:solidFill>
                  <a:schemeClr val="tx2"/>
                </a:solidFill>
              </a:rPr>
              <a:t>Where crests meet crests </a:t>
            </a:r>
            <a:pPr indent="0" marL="0">
              <a:spcAft>
                <a:spcPts val="800"/>
              </a:spcAft>
              <a:buNone/>
            </a:pPr>
            <a:r>
              <a:rPr lang="en-US" sz="1500" dirty="0">
                <a:solidFill>
                  <a:schemeClr val="tx1"/>
                </a:solidFill>
              </a:rPr>
              <a:t>(path difference = 0, λ, 2λ …) → bright fringe.</a:t>
            </a:r>
            <a:endParaRPr lang="en-US" sz="1500" dirty="0"/>
          </a:p>
          <a:p>
            <a:pPr marL="228600" indent="-228600">
              <a:spcAft>
                <a:spcPts val="800"/>
              </a:spcAft>
              <a:buSzPct val="100000"/>
              <a:buChar char="•"/>
            </a:pPr>
            <a:r>
              <a:rPr lang="en-US" sz="1500" b="1" dirty="0">
                <a:solidFill>
                  <a:schemeClr val="tx2"/>
                </a:solidFill>
              </a:rPr>
              <a:t>Where crests meet troughs </a:t>
            </a:r>
            <a:pPr indent="0" marL="0">
              <a:spcAft>
                <a:spcPts val="800"/>
              </a:spcAft>
              <a:buNone/>
            </a:pPr>
            <a:r>
              <a:rPr lang="en-US" sz="1500" dirty="0">
                <a:solidFill>
                  <a:schemeClr val="tx1"/>
                </a:solidFill>
              </a:rPr>
              <a:t>(path difference = ½λ, 1½λ …) → dark fringe.</a:t>
            </a:r>
            <a:endParaRPr lang="en-US" sz="1500" dirty="0"/>
          </a:p>
          <a:p>
            <a:pPr marL="228600" indent="-228600">
              <a:spcAft>
                <a:spcPts val="800"/>
              </a:spcAft>
              <a:buSzPct val="100000"/>
              <a:buChar char="•"/>
            </a:pPr>
            <a:r>
              <a:rPr lang="en-US" sz="1500" b="1" dirty="0">
                <a:solidFill>
                  <a:schemeClr val="tx2"/>
                </a:solidFill>
              </a:rPr>
              <a:t>Particles could never produce dark bands </a:t>
            </a:r>
            <a:pPr indent="0" marL="0">
              <a:spcAft>
                <a:spcPts val="800"/>
              </a:spcAft>
              <a:buNone/>
            </a:pPr>
            <a:r>
              <a:rPr lang="en-US" sz="1500" dirty="0">
                <a:solidFill>
                  <a:schemeClr val="tx1"/>
                </a:solidFill>
              </a:rPr>
              <a:t>by adding more light — only waves can cancel.</a:t>
            </a:r>
            <a:endParaRPr lang="en-US" sz="1500" dirty="0"/>
          </a:p>
        </p:txBody>
      </p:sp>
      <p:sp>
        <p:nvSpPr>
          <p:cNvPr id="7" name="Shape 4"/>
          <p:cNvSpPr/>
          <p:nvPr/>
        </p:nvSpPr>
        <p:spPr>
          <a:xfrm>
            <a:off x="548640" y="4800600"/>
            <a:ext cx="6766560" cy="960120"/>
          </a:xfrm>
          <a:prstGeom prst="roundRect">
            <a:avLst>
              <a:gd name="adj" fmla="val 7619"/>
            </a:avLst>
          </a:prstGeom>
          <a:solidFill>
            <a:schemeClr val="accent1">
              <a:alpha val="12000"/>
            </a:schemeClr>
          </a:solidFill>
          <a:ln w="9525">
            <a:solidFill>
              <a:schemeClr val="accent1">
                <a:alpha val="12000"/>
              </a:schemeClr>
            </a:solidFill>
            <a:prstDash val="solid"/>
          </a:ln>
        </p:spPr>
      </p:sp>
      <p:sp>
        <p:nvSpPr>
          <p:cNvPr id="8" name="Text 5"/>
          <p:cNvSpPr txBox="1"/>
          <p:nvPr/>
        </p:nvSpPr>
        <p:spPr>
          <a:xfrm>
            <a:off x="731520" y="4910328"/>
            <a:ext cx="6400800" cy="740664"/>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Link</a:t>
            </a:r>
            <a:endParaRPr lang="en-US" sz="1500" dirty="0"/>
          </a:p>
          <a:p>
            <a:pPr indent="0" marL="0">
              <a:spcAft>
                <a:spcPts val="400"/>
              </a:spcAft>
              <a:buNone/>
            </a:pPr>
            <a:r>
              <a:rPr lang="en-US" sz="1500" dirty="0">
                <a:solidFill>
                  <a:schemeClr val="tx1"/>
                </a:solidFill>
              </a:rPr>
              <a:t>This is the superposition and interference from the waves lecture — now with light.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TRY IT LIVE</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Predict, then test: what changes the fringe spacing?</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5 minutes, in pairs</a:t>
            </a:r>
            <a:endParaRPr lang="en-US" sz="1100" dirty="0"/>
          </a:p>
        </p:txBody>
      </p:sp>
      <p:sp>
        <p:nvSpPr>
          <p:cNvPr id="7" name="Shape 5">
            <a:hlinkClick r:id="rId1" tooltip=""/>
          </p:cNvPr>
          <p:cNvSpPr/>
          <p:nvPr/>
        </p:nvSpPr>
        <p:spPr>
          <a:xfrm>
            <a:off x="7498080" y="1481328"/>
            <a:ext cx="4142232" cy="502920"/>
          </a:xfrm>
          <a:prstGeom prst="roundRect">
            <a:avLst>
              <a:gd name="adj" fmla="val 21818"/>
            </a:avLst>
          </a:prstGeom>
          <a:solidFill>
            <a:schemeClr val="accent2"/>
          </a:solidFill>
          <a:ln w="12700">
            <a:solidFill>
              <a:schemeClr val="accent2"/>
            </a:solidFill>
            <a:prstDash val="solid"/>
          </a:ln>
        </p:spPr>
      </p:sp>
      <p:sp>
        <p:nvSpPr>
          <p:cNvPr id="8" name="Text 6"/>
          <p:cNvSpPr txBox="1"/>
          <p:nvPr/>
        </p:nvSpPr>
        <p:spPr>
          <a:xfrm>
            <a:off x="7498080" y="1481328"/>
            <a:ext cx="4142232" cy="50292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2" invalidUrl="" action="" tgtFrame="" tooltip="https://phet.colorado.edu/en/simulations/wave-interference" history="1" highlightClick="0" endSnd="0">
                  <a:extLst>
                    <a:ext uri="{A12FA001-AC4F-418D-AE19-62706E023703}">
                      <ahyp:hlinkClr xmlns:ahyp="http://schemas.microsoft.com/office/drawing/2018/hyperlinkcolor" val="tx"/>
                    </a:ext>
                  </a:extLst>
                </a:hlinkClick>
              </a:rPr>
              <a:t>Open PhET: Wave Interference  ↗</a:t>
            </a:r>
            <a:endParaRPr lang="en-US" sz="1500" dirty="0"/>
          </a:p>
        </p:txBody>
      </p:sp>
      <p:sp>
        <p:nvSpPr>
          <p:cNvPr id="9" name="Text 7"/>
          <p:cNvSpPr txBox="1"/>
          <p:nvPr/>
        </p:nvSpPr>
        <p:spPr>
          <a:xfrm>
            <a:off x="548640" y="1463040"/>
            <a:ext cx="6675120" cy="54864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Use the Slits screen with the light source. Change one thing at a time.</a:t>
            </a:r>
            <a:endParaRPr lang="en-US" sz="1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4415" cy="914400"/>
        </p:xfrm>
        <a:graphic>
          <a:graphicData uri="http://schemas.openxmlformats.org/drawingml/2006/table">
            <a:tbl>
              <a:tblPr/>
              <a:tblGrid>
                <a:gridCol w="2926080"/>
                <a:gridCol w="2560320"/>
                <a:gridCol w="5605272"/>
              </a:tblGrid>
              <a:tr h="566928">
                <a:tc>
                  <a:txBody>
                    <a:bodyPr/>
                    <a:lstStyle/>
                    <a:p>
                      <a:pPr indent="0" marL="0">
                        <a:buNone/>
                      </a:pPr>
                      <a:r>
                        <a:rPr lang="en-US" sz="1600" b="1" dirty="0">
                          <a:solidFill>
                            <a:schemeClr val="bg1"/>
                          </a:solidFill>
                        </a:rPr>
                        <a:t>You change…</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Fringes become…</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Why?</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tx1"/>
                          </a:solidFill>
                        </a:rPr>
                        <a:t>Slits closer together</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66928">
                <a:tc>
                  <a:txBody>
                    <a:bodyPr/>
                    <a:lstStyle/>
                    <a:p>
                      <a:pPr indent="0" marL="0">
                        <a:buNone/>
                      </a:pPr>
                      <a:r>
                        <a:rPr lang="en-US" sz="1600" dirty="0">
                          <a:solidFill>
                            <a:schemeClr val="tx1"/>
                          </a:solidFill>
                        </a:rPr>
                        <a:t>Red light instead of blue</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66928">
                <a:tc>
                  <a:txBody>
                    <a:bodyPr/>
                    <a:lstStyle/>
                    <a:p>
                      <a:pPr indent="0" marL="0">
                        <a:buNone/>
                      </a:pPr>
                      <a:r>
                        <a:rPr lang="en-US" sz="1600" dirty="0">
                          <a:solidFill>
                            <a:schemeClr val="tx1"/>
                          </a:solidFill>
                        </a:rPr>
                        <a:t>Screen further away</a:t>
                      </a: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endParaRPr lang="en-US" sz="1600" dirty="0"/>
                    </a:p>
                  </a:txBody>
                  <a:tcPr marL="109728" marR="109728"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11" name="rv1_a0"/>
          <p:cNvSpPr txBox="1"/>
          <p:nvPr/>
        </p:nvSpPr>
        <p:spPr>
          <a:xfrm>
            <a:off x="3474720" y="2862072"/>
            <a:ext cx="2560320" cy="457200"/>
          </a:xfrm>
          <a:prstGeom prst="rect">
            <a:avLst/>
          </a:prstGeom>
          <a:noFill/>
          <a:ln/>
        </p:spPr>
        <p:txBody>
          <a:bodyPr wrap="square" lIns="0" tIns="0" rIns="0" bIns="0" rtlCol="0" anchor="ctr"/>
          <a:lstStyle/>
          <a:p>
            <a:pPr algn="ctr" indent="0" marL="0">
              <a:buNone/>
            </a:pPr>
            <a:r>
              <a:rPr lang="en-US" sz="1600" b="1" dirty="0">
                <a:solidFill>
                  <a:schemeClr val="accent3"/>
                </a:solidFill>
              </a:rPr>
              <a:t>wider apart</a:t>
            </a:r>
            <a:endParaRPr lang="en-US" sz="1600" dirty="0"/>
          </a:p>
        </p:txBody>
      </p:sp>
      <p:sp>
        <p:nvSpPr>
          <p:cNvPr id="12" name="rv1_b0"/>
          <p:cNvSpPr txBox="1"/>
          <p:nvPr/>
        </p:nvSpPr>
        <p:spPr>
          <a:xfrm>
            <a:off x="6144768" y="2862072"/>
            <a:ext cx="5394960" cy="457200"/>
          </a:xfrm>
          <a:prstGeom prst="rect">
            <a:avLst/>
          </a:prstGeom>
          <a:noFill/>
          <a:ln/>
        </p:spPr>
        <p:txBody>
          <a:bodyPr wrap="square" lIns="0" tIns="0" rIns="0" bIns="0" rtlCol="0" anchor="ctr"/>
          <a:lstStyle/>
          <a:p>
            <a:pPr indent="0" marL="0">
              <a:buNone/>
            </a:pPr>
            <a:r>
              <a:rPr lang="en-US" sz="1450" dirty="0">
                <a:solidFill>
                  <a:schemeClr val="tx1"/>
                </a:solidFill>
              </a:rPr>
              <a:t>the path difference grows more slowly with angle</a:t>
            </a:r>
            <a:endParaRPr lang="en-US" sz="1450" dirty="0"/>
          </a:p>
        </p:txBody>
      </p:sp>
      <p:sp>
        <p:nvSpPr>
          <p:cNvPr id="13" name="rv2_a1"/>
          <p:cNvSpPr txBox="1"/>
          <p:nvPr/>
        </p:nvSpPr>
        <p:spPr>
          <a:xfrm>
            <a:off x="3474720" y="3429000"/>
            <a:ext cx="2560320" cy="457200"/>
          </a:xfrm>
          <a:prstGeom prst="rect">
            <a:avLst/>
          </a:prstGeom>
          <a:noFill/>
          <a:ln/>
        </p:spPr>
        <p:txBody>
          <a:bodyPr wrap="square" lIns="0" tIns="0" rIns="0" bIns="0" rtlCol="0" anchor="ctr"/>
          <a:lstStyle/>
          <a:p>
            <a:pPr algn="ctr" indent="0" marL="0">
              <a:buNone/>
            </a:pPr>
            <a:r>
              <a:rPr lang="en-US" sz="1600" b="1" dirty="0">
                <a:solidFill>
                  <a:schemeClr val="accent3"/>
                </a:solidFill>
              </a:rPr>
              <a:t>wider apart</a:t>
            </a:r>
            <a:endParaRPr lang="en-US" sz="1600" dirty="0"/>
          </a:p>
        </p:txBody>
      </p:sp>
      <p:sp>
        <p:nvSpPr>
          <p:cNvPr id="14" name="rv2_b1"/>
          <p:cNvSpPr txBox="1"/>
          <p:nvPr/>
        </p:nvSpPr>
        <p:spPr>
          <a:xfrm>
            <a:off x="6144768" y="3429000"/>
            <a:ext cx="5394960" cy="457200"/>
          </a:xfrm>
          <a:prstGeom prst="rect">
            <a:avLst/>
          </a:prstGeom>
          <a:noFill/>
          <a:ln/>
        </p:spPr>
        <p:txBody>
          <a:bodyPr wrap="square" lIns="0" tIns="0" rIns="0" bIns="0" rtlCol="0" anchor="ctr"/>
          <a:lstStyle/>
          <a:p>
            <a:pPr indent="0" marL="0">
              <a:buNone/>
            </a:pPr>
            <a:r>
              <a:rPr lang="en-US" sz="1450" dirty="0">
                <a:solidFill>
                  <a:schemeClr val="tx1"/>
                </a:solidFill>
              </a:rPr>
              <a:t>longer λ needs a bigger path difference for each fringe</a:t>
            </a:r>
            <a:endParaRPr lang="en-US" sz="1450" dirty="0"/>
          </a:p>
        </p:txBody>
      </p:sp>
      <p:sp>
        <p:nvSpPr>
          <p:cNvPr id="15" name="rv3_a2"/>
          <p:cNvSpPr txBox="1"/>
          <p:nvPr/>
        </p:nvSpPr>
        <p:spPr>
          <a:xfrm>
            <a:off x="3474720" y="3995928"/>
            <a:ext cx="2560320" cy="457200"/>
          </a:xfrm>
          <a:prstGeom prst="rect">
            <a:avLst/>
          </a:prstGeom>
          <a:noFill/>
          <a:ln/>
        </p:spPr>
        <p:txBody>
          <a:bodyPr wrap="square" lIns="0" tIns="0" rIns="0" bIns="0" rtlCol="0" anchor="ctr"/>
          <a:lstStyle/>
          <a:p>
            <a:pPr algn="ctr" indent="0" marL="0">
              <a:buNone/>
            </a:pPr>
            <a:r>
              <a:rPr lang="en-US" sz="1600" b="1" dirty="0">
                <a:solidFill>
                  <a:schemeClr val="accent3"/>
                </a:solidFill>
              </a:rPr>
              <a:t>wider apart</a:t>
            </a:r>
            <a:endParaRPr lang="en-US" sz="1600" dirty="0"/>
          </a:p>
        </p:txBody>
      </p:sp>
      <p:sp>
        <p:nvSpPr>
          <p:cNvPr id="16" name="rv3_b2"/>
          <p:cNvSpPr txBox="1"/>
          <p:nvPr/>
        </p:nvSpPr>
        <p:spPr>
          <a:xfrm>
            <a:off x="6144768" y="3995928"/>
            <a:ext cx="5394960" cy="457200"/>
          </a:xfrm>
          <a:prstGeom prst="rect">
            <a:avLst/>
          </a:prstGeom>
          <a:noFill/>
          <a:ln/>
        </p:spPr>
        <p:txBody>
          <a:bodyPr wrap="square" lIns="0" tIns="0" rIns="0" bIns="0" rtlCol="0" anchor="ctr"/>
          <a:lstStyle/>
          <a:p>
            <a:pPr indent="0" marL="0">
              <a:buNone/>
            </a:pPr>
            <a:r>
              <a:rPr lang="en-US" sz="1450" dirty="0">
                <a:solidFill>
                  <a:schemeClr val="tx1"/>
                </a:solidFill>
              </a:rPr>
              <a:t>the same angles spread over a larger distance</a:t>
            </a:r>
            <a:endParaRPr lang="en-US" sz="1450" dirty="0"/>
          </a:p>
        </p:txBody>
      </p:sp>
      <p:sp>
        <p:nvSpPr>
          <p:cNvPr id="17" name="Shape 14"/>
          <p:cNvSpPr/>
          <p:nvPr/>
        </p:nvSpPr>
        <p:spPr>
          <a:xfrm>
            <a:off x="548640" y="4754880"/>
            <a:ext cx="11094415" cy="1005840"/>
          </a:xfrm>
          <a:prstGeom prst="roundRect">
            <a:avLst>
              <a:gd name="adj" fmla="val 7273"/>
            </a:avLst>
          </a:prstGeom>
          <a:solidFill>
            <a:schemeClr val="accent1">
              <a:alpha val="12000"/>
            </a:schemeClr>
          </a:solidFill>
          <a:ln w="9525">
            <a:solidFill>
              <a:schemeClr val="accent1">
                <a:alpha val="12000"/>
              </a:schemeClr>
            </a:solidFill>
            <a:prstDash val="solid"/>
          </a:ln>
        </p:spPr>
      </p:sp>
      <p:sp>
        <p:nvSpPr>
          <p:cNvPr id="18" name="Text 15"/>
          <p:cNvSpPr txBox="1"/>
          <p:nvPr/>
        </p:nvSpPr>
        <p:spPr>
          <a:xfrm>
            <a:off x="731520" y="4864608"/>
            <a:ext cx="10728655" cy="786384"/>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In one line</a:t>
            </a:r>
            <a:endParaRPr lang="en-US" sz="1500" dirty="0"/>
          </a:p>
          <a:p>
            <a:pPr indent="0" marL="0">
              <a:spcAft>
                <a:spcPts val="400"/>
              </a:spcAft>
              <a:buNone/>
            </a:pPr>
            <a:r>
              <a:rPr lang="en-US" sz="1500" dirty="0">
                <a:solidFill>
                  <a:schemeClr val="tx1"/>
                </a:solidFill>
              </a:rPr>
              <a:t>Fringe spacing ≈ λL/d: bigger for longer wavelength, bigger screen distance L, and smaller slit spacing d. Measuring it is one way to measure λ.</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Thin films: colours from thickness, not dye</a:t>
            </a:r>
            <a:endParaRPr lang="en-US" sz="3000" dirty="0"/>
          </a:p>
        </p:txBody>
      </p:sp>
      <p:pic>
        <p:nvPicPr>
          <p:cNvPr id="5" name="img_thin_film.png" descr="Light reflecting from the top and bottom of a thin film; the two reflections interfere">    </p:cNvPr>
          <p:cNvPicPr>
            <a:picLocks noChangeAspect="1"/>
          </p:cNvPicPr>
          <p:nvPr/>
        </p:nvPicPr>
        <p:blipFill>
          <a:blip r:embed="rId1"/>
          <a:stretch>
            <a:fillRect/>
          </a:stretch>
        </p:blipFill>
        <p:spPr>
          <a:xfrm>
            <a:off x="548640" y="1417320"/>
            <a:ext cx="6035040" cy="3474720"/>
          </a:xfrm>
          <a:prstGeom prst="rect">
            <a:avLst/>
          </a:prstGeom>
        </p:spPr>
      </p:pic>
      <p:sp>
        <p:nvSpPr>
          <p:cNvPr id="6" name="Text 3"/>
          <p:cNvSpPr txBox="1"/>
          <p:nvPr/>
        </p:nvSpPr>
        <p:spPr>
          <a:xfrm>
            <a:off x="6858000" y="1463040"/>
            <a:ext cx="4782312" cy="329184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Light reflects from both surfaces </a:t>
            </a:r>
            <a:pPr indent="0" marL="0">
              <a:spcAft>
                <a:spcPts val="800"/>
              </a:spcAft>
              <a:buNone/>
            </a:pPr>
            <a:r>
              <a:rPr lang="en-US" sz="1550" dirty="0">
                <a:solidFill>
                  <a:schemeClr val="tx1"/>
                </a:solidFill>
              </a:rPr>
              <a:t>of a film only a few hundred nanometres thick.</a:t>
            </a:r>
            <a:endParaRPr lang="en-US" sz="1550" dirty="0"/>
          </a:p>
          <a:p>
            <a:pPr marL="228600" indent="-228600">
              <a:spcAft>
                <a:spcPts val="800"/>
              </a:spcAft>
              <a:buSzPct val="100000"/>
              <a:buChar char="•"/>
            </a:pPr>
            <a:r>
              <a:rPr lang="en-US" sz="1550" b="1" dirty="0">
                <a:solidFill>
                  <a:schemeClr val="tx2"/>
                </a:solidFill>
              </a:rPr>
              <a:t>The two reflected waves interfere: </a:t>
            </a:r>
            <a:pPr indent="0" marL="0">
              <a:spcAft>
                <a:spcPts val="800"/>
              </a:spcAft>
              <a:buNone/>
            </a:pPr>
            <a:r>
              <a:rPr lang="en-US" sz="1550" dirty="0">
                <a:solidFill>
                  <a:schemeClr val="tx1"/>
                </a:solidFill>
              </a:rPr>
              <a:t>for a given thickness some colours reinforce and others cancel.</a:t>
            </a:r>
            <a:endParaRPr lang="en-US" sz="1550" dirty="0"/>
          </a:p>
          <a:p>
            <a:pPr marL="228600" indent="-228600">
              <a:spcAft>
                <a:spcPts val="800"/>
              </a:spcAft>
              <a:buSzPct val="100000"/>
              <a:buChar char="•"/>
            </a:pPr>
            <a:r>
              <a:rPr lang="en-US" sz="1550" b="1" dirty="0">
                <a:solidFill>
                  <a:schemeClr val="tx2"/>
                </a:solidFill>
              </a:rPr>
              <a:t>Change the thickness or viewing angle → </a:t>
            </a:r>
            <a:pPr indent="0" marL="0">
              <a:spcAft>
                <a:spcPts val="800"/>
              </a:spcAft>
              <a:buNone/>
            </a:pPr>
            <a:r>
              <a:rPr lang="en-US" sz="1550" dirty="0">
                <a:solidFill>
                  <a:schemeClr val="tx1"/>
                </a:solidFill>
              </a:rPr>
              <a:t>change the colour: soap bubbles, oil on a wet road.</a:t>
            </a:r>
            <a:endParaRPr lang="en-US" sz="1550" dirty="0"/>
          </a:p>
        </p:txBody>
      </p:sp>
      <p:sp>
        <p:nvSpPr>
          <p:cNvPr id="7" name="Shape 4"/>
          <p:cNvSpPr/>
          <p:nvPr/>
        </p:nvSpPr>
        <p:spPr>
          <a:xfrm>
            <a:off x="548640" y="5029200"/>
            <a:ext cx="11094415" cy="1143000"/>
          </a:xfrm>
          <a:prstGeom prst="roundRect">
            <a:avLst>
              <a:gd name="adj" fmla="val 6400"/>
            </a:avLst>
          </a:prstGeom>
          <a:solidFill>
            <a:schemeClr val="accent3">
              <a:alpha val="12000"/>
            </a:schemeClr>
          </a:solidFill>
          <a:ln w="9525">
            <a:solidFill>
              <a:schemeClr val="accent3">
                <a:alpha val="12000"/>
              </a:schemeClr>
            </a:solidFill>
            <a:prstDash val="solid"/>
          </a:ln>
        </p:spPr>
      </p:sp>
      <p:sp>
        <p:nvSpPr>
          <p:cNvPr id="8" name="Text 5"/>
          <p:cNvSpPr txBox="1"/>
          <p:nvPr/>
        </p:nvSpPr>
        <p:spPr>
          <a:xfrm>
            <a:off x="731520" y="5138928"/>
            <a:ext cx="10728655" cy="923544"/>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Uses</a:t>
            </a:r>
            <a:endParaRPr lang="en-US" sz="1500" dirty="0"/>
          </a:p>
          <a:p>
            <a:pPr indent="0" marL="0">
              <a:spcAft>
                <a:spcPts val="400"/>
              </a:spcAft>
              <a:buNone/>
            </a:pPr>
            <a:r>
              <a:rPr lang="en-US" sz="1500" dirty="0">
                <a:solidFill>
                  <a:schemeClr val="tx1"/>
                </a:solidFill>
              </a:rPr>
              <a:t>Anti-reflection coatings on camera lenses, glasses and microscope objectives; measuring the thickness of packaging films and edible coatings non-destructively.</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rainbow sheen on sliced roast beef: what is it?</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Text 5"/>
          <p:cNvSpPr txBox="1"/>
          <p:nvPr/>
        </p:nvSpPr>
        <p:spPr>
          <a:xfrm>
            <a:off x="548640" y="1463040"/>
            <a:ext cx="11094415" cy="5486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A customer returns a pack of sliced roast beef because it shows a green-and-pink rainbow shine. What is the most likely cause?</a:t>
            </a:r>
            <a:endParaRPr lang="en-US" sz="1700" dirty="0"/>
          </a:p>
        </p:txBody>
      </p:sp>
      <p:sp>
        <p:nvSpPr>
          <p:cNvPr id="8" name="Shape 6"/>
          <p:cNvSpPr/>
          <p:nvPr/>
        </p:nvSpPr>
        <p:spPr>
          <a:xfrm>
            <a:off x="548640" y="21488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9" name="Shape 7"/>
          <p:cNvSpPr/>
          <p:nvPr/>
        </p:nvSpPr>
        <p:spPr>
          <a:xfrm>
            <a:off x="713232" y="2347722"/>
            <a:ext cx="493776" cy="493776"/>
          </a:xfrm>
          <a:prstGeom prst="ellipse">
            <a:avLst/>
          </a:prstGeom>
          <a:solidFill>
            <a:schemeClr val="accent2"/>
          </a:solidFill>
          <a:ln w="12700">
            <a:solidFill>
              <a:schemeClr val="accent2"/>
            </a:solidFill>
            <a:prstDash val="solid"/>
          </a:ln>
        </p:spPr>
      </p:sp>
      <p:sp>
        <p:nvSpPr>
          <p:cNvPr id="10" name="Text 8"/>
          <p:cNvSpPr txBox="1"/>
          <p:nvPr/>
        </p:nvSpPr>
        <p:spPr>
          <a:xfrm>
            <a:off x="713232" y="23477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9"/>
          <p:cNvSpPr txBox="1"/>
          <p:nvPr/>
        </p:nvSpPr>
        <p:spPr>
          <a:xfrm>
            <a:off x="1371600" y="2221992"/>
            <a:ext cx="4472788" cy="745236"/>
          </a:xfrm>
          <a:prstGeom prst="rect">
            <a:avLst/>
          </a:prstGeom>
          <a:noFill/>
          <a:ln/>
        </p:spPr>
        <p:txBody>
          <a:bodyPr wrap="square" lIns="0" tIns="0" rIns="0" bIns="0" rtlCol="0" anchor="ctr"/>
          <a:lstStyle/>
          <a:p>
            <a:pPr indent="0" marL="0">
              <a:buNone/>
            </a:pPr>
            <a:r>
              <a:rPr lang="en-US" sz="1600" dirty="0">
                <a:solidFill>
                  <a:schemeClr val="tx1"/>
                </a:solidFill>
              </a:rPr>
              <a:t>Bacterial spoilage</a:t>
            </a:r>
            <a:endParaRPr lang="en-US" sz="1600" dirty="0"/>
          </a:p>
        </p:txBody>
      </p:sp>
      <p:sp>
        <p:nvSpPr>
          <p:cNvPr id="12" name="Shape 10"/>
          <p:cNvSpPr/>
          <p:nvPr/>
        </p:nvSpPr>
        <p:spPr>
          <a:xfrm>
            <a:off x="6210148" y="21488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3" name="Shape 11"/>
          <p:cNvSpPr/>
          <p:nvPr/>
        </p:nvSpPr>
        <p:spPr>
          <a:xfrm>
            <a:off x="6374740" y="2347722"/>
            <a:ext cx="493776" cy="493776"/>
          </a:xfrm>
          <a:prstGeom prst="ellipse">
            <a:avLst/>
          </a:prstGeom>
          <a:solidFill>
            <a:schemeClr val="accent2"/>
          </a:solidFill>
          <a:ln w="12700">
            <a:solidFill>
              <a:schemeClr val="accent2"/>
            </a:solidFill>
            <a:prstDash val="solid"/>
          </a:ln>
        </p:spPr>
      </p:sp>
      <p:sp>
        <p:nvSpPr>
          <p:cNvPr id="14" name="Text 12"/>
          <p:cNvSpPr txBox="1"/>
          <p:nvPr/>
        </p:nvSpPr>
        <p:spPr>
          <a:xfrm>
            <a:off x="6374740" y="23477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3"/>
          <p:cNvSpPr txBox="1"/>
          <p:nvPr/>
        </p:nvSpPr>
        <p:spPr>
          <a:xfrm>
            <a:off x="7033108" y="2221992"/>
            <a:ext cx="4472788" cy="745236"/>
          </a:xfrm>
          <a:prstGeom prst="rect">
            <a:avLst/>
          </a:prstGeom>
          <a:noFill/>
          <a:ln/>
        </p:spPr>
        <p:txBody>
          <a:bodyPr wrap="square" lIns="0" tIns="0" rIns="0" bIns="0" rtlCol="0" anchor="ctr"/>
          <a:lstStyle/>
          <a:p>
            <a:pPr indent="0" marL="0">
              <a:buNone/>
            </a:pPr>
            <a:r>
              <a:rPr lang="en-US" sz="1600" dirty="0">
                <a:solidFill>
                  <a:schemeClr val="tx1"/>
                </a:solidFill>
              </a:rPr>
              <a:t>A chemical additive or dye</a:t>
            </a:r>
            <a:endParaRPr lang="en-US" sz="1600" dirty="0"/>
          </a:p>
        </p:txBody>
      </p:sp>
      <p:sp>
        <p:nvSpPr>
          <p:cNvPr id="16" name="Shape 14"/>
          <p:cNvSpPr/>
          <p:nvPr/>
        </p:nvSpPr>
        <p:spPr>
          <a:xfrm>
            <a:off x="548640" y="326898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7" name="Shape 15"/>
          <p:cNvSpPr/>
          <p:nvPr/>
        </p:nvSpPr>
        <p:spPr>
          <a:xfrm>
            <a:off x="713232" y="3467862"/>
            <a:ext cx="493776" cy="493776"/>
          </a:xfrm>
          <a:prstGeom prst="ellipse">
            <a:avLst/>
          </a:prstGeom>
          <a:solidFill>
            <a:schemeClr val="accent2"/>
          </a:solidFill>
          <a:ln w="12700">
            <a:solidFill>
              <a:schemeClr val="accent2"/>
            </a:solidFill>
            <a:prstDash val="solid"/>
          </a:ln>
        </p:spPr>
      </p:sp>
      <p:sp>
        <p:nvSpPr>
          <p:cNvPr id="18" name="Text 16"/>
          <p:cNvSpPr txBox="1"/>
          <p:nvPr/>
        </p:nvSpPr>
        <p:spPr>
          <a:xfrm>
            <a:off x="713232" y="34678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9" name="Text 17"/>
          <p:cNvSpPr txBox="1"/>
          <p:nvPr/>
        </p:nvSpPr>
        <p:spPr>
          <a:xfrm>
            <a:off x="1371600" y="3342132"/>
            <a:ext cx="4472788" cy="745236"/>
          </a:xfrm>
          <a:prstGeom prst="rect">
            <a:avLst/>
          </a:prstGeom>
          <a:noFill/>
          <a:ln/>
        </p:spPr>
        <p:txBody>
          <a:bodyPr wrap="square" lIns="0" tIns="0" rIns="0" bIns="0" rtlCol="0" anchor="ctr"/>
          <a:lstStyle/>
          <a:p>
            <a:pPr indent="0" marL="0">
              <a:buNone/>
            </a:pPr>
            <a:r>
              <a:rPr lang="en-US" sz="1600" dirty="0">
                <a:solidFill>
                  <a:schemeClr val="tx1"/>
                </a:solidFill>
              </a:rPr>
              <a:t>Light diffracted and interfering at the regular cut muscle-fibre structure</a:t>
            </a:r>
            <a:endParaRPr lang="en-US" sz="1600" dirty="0"/>
          </a:p>
        </p:txBody>
      </p:sp>
      <p:sp>
        <p:nvSpPr>
          <p:cNvPr id="20" name="rv1_ring"/>
          <p:cNvSpPr/>
          <p:nvPr/>
        </p:nvSpPr>
        <p:spPr>
          <a:xfrm>
            <a:off x="502920" y="3223260"/>
            <a:ext cx="5524348" cy="982980"/>
          </a:xfrm>
          <a:prstGeom prst="roundRect">
            <a:avLst>
              <a:gd name="adj" fmla="val 9302"/>
            </a:avLst>
          </a:prstGeom>
          <a:solidFill>
            <a:schemeClr val="bg1">
              <a:alpha val="0"/>
            </a:schemeClr>
          </a:solidFill>
          <a:ln w="50800">
            <a:solidFill>
              <a:schemeClr val="accent3"/>
            </a:solidFill>
            <a:prstDash val="solid"/>
          </a:ln>
        </p:spPr>
      </p:sp>
      <p:sp>
        <p:nvSpPr>
          <p:cNvPr id="21" name="Shape 19"/>
          <p:cNvSpPr/>
          <p:nvPr/>
        </p:nvSpPr>
        <p:spPr>
          <a:xfrm>
            <a:off x="6210148" y="326898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22" name="Shape 20"/>
          <p:cNvSpPr/>
          <p:nvPr/>
        </p:nvSpPr>
        <p:spPr>
          <a:xfrm>
            <a:off x="6374740" y="3467862"/>
            <a:ext cx="493776" cy="493776"/>
          </a:xfrm>
          <a:prstGeom prst="ellipse">
            <a:avLst/>
          </a:prstGeom>
          <a:solidFill>
            <a:schemeClr val="accent2"/>
          </a:solidFill>
          <a:ln w="12700">
            <a:solidFill>
              <a:schemeClr val="accent2"/>
            </a:solidFill>
            <a:prstDash val="solid"/>
          </a:ln>
        </p:spPr>
      </p:sp>
      <p:sp>
        <p:nvSpPr>
          <p:cNvPr id="23" name="Text 21"/>
          <p:cNvSpPr txBox="1"/>
          <p:nvPr/>
        </p:nvSpPr>
        <p:spPr>
          <a:xfrm>
            <a:off x="6374740" y="34678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4" name="Text 22"/>
          <p:cNvSpPr txBox="1"/>
          <p:nvPr/>
        </p:nvSpPr>
        <p:spPr>
          <a:xfrm>
            <a:off x="7033108" y="3342132"/>
            <a:ext cx="4472788" cy="745236"/>
          </a:xfrm>
          <a:prstGeom prst="rect">
            <a:avLst/>
          </a:prstGeom>
          <a:noFill/>
          <a:ln/>
        </p:spPr>
        <p:txBody>
          <a:bodyPr wrap="square" lIns="0" tIns="0" rIns="0" bIns="0" rtlCol="0" anchor="ctr"/>
          <a:lstStyle/>
          <a:p>
            <a:pPr indent="0" marL="0">
              <a:buNone/>
            </a:pPr>
            <a:r>
              <a:rPr lang="en-US" sz="1600" dirty="0">
                <a:solidFill>
                  <a:schemeClr val="tx1"/>
                </a:solidFill>
              </a:rPr>
              <a:t>Oil contamination from the slicer</a:t>
            </a:r>
            <a:endParaRPr lang="en-US" sz="1600" dirty="0"/>
          </a:p>
        </p:txBody>
      </p:sp>
      <p:sp>
        <p:nvSpPr>
          <p:cNvPr id="25" name="Text 23"/>
          <p:cNvSpPr txBox="1"/>
          <p:nvPr/>
        </p:nvSpPr>
        <p:spPr>
          <a:xfrm>
            <a:off x="548640" y="509778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6" name="rv1_ans_bg"/>
          <p:cNvSpPr/>
          <p:nvPr/>
        </p:nvSpPr>
        <p:spPr>
          <a:xfrm>
            <a:off x="548640" y="4389120"/>
            <a:ext cx="11094415" cy="1783080"/>
          </a:xfrm>
          <a:prstGeom prst="roundRect">
            <a:avLst>
              <a:gd name="adj" fmla="val 4103"/>
            </a:avLst>
          </a:prstGeom>
          <a:solidFill>
            <a:srgbClr val="EAF5EE"/>
          </a:solidFill>
          <a:ln w="15875">
            <a:solidFill>
              <a:schemeClr val="accent3"/>
            </a:solidFill>
            <a:prstDash val="solid"/>
          </a:ln>
        </p:spPr>
      </p:sp>
      <p:sp>
        <p:nvSpPr>
          <p:cNvPr id="27" name="rv1_ans_tx"/>
          <p:cNvSpPr txBox="1"/>
          <p:nvPr/>
        </p:nvSpPr>
        <p:spPr>
          <a:xfrm>
            <a:off x="731520" y="4498848"/>
            <a:ext cx="10728655" cy="156362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C — structural colour</a:t>
            </a:r>
            <a:endParaRPr lang="en-US" sz="1500" dirty="0"/>
          </a:p>
          <a:p>
            <a:pPr indent="0" marL="0">
              <a:spcAft>
                <a:spcPts val="400"/>
              </a:spcAft>
              <a:buNone/>
            </a:pPr>
            <a:r>
              <a:rPr lang="en-US" sz="1500" dirty="0">
                <a:solidFill>
                  <a:schemeClr val="tx1"/>
                </a:solidFill>
              </a:rPr>
              <a:t>Muscle fibres are made of very regular repeating units. A clean cut across them acts like a diffraction grating, splitting white light into colours. It is harmless and depends on the viewing angle.</a:t>
            </a:r>
            <a:endParaRPr lang="en-US" sz="1500" dirty="0"/>
          </a:p>
          <a:p>
            <a:pPr indent="0" marL="0">
              <a:spcAft>
                <a:spcPts val="400"/>
              </a:spcAft>
              <a:buNone/>
            </a:pPr>
            <a:r>
              <a:rPr lang="en-US" sz="1500" dirty="0">
                <a:solidFill>
                  <a:schemeClr val="accent6"/>
                </a:solidFill>
              </a:rPr>
              <a:t>Physics knowledge here saves a product recall — and lets QC staff explain the defect honestly to the customer.</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ag"/>
          <p:cNvSpPr/>
          <p:nvPr/>
        </p:nvSpPr>
        <p:spPr>
          <a:xfrm>
            <a:off x="548640" y="292608"/>
            <a:ext cx="58521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58521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DEMO</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diffraction grating in your pocket: an old CD</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2 minutes</a:t>
            </a:r>
            <a:endParaRPr lang="en-US" sz="1100" dirty="0"/>
          </a:p>
        </p:txBody>
      </p:sp>
      <p:pic>
        <p:nvPicPr>
          <p:cNvPr id="7" name="img_grating.png" descr="White light diffracted by a grating into spectra on either side of a central white beam">    </p:cNvPr>
          <p:cNvPicPr>
            <a:picLocks noChangeAspect="1"/>
          </p:cNvPicPr>
          <p:nvPr/>
        </p:nvPicPr>
        <p:blipFill>
          <a:blip r:embed="rId1"/>
          <a:stretch>
            <a:fillRect/>
          </a:stretch>
        </p:blipFill>
        <p:spPr>
          <a:xfrm>
            <a:off x="548640" y="1423035"/>
            <a:ext cx="5486400" cy="2914650"/>
          </a:xfrm>
          <a:prstGeom prst="rect">
            <a:avLst/>
          </a:prstGeom>
        </p:spPr>
      </p:pic>
      <p:sp>
        <p:nvSpPr>
          <p:cNvPr id="8" name="Text 5"/>
          <p:cNvSpPr txBox="1"/>
          <p:nvPr/>
        </p:nvSpPr>
        <p:spPr>
          <a:xfrm>
            <a:off x="6400800" y="1463040"/>
            <a:ext cx="5239512" cy="3291840"/>
          </a:xfrm>
          <a:prstGeom prst="rect">
            <a:avLst/>
          </a:prstGeom>
          <a:noFill/>
          <a:ln/>
        </p:spPr>
        <p:txBody>
          <a:bodyPr wrap="square" lIns="0" tIns="0" rIns="0" bIns="0" rtlCol="0" anchor="t"/>
          <a:lstStyle/>
          <a:p>
            <a:pPr marL="228600" indent="-228600">
              <a:spcAft>
                <a:spcPts val="800"/>
              </a:spcAft>
              <a:buSzPct val="100000"/>
              <a:buChar char="•"/>
            </a:pPr>
            <a:r>
              <a:rPr lang="en-US" sz="1550" b="1" dirty="0">
                <a:solidFill>
                  <a:schemeClr val="tx2"/>
                </a:solidFill>
              </a:rPr>
              <a:t>A grating has thousands of evenly spaced lines. </a:t>
            </a:r>
            <a:pPr indent="0" marL="0">
              <a:spcAft>
                <a:spcPts val="800"/>
              </a:spcAft>
              <a:buNone/>
            </a:pPr>
            <a:r>
              <a:rPr lang="en-US" sz="1550" dirty="0">
                <a:solidFill>
                  <a:schemeClr val="tx1"/>
                </a:solidFill>
              </a:rPr>
              <a:t>Each colour interferes constructively at its own angle, so white light spreads into a spectrum.</a:t>
            </a:r>
            <a:endParaRPr lang="en-US" sz="1550" dirty="0"/>
          </a:p>
          <a:p>
            <a:pPr marL="228600" indent="-228600">
              <a:spcAft>
                <a:spcPts val="800"/>
              </a:spcAft>
              <a:buSzPct val="100000"/>
              <a:buChar char="•"/>
            </a:pPr>
            <a:r>
              <a:rPr lang="en-US" sz="1550" b="1" dirty="0">
                <a:solidFill>
                  <a:schemeClr val="tx2"/>
                </a:solidFill>
              </a:rPr>
              <a:t>A CD has tracks about 1.6 µm apart </a:t>
            </a:r>
            <a:pPr indent="0" marL="0">
              <a:spcAft>
                <a:spcPts val="800"/>
              </a:spcAft>
              <a:buNone/>
            </a:pPr>
            <a:r>
              <a:rPr lang="en-US" sz="1550" dirty="0">
                <a:solidFill>
                  <a:schemeClr val="tx1"/>
                </a:solidFill>
              </a:rPr>
              <a:t>— a natural reflection grating.</a:t>
            </a:r>
            <a:endParaRPr lang="en-US" sz="1550" dirty="0"/>
          </a:p>
          <a:p>
            <a:pPr marL="228600" indent="-228600">
              <a:spcAft>
                <a:spcPts val="800"/>
              </a:spcAft>
              <a:buSzPct val="100000"/>
              <a:buChar char="•"/>
            </a:pPr>
            <a:r>
              <a:rPr lang="en-US" sz="1550" b="1" dirty="0">
                <a:solidFill>
                  <a:schemeClr val="tx2"/>
                </a:solidFill>
              </a:rPr>
              <a:t>Try it: </a:t>
            </a:r>
            <a:pPr indent="0" marL="0">
              <a:spcAft>
                <a:spcPts val="800"/>
              </a:spcAft>
              <a:buNone/>
            </a:pPr>
            <a:r>
              <a:rPr lang="en-US" sz="1550" dirty="0">
                <a:solidFill>
                  <a:schemeClr val="tx1"/>
                </a:solidFill>
              </a:rPr>
              <a:t>shine a phone torch on a CD in a dim room and look at the reflection on the wall or ceiling.</a:t>
            </a:r>
            <a:endParaRPr lang="en-US" sz="1550" dirty="0"/>
          </a:p>
        </p:txBody>
      </p:sp>
      <p:sp>
        <p:nvSpPr>
          <p:cNvPr id="9" name="Shape 6"/>
          <p:cNvSpPr/>
          <p:nvPr/>
        </p:nvSpPr>
        <p:spPr>
          <a:xfrm>
            <a:off x="548640" y="4572000"/>
            <a:ext cx="11094415" cy="1097280"/>
          </a:xfrm>
          <a:prstGeom prst="roundRect">
            <a:avLst>
              <a:gd name="adj" fmla="val 6667"/>
            </a:avLst>
          </a:prstGeom>
          <a:solidFill>
            <a:schemeClr val="accent1">
              <a:alpha val="12000"/>
            </a:schemeClr>
          </a:solidFill>
          <a:ln w="9525">
            <a:solidFill>
              <a:schemeClr val="accent1">
                <a:alpha val="12000"/>
              </a:schemeClr>
            </a:solidFill>
            <a:prstDash val="solid"/>
          </a:ln>
        </p:spPr>
      </p:sp>
      <p:sp>
        <p:nvSpPr>
          <p:cNvPr id="10" name="Text 7"/>
          <p:cNvSpPr txBox="1"/>
          <p:nvPr/>
        </p:nvSpPr>
        <p:spPr>
          <a:xfrm>
            <a:off x="731520" y="4681728"/>
            <a:ext cx="10728655" cy="877824"/>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Why it matters</a:t>
            </a:r>
            <a:endParaRPr lang="en-US" sz="1550" dirty="0"/>
          </a:p>
          <a:p>
            <a:pPr indent="0" marL="0">
              <a:spcAft>
                <a:spcPts val="400"/>
              </a:spcAft>
              <a:buNone/>
            </a:pPr>
            <a:r>
              <a:rPr lang="en-US" sz="1550" dirty="0">
                <a:solidFill>
                  <a:schemeClr val="tx1"/>
                </a:solidFill>
              </a:rPr>
              <a:t>Every spectrophotometer in the food lab uses a grating (or a prism) to select one wavelength at a time — the basis of colour, absorbance and NIR measurements in Part H.</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F</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Diffraction &amp; resolution</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Why every image is slightly blurred, how small a microscope can see, and how to see smaller</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Diffraction blurs every point into a spot</a:t>
            </a:r>
            <a:endParaRPr lang="en-US" sz="3000" dirty="0"/>
          </a:p>
        </p:txBody>
      </p:sp>
      <p:pic>
        <p:nvPicPr>
          <p:cNvPr id="5" name="img_airy.png" descr="Pairs of diffraction spots: clearly resolved, just resolved and not resolved">    </p:cNvPr>
          <p:cNvPicPr>
            <a:picLocks noChangeAspect="1"/>
          </p:cNvPicPr>
          <p:nvPr/>
        </p:nvPicPr>
        <p:blipFill>
          <a:blip r:embed="rId1"/>
          <a:stretch>
            <a:fillRect/>
          </a:stretch>
        </p:blipFill>
        <p:spPr>
          <a:xfrm>
            <a:off x="1731666" y="1417320"/>
            <a:ext cx="8728364" cy="3200400"/>
          </a:xfrm>
          <a:prstGeom prst="rect">
            <a:avLst/>
          </a:prstGeom>
        </p:spPr>
      </p:pic>
      <p:sp>
        <p:nvSpPr>
          <p:cNvPr id="6" name="Text 3"/>
          <p:cNvSpPr txBox="1"/>
          <p:nvPr/>
        </p:nvSpPr>
        <p:spPr>
          <a:xfrm>
            <a:off x="548640" y="4709160"/>
            <a:ext cx="11094415" cy="15087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Light passing through a lens is diffracted by its edge, </a:t>
            </a:r>
            <a:pPr indent="0" marL="0">
              <a:spcAft>
                <a:spcPts val="800"/>
              </a:spcAft>
              <a:buNone/>
            </a:pPr>
            <a:r>
              <a:rPr lang="en-US" sz="1500" dirty="0">
                <a:solidFill>
                  <a:schemeClr val="tx1"/>
                </a:solidFill>
              </a:rPr>
              <a:t>so even a perfect lens images a point as a small spot with faint rings (an Airy pattern).</a:t>
            </a:r>
            <a:endParaRPr lang="en-US" sz="1500" dirty="0"/>
          </a:p>
          <a:p>
            <a:pPr marL="228600" indent="-228600">
              <a:spcAft>
                <a:spcPts val="800"/>
              </a:spcAft>
              <a:buSzPct val="100000"/>
              <a:buChar char="•"/>
            </a:pPr>
            <a:r>
              <a:rPr lang="en-US" sz="1500" b="1" dirty="0">
                <a:solidFill>
                  <a:schemeClr val="tx2"/>
                </a:solidFill>
              </a:rPr>
              <a:t>Two nearby points are "resolved" </a:t>
            </a:r>
            <a:pPr indent="0" marL="0">
              <a:spcAft>
                <a:spcPts val="800"/>
              </a:spcAft>
              <a:buNone/>
            </a:pPr>
            <a:r>
              <a:rPr lang="en-US" sz="1500" dirty="0">
                <a:solidFill>
                  <a:schemeClr val="tx1"/>
                </a:solidFill>
              </a:rPr>
              <a:t>only if their spots are far enough apart — roughly when the centre of one sits on the first dark ring of the other (Rayleigh criterion).</a:t>
            </a:r>
            <a:endParaRPr lang="en-US" sz="1500" dirty="0"/>
          </a:p>
          <a:p>
            <a:pPr marL="228600" indent="-228600">
              <a:spcAft>
                <a:spcPts val="800"/>
              </a:spcAft>
              <a:buSzPct val="100000"/>
              <a:buChar char="•"/>
            </a:pPr>
            <a:r>
              <a:rPr lang="en-US" sz="1500" b="1" dirty="0">
                <a:solidFill>
                  <a:schemeClr val="tx2"/>
                </a:solidFill>
              </a:rPr>
              <a:t>The spot is smaller </a:t>
            </a:r>
            <a:pPr indent="0" marL="0">
              <a:spcAft>
                <a:spcPts val="800"/>
              </a:spcAft>
              <a:buNone/>
            </a:pPr>
            <a:r>
              <a:rPr lang="en-US" sz="1500" dirty="0">
                <a:solidFill>
                  <a:schemeClr val="tx1"/>
                </a:solidFill>
              </a:rPr>
              <a:t>for shorter wavelengths and for lenses that collect light over a wider angle.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4"/>
          </a:solidFill>
          <a:ln w="12700">
            <a:solidFill>
              <a:schemeClr val="accent4"/>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WORKED EXAMPLE</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small can a light microscope see?</a:t>
            </a:r>
            <a:endParaRPr lang="en-US" sz="3000" dirty="0"/>
          </a:p>
        </p:txBody>
      </p:sp>
      <p:sp>
        <p:nvSpPr>
          <p:cNvPr id="5" name="Shape 3"/>
          <p:cNvSpPr/>
          <p:nvPr/>
        </p:nvSpPr>
        <p:spPr>
          <a:xfrm>
            <a:off x="548640" y="1463040"/>
            <a:ext cx="11094415" cy="777240"/>
          </a:xfrm>
          <a:prstGeom prst="roundRect">
            <a:avLst>
              <a:gd name="adj" fmla="val 9412"/>
            </a:avLst>
          </a:prstGeom>
          <a:solidFill>
            <a:schemeClr val="accent1">
              <a:alpha val="12000"/>
            </a:schemeClr>
          </a:solidFill>
          <a:ln w="9525">
            <a:solidFill>
              <a:schemeClr val="accent1">
                <a:alpha val="12000"/>
              </a:schemeClr>
            </a:solidFill>
            <a:prstDash val="solid"/>
          </a:ln>
        </p:spPr>
      </p:sp>
      <p:sp>
        <p:nvSpPr>
          <p:cNvPr id="6" name="Text 4"/>
          <p:cNvSpPr txBox="1"/>
          <p:nvPr/>
        </p:nvSpPr>
        <p:spPr>
          <a:xfrm>
            <a:off x="548640" y="1463040"/>
            <a:ext cx="11094415"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d ≈ 0.61 λ / NA          NA = n sin α</a:t>
            </a:r>
            <a:endParaRPr lang="en-US" sz="2600" dirty="0"/>
          </a:p>
        </p:txBody>
      </p:sp>
      <p:sp>
        <p:nvSpPr>
          <p:cNvPr id="7" name="Text 5"/>
          <p:cNvSpPr txBox="1"/>
          <p:nvPr/>
        </p:nvSpPr>
        <p:spPr>
          <a:xfrm>
            <a:off x="548640" y="2331720"/>
            <a:ext cx="11094415" cy="685800"/>
          </a:xfrm>
          <a:prstGeom prst="rect">
            <a:avLst/>
          </a:prstGeom>
          <a:noFill/>
          <a:ln/>
        </p:spPr>
        <p:txBody>
          <a:bodyPr wrap="square" lIns="0" tIns="0" rIns="0" bIns="0" rtlCol="0" anchor="t"/>
          <a:lstStyle/>
          <a:p>
            <a:pPr indent="0" marL="0">
              <a:spcAft>
                <a:spcPts val="600"/>
              </a:spcAft>
              <a:buNone/>
            </a:pPr>
            <a:r>
              <a:rPr lang="en-US" sz="1450" dirty="0">
                <a:solidFill>
                  <a:schemeClr val="tx1"/>
                </a:solidFill>
              </a:rPr>
              <a:t>d = smallest separation that can be resolved.  λ = wavelength.  NA = numerical aperture: how wide a cone of light the objective collects (α = half-angle) and the n of the medium between lens and slide.</a:t>
            </a:r>
            <a:endParaRPr lang="en-US" sz="1450" dirty="0"/>
          </a:p>
        </p:txBody>
      </p:sp>
      <p:sp>
        <p:nvSpPr>
          <p:cNvPr id="8" name="rv1_step0_dot"/>
          <p:cNvSpPr/>
          <p:nvPr/>
        </p:nvSpPr>
        <p:spPr>
          <a:xfrm>
            <a:off x="548640" y="3191256"/>
            <a:ext cx="384048" cy="384048"/>
          </a:xfrm>
          <a:prstGeom prst="ellipse">
            <a:avLst/>
          </a:prstGeom>
          <a:solidFill>
            <a:schemeClr val="accent4"/>
          </a:solidFill>
          <a:ln w="12700">
            <a:solidFill>
              <a:schemeClr val="accent4"/>
            </a:solidFill>
            <a:prstDash val="solid"/>
          </a:ln>
        </p:spPr>
      </p:sp>
      <p:sp>
        <p:nvSpPr>
          <p:cNvPr id="9" name="rv1_step0_num"/>
          <p:cNvSpPr txBox="1"/>
          <p:nvPr/>
        </p:nvSpPr>
        <p:spPr>
          <a:xfrm>
            <a:off x="548640" y="31912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0" name="rv1_step0_tx"/>
          <p:cNvSpPr txBox="1"/>
          <p:nvPr/>
        </p:nvSpPr>
        <p:spPr>
          <a:xfrm>
            <a:off x="1097280" y="3154680"/>
            <a:ext cx="10545775" cy="676656"/>
          </a:xfrm>
          <a:prstGeom prst="rect">
            <a:avLst/>
          </a:prstGeom>
          <a:noFill/>
          <a:ln/>
        </p:spPr>
        <p:txBody>
          <a:bodyPr wrap="square" lIns="0" tIns="0" rIns="0" bIns="0" rtlCol="0" anchor="t"/>
          <a:lstStyle/>
          <a:p>
            <a:pPr indent="0" marL="0">
              <a:buNone/>
            </a:pPr>
            <a:r>
              <a:rPr lang="en-US" sz="1550" b="1" dirty="0">
                <a:solidFill>
                  <a:schemeClr val="tx2"/>
                </a:solidFill>
              </a:rPr>
              <a:t>Dry 40× objective (NA = 0.65), green light 550 nm:   </a:t>
            </a:r>
            <a:pPr indent="0" marL="0">
              <a:buNone/>
            </a:pPr>
            <a:r>
              <a:rPr lang="en-US" sz="1550" dirty="0">
                <a:solidFill>
                  <a:schemeClr val="tx1"/>
                </a:solidFill>
              </a:rPr>
              <a:t>d = 0.61 × 550 / 0.65 ≈ </a:t>
            </a:r>
            <a:pPr indent="0" marL="0">
              <a:buNone/>
            </a:pPr>
            <a:r>
              <a:rPr lang="en-US" sz="1550" b="1" dirty="0">
                <a:solidFill>
                  <a:schemeClr val="accent1"/>
                </a:solidFill>
              </a:rPr>
              <a:t>520 nm</a:t>
            </a:r>
            <a:endParaRPr lang="en-US" sz="1550" dirty="0"/>
          </a:p>
        </p:txBody>
      </p:sp>
      <p:sp>
        <p:nvSpPr>
          <p:cNvPr id="11" name="rv2_step1_dot"/>
          <p:cNvSpPr/>
          <p:nvPr/>
        </p:nvSpPr>
        <p:spPr>
          <a:xfrm>
            <a:off x="548640" y="3941064"/>
            <a:ext cx="384048" cy="384048"/>
          </a:xfrm>
          <a:prstGeom prst="ellipse">
            <a:avLst/>
          </a:prstGeom>
          <a:solidFill>
            <a:schemeClr val="accent4"/>
          </a:solidFill>
          <a:ln w="12700">
            <a:solidFill>
              <a:schemeClr val="accent4"/>
            </a:solidFill>
            <a:prstDash val="solid"/>
          </a:ln>
        </p:spPr>
      </p:sp>
      <p:sp>
        <p:nvSpPr>
          <p:cNvPr id="12" name="rv2_step1_num"/>
          <p:cNvSpPr txBox="1"/>
          <p:nvPr/>
        </p:nvSpPr>
        <p:spPr>
          <a:xfrm>
            <a:off x="548640" y="394106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rv2_step1_tx"/>
          <p:cNvSpPr txBox="1"/>
          <p:nvPr/>
        </p:nvSpPr>
        <p:spPr>
          <a:xfrm>
            <a:off x="1097280" y="3904488"/>
            <a:ext cx="10545775" cy="676656"/>
          </a:xfrm>
          <a:prstGeom prst="rect">
            <a:avLst/>
          </a:prstGeom>
          <a:noFill/>
          <a:ln/>
        </p:spPr>
        <p:txBody>
          <a:bodyPr wrap="square" lIns="0" tIns="0" rIns="0" bIns="0" rtlCol="0" anchor="t"/>
          <a:lstStyle/>
          <a:p>
            <a:pPr indent="0" marL="0">
              <a:buNone/>
            </a:pPr>
            <a:r>
              <a:rPr lang="en-US" sz="1550" b="1" dirty="0">
                <a:solidFill>
                  <a:schemeClr val="tx2"/>
                </a:solidFill>
              </a:rPr>
              <a:t>Oil immersion 100× (NA = 1.25):   </a:t>
            </a:r>
            <a:pPr indent="0" marL="0">
              <a:buNone/>
            </a:pPr>
            <a:r>
              <a:rPr lang="en-US" sz="1550" dirty="0">
                <a:solidFill>
                  <a:schemeClr val="tx1"/>
                </a:solidFill>
              </a:rPr>
              <a:t>d = 0.61 × 550 / 1.25 ≈ </a:t>
            </a:r>
            <a:pPr indent="0" marL="0">
              <a:buNone/>
            </a:pPr>
            <a:r>
              <a:rPr lang="en-US" sz="1550" b="1" dirty="0">
                <a:solidFill>
                  <a:schemeClr val="accent1"/>
                </a:solidFill>
              </a:rPr>
              <a:t>270 nm</a:t>
            </a:r>
            <a:endParaRPr lang="en-US" sz="1550" dirty="0"/>
          </a:p>
        </p:txBody>
      </p:sp>
      <p:sp>
        <p:nvSpPr>
          <p:cNvPr id="14" name="rv3_step2_dot"/>
          <p:cNvSpPr/>
          <p:nvPr/>
        </p:nvSpPr>
        <p:spPr>
          <a:xfrm>
            <a:off x="548640" y="4690872"/>
            <a:ext cx="384048" cy="384048"/>
          </a:xfrm>
          <a:prstGeom prst="ellipse">
            <a:avLst/>
          </a:prstGeom>
          <a:solidFill>
            <a:schemeClr val="accent4"/>
          </a:solidFill>
          <a:ln w="12700">
            <a:solidFill>
              <a:schemeClr val="accent4"/>
            </a:solidFill>
            <a:prstDash val="solid"/>
          </a:ln>
        </p:spPr>
      </p:sp>
      <p:sp>
        <p:nvSpPr>
          <p:cNvPr id="15" name="rv3_step2_num"/>
          <p:cNvSpPr txBox="1"/>
          <p:nvPr/>
        </p:nvSpPr>
        <p:spPr>
          <a:xfrm>
            <a:off x="548640" y="469087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rv3_step2_tx"/>
          <p:cNvSpPr txBox="1"/>
          <p:nvPr/>
        </p:nvSpPr>
        <p:spPr>
          <a:xfrm>
            <a:off x="1097280" y="4654296"/>
            <a:ext cx="10545775" cy="676656"/>
          </a:xfrm>
          <a:prstGeom prst="rect">
            <a:avLst/>
          </a:prstGeom>
          <a:noFill/>
          <a:ln/>
        </p:spPr>
        <p:txBody>
          <a:bodyPr wrap="square" lIns="0" tIns="0" rIns="0" bIns="0" rtlCol="0" anchor="t"/>
          <a:lstStyle/>
          <a:p>
            <a:pPr indent="0" marL="0">
              <a:buNone/>
            </a:pPr>
            <a:r>
              <a:rPr lang="en-US" sz="1550" b="1" dirty="0">
                <a:solidFill>
                  <a:schemeClr val="tx2"/>
                </a:solidFill>
              </a:rPr>
              <a:t>Why oil helps:   </a:t>
            </a:r>
            <a:pPr indent="0" marL="0">
              <a:buNone/>
            </a:pPr>
            <a:r>
              <a:rPr lang="en-US" sz="1550" dirty="0">
                <a:solidFill>
                  <a:schemeClr val="tx1"/>
                </a:solidFill>
              </a:rPr>
              <a:t>oil (n ≈ 1.52) matches the glass, so light rays at wide angles are not lost by refraction or TIR — NA can exceed 1.</a:t>
            </a:r>
            <a:endParaRPr lang="en-US" sz="1550" dirty="0"/>
          </a:p>
        </p:txBody>
      </p:sp>
      <p:sp>
        <p:nvSpPr>
          <p:cNvPr id="17" name="rv4_step3_dot"/>
          <p:cNvSpPr/>
          <p:nvPr/>
        </p:nvSpPr>
        <p:spPr>
          <a:xfrm>
            <a:off x="548640" y="5440680"/>
            <a:ext cx="384048" cy="384048"/>
          </a:xfrm>
          <a:prstGeom prst="ellipse">
            <a:avLst/>
          </a:prstGeom>
          <a:solidFill>
            <a:schemeClr val="accent4"/>
          </a:solidFill>
          <a:ln w="12700">
            <a:solidFill>
              <a:schemeClr val="accent4"/>
            </a:solidFill>
            <a:prstDash val="solid"/>
          </a:ln>
        </p:spPr>
      </p:sp>
      <p:sp>
        <p:nvSpPr>
          <p:cNvPr id="18" name="rv4_step3_num"/>
          <p:cNvSpPr txBox="1"/>
          <p:nvPr/>
        </p:nvSpPr>
        <p:spPr>
          <a:xfrm>
            <a:off x="548640" y="54406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rv4_step3_tx"/>
          <p:cNvSpPr txBox="1"/>
          <p:nvPr/>
        </p:nvSpPr>
        <p:spPr>
          <a:xfrm>
            <a:off x="1097280" y="5404104"/>
            <a:ext cx="10545775" cy="676656"/>
          </a:xfrm>
          <a:prstGeom prst="rect">
            <a:avLst/>
          </a:prstGeom>
          <a:noFill/>
          <a:ln/>
        </p:spPr>
        <p:txBody>
          <a:bodyPr wrap="square" lIns="0" tIns="0" rIns="0" bIns="0" rtlCol="0" anchor="t"/>
          <a:lstStyle/>
          <a:p>
            <a:pPr indent="0" marL="0">
              <a:buNone/>
            </a:pPr>
            <a:r>
              <a:rPr lang="en-US" sz="1550" b="1" dirty="0">
                <a:solidFill>
                  <a:schemeClr val="tx2"/>
                </a:solidFill>
              </a:rPr>
              <a:t>What it means:   </a:t>
            </a:r>
            <a:pPr indent="0" marL="0">
              <a:buNone/>
            </a:pPr>
            <a:r>
              <a:rPr lang="en-US" sz="1550" dirty="0">
                <a:solidFill>
                  <a:schemeClr val="tx1"/>
                </a:solidFill>
              </a:rPr>
              <a:t>bacteria (~1 µm) are visible; their fine surface features, viruses (~0.1 µm) and proteins are not.</a:t>
            </a:r>
            <a:endParaRPr lang="en-US" sz="15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4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Which change lets you resolve finer detail?</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Shape 5"/>
          <p:cNvSpPr/>
          <p:nvPr/>
        </p:nvSpPr>
        <p:spPr>
          <a:xfrm>
            <a:off x="548640"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8" name="Shape 6"/>
          <p:cNvSpPr/>
          <p:nvPr/>
        </p:nvSpPr>
        <p:spPr>
          <a:xfrm>
            <a:off x="713232" y="1844802"/>
            <a:ext cx="493776" cy="493776"/>
          </a:xfrm>
          <a:prstGeom prst="ellipse">
            <a:avLst/>
          </a:prstGeom>
          <a:solidFill>
            <a:schemeClr val="accent2"/>
          </a:solidFill>
          <a:ln w="12700">
            <a:solidFill>
              <a:schemeClr val="accent2"/>
            </a:solidFill>
            <a:prstDash val="solid"/>
          </a:ln>
        </p:spPr>
      </p:sp>
      <p:sp>
        <p:nvSpPr>
          <p:cNvPr id="9" name="Text 7"/>
          <p:cNvSpPr txBox="1"/>
          <p:nvPr/>
        </p:nvSpPr>
        <p:spPr>
          <a:xfrm>
            <a:off x="713232"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Text 8"/>
          <p:cNvSpPr txBox="1"/>
          <p:nvPr/>
        </p:nvSpPr>
        <p:spPr>
          <a:xfrm>
            <a:off x="1371600"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A brighter lamp</a:t>
            </a:r>
            <a:endParaRPr lang="en-US" sz="1600" dirty="0"/>
          </a:p>
        </p:txBody>
      </p:sp>
      <p:sp>
        <p:nvSpPr>
          <p:cNvPr id="11" name="Shape 9"/>
          <p:cNvSpPr/>
          <p:nvPr/>
        </p:nvSpPr>
        <p:spPr>
          <a:xfrm>
            <a:off x="6210148" y="155448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2" name="Shape 10"/>
          <p:cNvSpPr/>
          <p:nvPr/>
        </p:nvSpPr>
        <p:spPr>
          <a:xfrm>
            <a:off x="6374740" y="1844802"/>
            <a:ext cx="493776" cy="493776"/>
          </a:xfrm>
          <a:prstGeom prst="ellipse">
            <a:avLst/>
          </a:prstGeom>
          <a:solidFill>
            <a:schemeClr val="accent2"/>
          </a:solidFill>
          <a:ln w="12700">
            <a:solidFill>
              <a:schemeClr val="accent2"/>
            </a:solidFill>
            <a:prstDash val="solid"/>
          </a:ln>
        </p:spPr>
      </p:sp>
      <p:sp>
        <p:nvSpPr>
          <p:cNvPr id="13" name="Text 11"/>
          <p:cNvSpPr txBox="1"/>
          <p:nvPr/>
        </p:nvSpPr>
        <p:spPr>
          <a:xfrm>
            <a:off x="6374740" y="18448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4" name="Text 12"/>
          <p:cNvSpPr txBox="1"/>
          <p:nvPr/>
        </p:nvSpPr>
        <p:spPr>
          <a:xfrm>
            <a:off x="7033108" y="1627632"/>
            <a:ext cx="4472788" cy="928116"/>
          </a:xfrm>
          <a:prstGeom prst="rect">
            <a:avLst/>
          </a:prstGeom>
          <a:noFill/>
          <a:ln/>
        </p:spPr>
        <p:txBody>
          <a:bodyPr wrap="square" lIns="0" tIns="0" rIns="0" bIns="0" rtlCol="0" anchor="ctr"/>
          <a:lstStyle/>
          <a:p>
            <a:pPr indent="0" marL="0">
              <a:buNone/>
            </a:pPr>
            <a:r>
              <a:rPr lang="en-US" sz="1600" dirty="0">
                <a:solidFill>
                  <a:schemeClr val="tx1"/>
                </a:solidFill>
              </a:rPr>
              <a:t>A stronger eyepiece</a:t>
            </a:r>
            <a:endParaRPr lang="en-US" sz="1600" dirty="0"/>
          </a:p>
        </p:txBody>
      </p:sp>
      <p:sp>
        <p:nvSpPr>
          <p:cNvPr id="15" name="Shape 13"/>
          <p:cNvSpPr/>
          <p:nvPr/>
        </p:nvSpPr>
        <p:spPr>
          <a:xfrm>
            <a:off x="548640"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16" name="Shape 14"/>
          <p:cNvSpPr/>
          <p:nvPr/>
        </p:nvSpPr>
        <p:spPr>
          <a:xfrm>
            <a:off x="713232" y="3147822"/>
            <a:ext cx="493776" cy="493776"/>
          </a:xfrm>
          <a:prstGeom prst="ellipse">
            <a:avLst/>
          </a:prstGeom>
          <a:solidFill>
            <a:schemeClr val="accent2"/>
          </a:solidFill>
          <a:ln w="12700">
            <a:solidFill>
              <a:schemeClr val="accent2"/>
            </a:solidFill>
            <a:prstDash val="solid"/>
          </a:ln>
        </p:spPr>
      </p:sp>
      <p:sp>
        <p:nvSpPr>
          <p:cNvPr id="17" name="Text 15"/>
          <p:cNvSpPr txBox="1"/>
          <p:nvPr/>
        </p:nvSpPr>
        <p:spPr>
          <a:xfrm>
            <a:off x="713232"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8" name="Text 16"/>
          <p:cNvSpPr txBox="1"/>
          <p:nvPr/>
        </p:nvSpPr>
        <p:spPr>
          <a:xfrm>
            <a:off x="1371600"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Blue light and a higher-NA (oil) objective</a:t>
            </a:r>
            <a:endParaRPr lang="en-US" sz="1600" dirty="0"/>
          </a:p>
        </p:txBody>
      </p:sp>
      <p:sp>
        <p:nvSpPr>
          <p:cNvPr id="19" name="rv1_ring"/>
          <p:cNvSpPr/>
          <p:nvPr/>
        </p:nvSpPr>
        <p:spPr>
          <a:xfrm>
            <a:off x="502920" y="2811780"/>
            <a:ext cx="5524348" cy="1165860"/>
          </a:xfrm>
          <a:prstGeom prst="roundRect">
            <a:avLst>
              <a:gd name="adj" fmla="val 7843"/>
            </a:avLst>
          </a:prstGeom>
          <a:solidFill>
            <a:schemeClr val="bg1">
              <a:alpha val="0"/>
            </a:schemeClr>
          </a:solidFill>
          <a:ln w="50800">
            <a:solidFill>
              <a:schemeClr val="accent3"/>
            </a:solidFill>
            <a:prstDash val="solid"/>
          </a:ln>
        </p:spPr>
      </p:sp>
      <p:sp>
        <p:nvSpPr>
          <p:cNvPr id="20" name="Shape 18"/>
          <p:cNvSpPr/>
          <p:nvPr/>
        </p:nvSpPr>
        <p:spPr>
          <a:xfrm>
            <a:off x="6210148" y="2857500"/>
            <a:ext cx="5432908" cy="1074420"/>
          </a:xfrm>
          <a:prstGeom prst="roundRect">
            <a:avLst>
              <a:gd name="adj" fmla="val 6809"/>
            </a:avLst>
          </a:prstGeom>
          <a:solidFill>
            <a:schemeClr val="tx2">
              <a:alpha val="6000"/>
            </a:schemeClr>
          </a:solidFill>
          <a:ln w="9525">
            <a:solidFill>
              <a:schemeClr val="tx2">
                <a:alpha val="6000"/>
              </a:schemeClr>
            </a:solidFill>
            <a:prstDash val="solid"/>
          </a:ln>
        </p:spPr>
      </p:sp>
      <p:sp>
        <p:nvSpPr>
          <p:cNvPr id="21" name="Shape 19"/>
          <p:cNvSpPr/>
          <p:nvPr/>
        </p:nvSpPr>
        <p:spPr>
          <a:xfrm>
            <a:off x="6374740" y="3147822"/>
            <a:ext cx="493776" cy="493776"/>
          </a:xfrm>
          <a:prstGeom prst="ellipse">
            <a:avLst/>
          </a:prstGeom>
          <a:solidFill>
            <a:schemeClr val="accent2"/>
          </a:solidFill>
          <a:ln w="12700">
            <a:solidFill>
              <a:schemeClr val="accent2"/>
            </a:solidFill>
            <a:prstDash val="solid"/>
          </a:ln>
        </p:spPr>
      </p:sp>
      <p:sp>
        <p:nvSpPr>
          <p:cNvPr id="22" name="Text 20"/>
          <p:cNvSpPr txBox="1"/>
          <p:nvPr/>
        </p:nvSpPr>
        <p:spPr>
          <a:xfrm>
            <a:off x="6374740" y="31478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3" name="Text 21"/>
          <p:cNvSpPr txBox="1"/>
          <p:nvPr/>
        </p:nvSpPr>
        <p:spPr>
          <a:xfrm>
            <a:off x="7033108" y="2930652"/>
            <a:ext cx="4472788" cy="928116"/>
          </a:xfrm>
          <a:prstGeom prst="rect">
            <a:avLst/>
          </a:prstGeom>
          <a:noFill/>
          <a:ln/>
        </p:spPr>
        <p:txBody>
          <a:bodyPr wrap="square" lIns="0" tIns="0" rIns="0" bIns="0" rtlCol="0" anchor="ctr"/>
          <a:lstStyle/>
          <a:p>
            <a:pPr indent="0" marL="0">
              <a:buNone/>
            </a:pPr>
            <a:r>
              <a:rPr lang="en-US" sz="1600" dirty="0">
                <a:solidFill>
                  <a:schemeClr val="tx1"/>
                </a:solidFill>
              </a:rPr>
              <a:t>Red light and a longer tube</a:t>
            </a:r>
            <a:endParaRPr lang="en-US" sz="1600" dirty="0"/>
          </a:p>
        </p:txBody>
      </p:sp>
      <p:sp>
        <p:nvSpPr>
          <p:cNvPr id="24" name="Text 22"/>
          <p:cNvSpPr txBox="1"/>
          <p:nvPr/>
        </p:nvSpPr>
        <p:spPr>
          <a:xfrm>
            <a:off x="548640" y="496062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5" name="rv1_ans_bg"/>
          <p:cNvSpPr/>
          <p:nvPr/>
        </p:nvSpPr>
        <p:spPr>
          <a:xfrm>
            <a:off x="548640" y="4160520"/>
            <a:ext cx="11094415" cy="1965960"/>
          </a:xfrm>
          <a:prstGeom prst="roundRect">
            <a:avLst>
              <a:gd name="adj" fmla="val 3721"/>
            </a:avLst>
          </a:prstGeom>
          <a:solidFill>
            <a:srgbClr val="EAF5EE"/>
          </a:solidFill>
          <a:ln w="15875">
            <a:solidFill>
              <a:schemeClr val="accent3"/>
            </a:solidFill>
            <a:prstDash val="solid"/>
          </a:ln>
        </p:spPr>
      </p:sp>
      <p:sp>
        <p:nvSpPr>
          <p:cNvPr id="26" name="rv1_ans_tx"/>
          <p:cNvSpPr txBox="1"/>
          <p:nvPr/>
        </p:nvSpPr>
        <p:spPr>
          <a:xfrm>
            <a:off x="731520" y="4270248"/>
            <a:ext cx="10728655" cy="17465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C</a:t>
            </a:r>
            <a:endParaRPr lang="en-US" sz="1500" dirty="0"/>
          </a:p>
          <a:p>
            <a:pPr indent="0" marL="0">
              <a:spcAft>
                <a:spcPts val="400"/>
              </a:spcAft>
              <a:buNone/>
            </a:pPr>
            <a:r>
              <a:rPr lang="en-US" sz="1500" dirty="0">
                <a:solidFill>
                  <a:schemeClr val="tx1"/>
                </a:solidFill>
              </a:rPr>
              <a:t>Resolution depends on λ/NA: shorter wavelength (blue, or UV) and larger numerical aperture both shrink the diffraction spot.</a:t>
            </a:r>
            <a:endParaRPr lang="en-US" sz="1500" dirty="0"/>
          </a:p>
          <a:p>
            <a:pPr indent="0" marL="0">
              <a:spcAft>
                <a:spcPts val="400"/>
              </a:spcAft>
              <a:buNone/>
            </a:pPr>
            <a:r>
              <a:rPr lang="en-US" sz="1500" dirty="0">
                <a:solidFill>
                  <a:schemeClr val="accent6"/>
                </a:solidFill>
              </a:rPr>
              <a:t>Brightness and eyepiece magnification do not change the spot size. Red light makes it worse.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5" grpId="0" animBg="1"/>
      <p:bldP spid="2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ag"/>
          <p:cNvSpPr/>
          <p:nvPr/>
        </p:nvSpPr>
        <p:spPr>
          <a:xfrm>
            <a:off x="548640" y="292608"/>
            <a:ext cx="1833372" cy="292608"/>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548640" y="292608"/>
            <a:ext cx="183337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FOOD BIOTECH LINK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Choosing the right microscope in a food biotech lab</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377440"/>
                <a:gridCol w="4480560"/>
                <a:gridCol w="4233672"/>
              </a:tblGrid>
              <a:tr h="585216">
                <a:tc>
                  <a:txBody>
                    <a:bodyPr/>
                    <a:lstStyle/>
                    <a:p>
                      <a:pPr indent="0" marL="0">
                        <a:buNone/>
                      </a:pPr>
                      <a:r>
                        <a:rPr lang="en-US" sz="1450" b="1" dirty="0">
                          <a:solidFill>
                            <a:schemeClr val="bg1"/>
                          </a:solidFill>
                        </a:rPr>
                        <a:t>Microscope</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450" b="1" dirty="0">
                          <a:solidFill>
                            <a:schemeClr val="bg1"/>
                          </a:solidFill>
                        </a:rPr>
                        <a:t>Where the contrast comes from</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c>
                  <a:txBody>
                    <a:bodyPr/>
                    <a:lstStyle/>
                    <a:p>
                      <a:pPr indent="0" marL="0">
                        <a:buNone/>
                      </a:pPr>
                      <a:r>
                        <a:rPr lang="en-US" sz="1450" b="1" dirty="0">
                          <a:solidFill>
                            <a:schemeClr val="bg1"/>
                          </a:solidFill>
                        </a:rPr>
                        <a:t>Good for</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solidFill>
                      <a:schemeClr val="tx2"/>
                    </a:solidFill>
                  </a:tcPr>
                </a:tc>
              </a:tr>
              <a:tr h="585216">
                <a:tc>
                  <a:txBody>
                    <a:bodyPr/>
                    <a:lstStyle/>
                    <a:p>
                      <a:pPr indent="0" marL="0">
                        <a:buNone/>
                      </a:pPr>
                      <a:r>
                        <a:rPr lang="en-US" sz="1450" b="1" dirty="0">
                          <a:solidFill>
                            <a:schemeClr val="tx2"/>
                          </a:solidFill>
                        </a:rPr>
                        <a:t>Bright-field</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absorption — often needs staining (e.g. Gram stain)</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stained bacteria, tissue sections, starch with iodine</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85216">
                <a:tc>
                  <a:txBody>
                    <a:bodyPr/>
                    <a:lstStyle/>
                    <a:p>
                      <a:pPr indent="0" marL="0">
                        <a:buNone/>
                      </a:pPr>
                      <a:r>
                        <a:rPr lang="en-US" sz="1450" b="1" dirty="0">
                          <a:solidFill>
                            <a:schemeClr val="tx2"/>
                          </a:solidFill>
                        </a:rPr>
                        <a:t>Phase contrast</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tiny phase delays in transparent samples turned into brightness</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living yeast and bacteria, without staining</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85216">
                <a:tc>
                  <a:txBody>
                    <a:bodyPr/>
                    <a:lstStyle/>
                    <a:p>
                      <a:pPr indent="0" marL="0">
                        <a:buNone/>
                      </a:pPr>
                      <a:r>
                        <a:rPr lang="en-US" sz="1450" b="1" dirty="0">
                          <a:solidFill>
                            <a:schemeClr val="tx2"/>
                          </a:solidFill>
                        </a:rPr>
                        <a:t>Polarized light</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ordered (crystalline) structures rotate polarization</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starch granules, fat and sugar crystals (Part G)</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85216">
                <a:tc>
                  <a:txBody>
                    <a:bodyPr/>
                    <a:lstStyle/>
                    <a:p>
                      <a:pPr indent="0" marL="0">
                        <a:buNone/>
                      </a:pPr>
                      <a:r>
                        <a:rPr lang="en-US" sz="1450" b="1" dirty="0">
                          <a:solidFill>
                            <a:schemeClr val="tx2"/>
                          </a:solidFill>
                        </a:rPr>
                        <a:t>Fluorescence</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dyes or proteins absorb one colour and emit another</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live/dead staining, specific cells or proteins</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r h="585216">
                <a:tc>
                  <a:txBody>
                    <a:bodyPr/>
                    <a:lstStyle/>
                    <a:p>
                      <a:pPr indent="0" marL="0">
                        <a:buNone/>
                      </a:pPr>
                      <a:r>
                        <a:rPr lang="en-US" sz="1450" b="1" dirty="0">
                          <a:solidFill>
                            <a:schemeClr val="tx2"/>
                          </a:solidFill>
                        </a:rPr>
                        <a:t>Electron (SEM, TEM, cryo-EM)</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electrons with wavelengths of picometres</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c>
                  <a:txBody>
                    <a:bodyPr/>
                    <a:lstStyle/>
                    <a:p>
                      <a:pPr indent="0" marL="0">
                        <a:buNone/>
                      </a:pPr>
                      <a:r>
                        <a:rPr lang="en-US" sz="1450" dirty="0">
                          <a:solidFill>
                            <a:schemeClr val="tx1"/>
                          </a:solidFill>
                        </a:rPr>
                        <a:t>viruses, phages, protein structures, food microstructure</a:t>
                      </a:r>
                      <a:endParaRPr lang="en-US" sz="1450" dirty="0"/>
                    </a:p>
                  </a:txBody>
                  <a:tcPr marL="128016" marR="128016" marT="45720" marB="45720" anchor="ctr">
                    <a:lnL w="9525" cap="flat" cmpd="sng" algn="ctr">
                      <a:solidFill>
                        <a:srgbClr val="CBD2D9"/>
                      </a:solidFill>
                      <a:prstDash val="solid"/>
                      <a:round/>
                      <a:headEnd type="none" w="med" len="med"/>
                      <a:tailEnd type="none" w="med" len="med"/>
                    </a:lnL>
                    <a:lnR w="9525" cap="flat" cmpd="sng" algn="ctr">
                      <a:solidFill>
                        <a:srgbClr val="CBD2D9"/>
                      </a:solidFill>
                      <a:prstDash val="solid"/>
                      <a:round/>
                      <a:headEnd type="none" w="med" len="med"/>
                      <a:tailEnd type="none" w="med" len="med"/>
                    </a:lnR>
                    <a:lnT w="9525" cap="flat" cmpd="sng" algn="ctr">
                      <a:solidFill>
                        <a:srgbClr val="CBD2D9"/>
                      </a:solidFill>
                      <a:prstDash val="solid"/>
                      <a:round/>
                      <a:headEnd type="none" w="med" len="med"/>
                      <a:tailEnd type="none" w="med" len="med"/>
                    </a:lnT>
                    <a:lnB w="9525" cap="flat" cmpd="sng" algn="ctr">
                      <a:solidFill>
                        <a:srgbClr val="CBD2D9"/>
                      </a:solidFill>
                      <a:prstDash val="solid"/>
                      <a:round/>
                      <a:headEnd type="none" w="med" len="med"/>
                      <a:tailEnd type="none" w="med" len="med"/>
                    </a:lnB>
                  </a:tcPr>
                </a:tc>
              </a:tr>
            </a:tbl>
          </a:graphicData>
        </a:graphic>
      </p:graphicFrame>
      <p:sp>
        <p:nvSpPr>
          <p:cNvPr id="6" name="Shape 3"/>
          <p:cNvSpPr/>
          <p:nvPr/>
        </p:nvSpPr>
        <p:spPr>
          <a:xfrm>
            <a:off x="548640" y="5394960"/>
            <a:ext cx="11094415" cy="822960"/>
          </a:xfrm>
          <a:prstGeom prst="roundRect">
            <a:avLst>
              <a:gd name="adj" fmla="val 8889"/>
            </a:avLst>
          </a:prstGeom>
          <a:solidFill>
            <a:schemeClr val="accent1">
              <a:alpha val="12000"/>
            </a:schemeClr>
          </a:solidFill>
          <a:ln w="9525">
            <a:solidFill>
              <a:schemeClr val="accent1">
                <a:alpha val="12000"/>
              </a:schemeClr>
            </a:solidFill>
            <a:prstDash val="solid"/>
          </a:ln>
        </p:spPr>
      </p:sp>
      <p:sp>
        <p:nvSpPr>
          <p:cNvPr id="7" name="Text 4"/>
          <p:cNvSpPr txBox="1"/>
          <p:nvPr/>
        </p:nvSpPr>
        <p:spPr>
          <a:xfrm>
            <a:off x="731520" y="5504688"/>
            <a:ext cx="10728655" cy="603504"/>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rPr>
              <a:t>Physics behind the choice</a:t>
            </a:r>
            <a:endParaRPr lang="en-US" sz="1450" dirty="0"/>
          </a:p>
          <a:p>
            <a:pPr indent="0" marL="0">
              <a:spcAft>
                <a:spcPts val="400"/>
              </a:spcAft>
              <a:buNone/>
            </a:pPr>
            <a:r>
              <a:rPr lang="en-US" sz="1450" dirty="0">
                <a:solidFill>
                  <a:schemeClr val="tx1"/>
                </a:solidFill>
              </a:rPr>
              <a:t>Most cells are almost transparent, so seeing them is mainly about creating contrast (phase, polarization, fluorescence). Seeing smaller is about shorter wavelengths (electrons).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G</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Polarization</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Light as a transverse wave with a direction — glare, sunglasses, starch granules and sugar measurement</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Polarization: the direction the electric field shakes</a:t>
            </a:r>
            <a:endParaRPr lang="en-US" sz="3000" dirty="0"/>
          </a:p>
        </p:txBody>
      </p:sp>
      <p:pic>
        <p:nvPicPr>
          <p:cNvPr id="5" name="img_polarization.gif" descr="Animation: unpolarized light with random field directions passes a polarizer and emerges vertically polarized">    </p:cNvPr>
          <p:cNvPicPr>
            <a:picLocks noChangeAspect="1"/>
          </p:cNvPicPr>
          <p:nvPr/>
        </p:nvPicPr>
        <p:blipFill>
          <a:blip r:embed="rId1"/>
          <a:stretch>
            <a:fillRect/>
          </a:stretch>
        </p:blipFill>
        <p:spPr>
          <a:xfrm>
            <a:off x="2555405" y="1417320"/>
            <a:ext cx="7080885" cy="2697480"/>
          </a:xfrm>
          <a:prstGeom prst="rect">
            <a:avLst/>
          </a:prstGeom>
        </p:spPr>
      </p:pic>
      <p:sp>
        <p:nvSpPr>
          <p:cNvPr id="6" name="Text 3"/>
          <p:cNvSpPr txBox="1"/>
          <p:nvPr/>
        </p:nvSpPr>
        <p:spPr>
          <a:xfrm>
            <a:off x="548640" y="4206240"/>
            <a:ext cx="11094415" cy="20116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Light is a transverse wave: </a:t>
            </a:r>
            <a:pPr indent="0" marL="0">
              <a:spcAft>
                <a:spcPts val="800"/>
              </a:spcAft>
              <a:buNone/>
            </a:pPr>
            <a:r>
              <a:rPr lang="en-US" sz="1500" dirty="0">
                <a:solidFill>
                  <a:schemeClr val="tx1"/>
                </a:solidFill>
              </a:rPr>
              <a:t>its electric field shakes at right angles to the direction of travel.</a:t>
            </a:r>
            <a:endParaRPr lang="en-US" sz="1500" dirty="0"/>
          </a:p>
          <a:p>
            <a:pPr marL="228600" indent="-228600">
              <a:spcAft>
                <a:spcPts val="800"/>
              </a:spcAft>
              <a:buSzPct val="100000"/>
              <a:buChar char="•"/>
            </a:pPr>
            <a:r>
              <a:rPr lang="en-US" sz="1500" b="1" dirty="0">
                <a:solidFill>
                  <a:schemeClr val="tx2"/>
                </a:solidFill>
              </a:rPr>
              <a:t>Ordinary light (sun, lamps) is unpolarized: </a:t>
            </a:r>
            <a:pPr indent="0" marL="0">
              <a:spcAft>
                <a:spcPts val="800"/>
              </a:spcAft>
              <a:buNone/>
            </a:pPr>
            <a:r>
              <a:rPr lang="en-US" sz="1500" dirty="0">
                <a:solidFill>
                  <a:schemeClr val="tx1"/>
                </a:solidFill>
              </a:rPr>
              <a:t>the field direction changes randomly.</a:t>
            </a:r>
            <a:endParaRPr lang="en-US" sz="1500" dirty="0"/>
          </a:p>
          <a:p>
            <a:pPr marL="228600" indent="-228600">
              <a:spcAft>
                <a:spcPts val="800"/>
              </a:spcAft>
              <a:buSzPct val="100000"/>
              <a:buChar char="•"/>
            </a:pPr>
            <a:r>
              <a:rPr lang="en-US" sz="1500" b="1" dirty="0">
                <a:solidFill>
                  <a:schemeClr val="tx2"/>
                </a:solidFill>
              </a:rPr>
              <a:t>A polarizer only lets through the component along its axis, </a:t>
            </a:r>
            <a:pPr indent="0" marL="0">
              <a:spcAft>
                <a:spcPts val="800"/>
              </a:spcAft>
              <a:buNone/>
            </a:pPr>
            <a:r>
              <a:rPr lang="en-US" sz="1500" dirty="0">
                <a:solidFill>
                  <a:schemeClr val="tx1"/>
                </a:solidFill>
              </a:rPr>
              <a:t>so the light that emerges is polarized — and has half the intensity.</a:t>
            </a:r>
            <a:endParaRPr lang="en-US" sz="1500" dirty="0"/>
          </a:p>
          <a:p>
            <a:pPr marL="228600" indent="-228600">
              <a:spcAft>
                <a:spcPts val="800"/>
              </a:spcAft>
              <a:buSzPct val="100000"/>
              <a:buChar char="•"/>
            </a:pPr>
            <a:r>
              <a:rPr lang="en-US" sz="1500" b="1" dirty="0">
                <a:solidFill>
                  <a:schemeClr val="tx2"/>
                </a:solidFill>
              </a:rPr>
              <a:t>Only transverse waves can be polarized </a:t>
            </a:r>
            <a:pPr indent="0" marL="0">
              <a:spcAft>
                <a:spcPts val="800"/>
              </a:spcAft>
              <a:buNone/>
            </a:pPr>
            <a:r>
              <a:rPr lang="en-US" sz="1500" dirty="0">
                <a:solidFill>
                  <a:schemeClr val="tx1"/>
                </a:solidFill>
              </a:rPr>
              <a:t>— so sound (longitudinal) cannot be.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ag"/>
          <p:cNvSpPr/>
          <p:nvPr/>
        </p:nvSpPr>
        <p:spPr>
          <a:xfrm>
            <a:off x="548640" y="292608"/>
            <a:ext cx="58521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58521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DEMO</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The three-polarizer surprise</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3 minutes</a:t>
            </a:r>
            <a:endParaRPr lang="en-US" sz="1100" dirty="0"/>
          </a:p>
        </p:txBody>
      </p:sp>
      <p:pic>
        <p:nvPicPr>
          <p:cNvPr id="7" name="img_three_polarizers.png" descr="Vertical, 45 degree and horizontal polarizers in a row; one eighth of the light gets through">    </p:cNvPr>
          <p:cNvPicPr>
            <a:picLocks noChangeAspect="1"/>
          </p:cNvPicPr>
          <p:nvPr/>
        </p:nvPicPr>
        <p:blipFill>
          <a:blip r:embed="rId1"/>
          <a:stretch>
            <a:fillRect/>
          </a:stretch>
        </p:blipFill>
        <p:spPr>
          <a:xfrm>
            <a:off x="548640" y="1431471"/>
            <a:ext cx="6766560" cy="2577737"/>
          </a:xfrm>
          <a:prstGeom prst="rect">
            <a:avLst/>
          </a:prstGeom>
        </p:spPr>
      </p:pic>
      <p:sp>
        <p:nvSpPr>
          <p:cNvPr id="8" name="Shape 5"/>
          <p:cNvSpPr/>
          <p:nvPr/>
        </p:nvSpPr>
        <p:spPr>
          <a:xfrm>
            <a:off x="7589520" y="1508760"/>
            <a:ext cx="4050792" cy="777240"/>
          </a:xfrm>
          <a:prstGeom prst="roundRect">
            <a:avLst>
              <a:gd name="adj" fmla="val 9412"/>
            </a:avLst>
          </a:prstGeom>
          <a:solidFill>
            <a:schemeClr val="accent1">
              <a:alpha val="12000"/>
            </a:schemeClr>
          </a:solidFill>
          <a:ln w="9525">
            <a:solidFill>
              <a:schemeClr val="accent1">
                <a:alpha val="12000"/>
              </a:schemeClr>
            </a:solidFill>
            <a:prstDash val="solid"/>
          </a:ln>
        </p:spPr>
      </p:sp>
      <p:sp>
        <p:nvSpPr>
          <p:cNvPr id="9" name="Text 6"/>
          <p:cNvSpPr txBox="1"/>
          <p:nvPr/>
        </p:nvSpPr>
        <p:spPr>
          <a:xfrm>
            <a:off x="7589520" y="1508760"/>
            <a:ext cx="4050792" cy="7772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Malus:  I = I₀ cos² θ</a:t>
            </a:r>
            <a:endParaRPr lang="en-US" sz="2400" dirty="0"/>
          </a:p>
        </p:txBody>
      </p:sp>
      <p:sp>
        <p:nvSpPr>
          <p:cNvPr id="10" name="Text 7"/>
          <p:cNvSpPr txBox="1"/>
          <p:nvPr/>
        </p:nvSpPr>
        <p:spPr>
          <a:xfrm>
            <a:off x="7589520" y="2468880"/>
            <a:ext cx="4050792" cy="17373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Two crossed polarizers (90°) </a:t>
            </a:r>
            <a:pPr indent="0" marL="0">
              <a:spcAft>
                <a:spcPts val="800"/>
              </a:spcAft>
              <a:buNone/>
            </a:pPr>
            <a:r>
              <a:rPr lang="en-US" sz="1500" dirty="0">
                <a:solidFill>
                  <a:schemeClr val="tx1"/>
                </a:solidFill>
              </a:rPr>
              <a:t>block everything: cos² 90° = 0.</a:t>
            </a:r>
            <a:endParaRPr lang="en-US" sz="1500" dirty="0"/>
          </a:p>
          <a:p>
            <a:pPr marL="228600" indent="-228600">
              <a:spcAft>
                <a:spcPts val="800"/>
              </a:spcAft>
              <a:buSzPct val="100000"/>
              <a:buChar char="•"/>
            </a:pPr>
            <a:r>
              <a:rPr lang="en-US" sz="1500" b="1" dirty="0">
                <a:solidFill>
                  <a:schemeClr val="tx2"/>
                </a:solidFill>
              </a:rPr>
              <a:t>Now slide a third one at 45° in between. </a:t>
            </a:r>
            <a:pPr indent="0" marL="0">
              <a:spcAft>
                <a:spcPts val="800"/>
              </a:spcAft>
              <a:buNone/>
            </a:pPr>
            <a:r>
              <a:rPr lang="en-US" sz="1500" dirty="0">
                <a:solidFill>
                  <a:schemeClr val="tx1"/>
                </a:solidFill>
              </a:rPr>
              <a:t>Predict: more or less light?</a:t>
            </a:r>
            <a:endParaRPr lang="en-US" sz="1500" dirty="0"/>
          </a:p>
        </p:txBody>
      </p:sp>
      <p:sp>
        <p:nvSpPr>
          <p:cNvPr id="11" name="Text 8"/>
          <p:cNvSpPr txBox="1"/>
          <p:nvPr/>
        </p:nvSpPr>
        <p:spPr>
          <a:xfrm>
            <a:off x="548640" y="500634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2" name="rv1_ans_bg"/>
          <p:cNvSpPr/>
          <p:nvPr/>
        </p:nvSpPr>
        <p:spPr>
          <a:xfrm>
            <a:off x="548640" y="4206240"/>
            <a:ext cx="11094415" cy="1965960"/>
          </a:xfrm>
          <a:prstGeom prst="roundRect">
            <a:avLst>
              <a:gd name="adj" fmla="val 3721"/>
            </a:avLst>
          </a:prstGeom>
          <a:solidFill>
            <a:srgbClr val="EAF5EE"/>
          </a:solidFill>
          <a:ln w="15875">
            <a:solidFill>
              <a:schemeClr val="accent3"/>
            </a:solidFill>
            <a:prstDash val="solid"/>
          </a:ln>
        </p:spPr>
      </p:sp>
      <p:sp>
        <p:nvSpPr>
          <p:cNvPr id="13" name="rv1_ans_tx"/>
          <p:cNvSpPr txBox="1"/>
          <p:nvPr/>
        </p:nvSpPr>
        <p:spPr>
          <a:xfrm>
            <a:off x="731520" y="4315968"/>
            <a:ext cx="10728655" cy="17465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Light comes back through!</a:t>
            </a:r>
            <a:endParaRPr lang="en-US" sz="1500" dirty="0"/>
          </a:p>
          <a:p>
            <a:pPr indent="0" marL="0">
              <a:spcAft>
                <a:spcPts val="400"/>
              </a:spcAft>
              <a:buNone/>
            </a:pPr>
            <a:r>
              <a:rPr lang="en-US" sz="1500" dirty="0">
                <a:solidFill>
                  <a:schemeClr val="tx1"/>
                </a:solidFill>
              </a:rPr>
              <a:t>Unpolarized → first polarizer: I₀/2.  → 45°: × cos² 45° = ½ → I₀/4.  → horizontal: × ½ again → I₀/8.</a:t>
            </a:r>
            <a:endParaRPr lang="en-US" sz="1500" dirty="0"/>
          </a:p>
          <a:p>
            <a:pPr indent="0" marL="0">
              <a:spcAft>
                <a:spcPts val="400"/>
              </a:spcAft>
              <a:buNone/>
            </a:pPr>
            <a:r>
              <a:rPr lang="en-US" sz="1500" dirty="0">
                <a:solidFill>
                  <a:schemeClr val="accent6"/>
                </a:solidFill>
              </a:rPr>
              <a:t>Adding a filter lets MORE light through, because the middle one rotates the polarization direction step by step. A pure particle "sieve" picture cannot explain this; a wave picture can.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ag"/>
          <p:cNvSpPr/>
          <p:nvPr/>
        </p:nvSpPr>
        <p:spPr>
          <a:xfrm>
            <a:off x="548640" y="292608"/>
            <a:ext cx="154533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54533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CLASS ACTIVITY</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Polarized sunglasses vs your phone screen</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3 minutes, in pairs</a:t>
            </a:r>
            <a:endParaRPr lang="en-US" sz="1100" dirty="0"/>
          </a:p>
        </p:txBody>
      </p:sp>
      <p:sp>
        <p:nvSpPr>
          <p:cNvPr id="7" name="Text 5"/>
          <p:cNvSpPr txBox="1"/>
          <p:nvPr/>
        </p:nvSpPr>
        <p:spPr>
          <a:xfrm>
            <a:off x="548640" y="1508760"/>
            <a:ext cx="6400800" cy="2194560"/>
          </a:xfrm>
          <a:prstGeom prst="rect">
            <a:avLst/>
          </a:prstGeom>
          <a:noFill/>
          <a:ln/>
        </p:spPr>
        <p:txBody>
          <a:bodyPr wrap="square" lIns="0" tIns="0" rIns="0" bIns="0" rtlCol="0" anchor="t"/>
          <a:lstStyle/>
          <a:p>
            <a:pPr marL="228600" indent="-228600">
              <a:spcAft>
                <a:spcPts val="800"/>
              </a:spcAft>
              <a:buSzPct val="100000"/>
              <a:buChar char="•"/>
            </a:pPr>
            <a:r>
              <a:rPr lang="en-US" sz="1650" b="1" dirty="0">
                <a:solidFill>
                  <a:schemeClr val="tx2"/>
                </a:solidFill>
              </a:rPr>
              <a:t>1. </a:t>
            </a:r>
            <a:pPr indent="0" marL="0">
              <a:spcAft>
                <a:spcPts val="800"/>
              </a:spcAft>
              <a:buNone/>
            </a:pPr>
            <a:r>
              <a:rPr lang="en-US" sz="1650" dirty="0">
                <a:solidFill>
                  <a:schemeClr val="tx1"/>
                </a:solidFill>
              </a:rPr>
              <a:t>Look at a phone or laptop screen through polarized sunglasses. Slowly rotate the sunglasses (or the phone) by 90°.</a:t>
            </a:r>
            <a:endParaRPr lang="en-US" sz="1650" dirty="0"/>
          </a:p>
          <a:p>
            <a:pPr marL="228600" indent="-228600">
              <a:spcAft>
                <a:spcPts val="800"/>
              </a:spcAft>
              <a:buSzPct val="100000"/>
              <a:buChar char="•"/>
            </a:pPr>
            <a:r>
              <a:rPr lang="en-US" sz="1650" b="1" dirty="0">
                <a:solidFill>
                  <a:schemeClr val="tx2"/>
                </a:solidFill>
              </a:rPr>
              <a:t>2. </a:t>
            </a:r>
            <a:pPr indent="0" marL="0">
              <a:spcAft>
                <a:spcPts val="800"/>
              </a:spcAft>
              <a:buNone/>
            </a:pPr>
            <a:r>
              <a:rPr lang="en-US" sz="1650" dirty="0">
                <a:solidFill>
                  <a:schemeClr val="tx1"/>
                </a:solidFill>
              </a:rPr>
              <a:t>Look at the glare reflected from a shiny desk, a window or a wet floor through the sunglasses. Tilt your head.</a:t>
            </a:r>
            <a:endParaRPr lang="en-US" sz="1650" dirty="0"/>
          </a:p>
        </p:txBody>
      </p:sp>
      <p:sp>
        <p:nvSpPr>
          <p:cNvPr id="8" name="Shape 6"/>
          <p:cNvSpPr/>
          <p:nvPr/>
        </p:nvSpPr>
        <p:spPr>
          <a:xfrm>
            <a:off x="548640" y="3840480"/>
            <a:ext cx="6400800" cy="1051560"/>
          </a:xfrm>
          <a:prstGeom prst="roundRect">
            <a:avLst>
              <a:gd name="adj" fmla="val 6957"/>
            </a:avLst>
          </a:prstGeom>
          <a:solidFill>
            <a:schemeClr val="accent2">
              <a:alpha val="12000"/>
            </a:schemeClr>
          </a:solidFill>
          <a:ln w="9525">
            <a:solidFill>
              <a:schemeClr val="accent2">
                <a:alpha val="12000"/>
              </a:schemeClr>
            </a:solidFill>
            <a:prstDash val="solid"/>
          </a:ln>
        </p:spPr>
      </p:sp>
      <p:sp>
        <p:nvSpPr>
          <p:cNvPr id="9" name="Text 7"/>
          <p:cNvSpPr txBox="1"/>
          <p:nvPr/>
        </p:nvSpPr>
        <p:spPr>
          <a:xfrm>
            <a:off x="731520" y="3950208"/>
            <a:ext cx="6035040" cy="83210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Predict</a:t>
            </a:r>
            <a:endParaRPr lang="en-US" sz="1550" dirty="0"/>
          </a:p>
          <a:p>
            <a:pPr indent="0" marL="0">
              <a:spcAft>
                <a:spcPts val="400"/>
              </a:spcAft>
              <a:buNone/>
            </a:pPr>
            <a:r>
              <a:rPr lang="en-US" sz="1550" dirty="0">
                <a:solidFill>
                  <a:schemeClr val="tx1"/>
                </a:solidFill>
              </a:rPr>
              <a:t>What happens to the screen at 90°? Why do anglers and drivers like polarized sunglasses?</a:t>
            </a:r>
            <a:endParaRPr lang="en-US" sz="1550" dirty="0"/>
          </a:p>
        </p:txBody>
      </p:sp>
      <p:sp>
        <p:nvSpPr>
          <p:cNvPr id="10" name="Text 8"/>
          <p:cNvSpPr txBox="1"/>
          <p:nvPr/>
        </p:nvSpPr>
        <p:spPr>
          <a:xfrm>
            <a:off x="7178040" y="2240280"/>
            <a:ext cx="446227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1" name="rv1_a_bg"/>
          <p:cNvSpPr/>
          <p:nvPr/>
        </p:nvSpPr>
        <p:spPr>
          <a:xfrm>
            <a:off x="7178040" y="1508760"/>
            <a:ext cx="4462272" cy="1828800"/>
          </a:xfrm>
          <a:prstGeom prst="roundRect">
            <a:avLst>
              <a:gd name="adj" fmla="val 4000"/>
            </a:avLst>
          </a:prstGeom>
          <a:solidFill>
            <a:srgbClr val="EAF5EE"/>
          </a:solidFill>
          <a:ln w="15875">
            <a:solidFill>
              <a:schemeClr val="accent3"/>
            </a:solidFill>
            <a:prstDash val="solid"/>
          </a:ln>
        </p:spPr>
      </p:sp>
      <p:sp>
        <p:nvSpPr>
          <p:cNvPr id="12" name="rv1_a_tx"/>
          <p:cNvSpPr txBox="1"/>
          <p:nvPr/>
        </p:nvSpPr>
        <p:spPr>
          <a:xfrm>
            <a:off x="7360920" y="1618488"/>
            <a:ext cx="4096512" cy="160934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The screen goes dark</a:t>
            </a:r>
            <a:endParaRPr lang="en-US" sz="1450" dirty="0"/>
          </a:p>
          <a:p>
            <a:pPr indent="0" marL="0">
              <a:spcAft>
                <a:spcPts val="400"/>
              </a:spcAft>
              <a:buNone/>
            </a:pPr>
            <a:r>
              <a:rPr lang="en-US" sz="1450" dirty="0">
                <a:solidFill>
                  <a:schemeClr val="tx1"/>
                </a:solidFill>
              </a:rPr>
              <a:t>LCD and many OLED screens emit polarized light. At 90° the sunglasses act as a crossed polarizer.</a:t>
            </a:r>
            <a:endParaRPr lang="en-US" sz="1450" dirty="0"/>
          </a:p>
        </p:txBody>
      </p:sp>
      <p:sp>
        <p:nvSpPr>
          <p:cNvPr id="13" name="Text 11"/>
          <p:cNvSpPr txBox="1"/>
          <p:nvPr/>
        </p:nvSpPr>
        <p:spPr>
          <a:xfrm>
            <a:off x="7178040" y="4663440"/>
            <a:ext cx="446227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4" name="rv2_b_bg"/>
          <p:cNvSpPr/>
          <p:nvPr/>
        </p:nvSpPr>
        <p:spPr>
          <a:xfrm>
            <a:off x="7178040" y="3520440"/>
            <a:ext cx="4462272" cy="2651760"/>
          </a:xfrm>
          <a:prstGeom prst="roundRect">
            <a:avLst>
              <a:gd name="adj" fmla="val 2759"/>
            </a:avLst>
          </a:prstGeom>
          <a:solidFill>
            <a:srgbClr val="EAF5EE"/>
          </a:solidFill>
          <a:ln w="15875">
            <a:solidFill>
              <a:schemeClr val="accent3"/>
            </a:solidFill>
            <a:prstDash val="solid"/>
          </a:ln>
        </p:spPr>
      </p:sp>
      <p:sp>
        <p:nvSpPr>
          <p:cNvPr id="15" name="rv2_b_tx"/>
          <p:cNvSpPr txBox="1"/>
          <p:nvPr/>
        </p:nvSpPr>
        <p:spPr>
          <a:xfrm>
            <a:off x="7360920" y="3630168"/>
            <a:ext cx="4096512" cy="24323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Glare is cut</a:t>
            </a:r>
            <a:endParaRPr lang="en-US" sz="1450" dirty="0"/>
          </a:p>
          <a:p>
            <a:pPr indent="0" marL="0">
              <a:spcAft>
                <a:spcPts val="400"/>
              </a:spcAft>
              <a:buNone/>
            </a:pPr>
            <a:r>
              <a:rPr lang="en-US" sz="1450" dirty="0">
                <a:solidFill>
                  <a:schemeClr val="tx1"/>
                </a:solidFill>
              </a:rPr>
              <a:t>Light reflected from horizontal surfaces (water, roads) is partly polarized horizontally. Polarized sunglasses block horizontal polarization, so glare drops while the rest of the scene stays visible.</a:t>
            </a:r>
            <a:endParaRPr lang="en-US" sz="1450" dirty="0"/>
          </a:p>
        </p:txBody>
      </p:sp>
      <p:sp>
        <p:nvSpPr>
          <p:cNvPr id="16" name="Shape 14"/>
          <p:cNvSpPr/>
          <p:nvPr/>
        </p:nvSpPr>
        <p:spPr>
          <a:xfrm>
            <a:off x="548640" y="5074920"/>
            <a:ext cx="6400800" cy="1097280"/>
          </a:xfrm>
          <a:prstGeom prst="roundRect">
            <a:avLst>
              <a:gd name="adj" fmla="val 6667"/>
            </a:avLst>
          </a:prstGeom>
          <a:solidFill>
            <a:schemeClr val="accent3">
              <a:alpha val="12000"/>
            </a:schemeClr>
          </a:solidFill>
          <a:ln w="9525">
            <a:solidFill>
              <a:schemeClr val="accent3">
                <a:alpha val="12000"/>
              </a:schemeClr>
            </a:solidFill>
            <a:prstDash val="solid"/>
          </a:ln>
        </p:spPr>
      </p:sp>
      <p:sp>
        <p:nvSpPr>
          <p:cNvPr id="17" name="Text 15"/>
          <p:cNvSpPr txBox="1"/>
          <p:nvPr/>
        </p:nvSpPr>
        <p:spPr>
          <a:xfrm>
            <a:off x="731520" y="5184648"/>
            <a:ext cx="6035040" cy="877824"/>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Food link</a:t>
            </a:r>
            <a:endParaRPr lang="en-US" sz="1450" dirty="0"/>
          </a:p>
          <a:p>
            <a:pPr indent="0" marL="0">
              <a:spcAft>
                <a:spcPts val="400"/>
              </a:spcAft>
              <a:buNone/>
            </a:pPr>
            <a:r>
              <a:rPr lang="en-US" sz="1450" dirty="0">
                <a:solidFill>
                  <a:schemeClr val="tx1"/>
                </a:solidFill>
              </a:rPr>
              <a:t>Machine-vision cameras on packing lines use crossed polarizers to remove glare from shiny fruit, wet fish and glossy packaging before measuring colour and defects.</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ag"/>
          <p:cNvSpPr/>
          <p:nvPr/>
        </p:nvSpPr>
        <p:spPr>
          <a:xfrm>
            <a:off x="548640" y="292608"/>
            <a:ext cx="1833372" cy="292608"/>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548640" y="292608"/>
            <a:ext cx="183337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FOOD BIOTECH LINK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Polarized light in the food lab: starch and sugar</a:t>
            </a:r>
            <a:endParaRPr lang="en-US" sz="3000" dirty="0"/>
          </a:p>
        </p:txBody>
      </p:sp>
      <p:pic>
        <p:nvPicPr>
          <p:cNvPr id="5" name="img_maltese.png" descr="Raw starch granules showing bright Maltese crosses under crossed polarizers; cooked starch shows none">    </p:cNvPr>
          <p:cNvPicPr>
            <a:picLocks noChangeAspect="1"/>
          </p:cNvPicPr>
          <p:nvPr/>
        </p:nvPicPr>
        <p:blipFill>
          <a:blip r:embed="rId1"/>
          <a:stretch>
            <a:fillRect/>
          </a:stretch>
        </p:blipFill>
        <p:spPr>
          <a:xfrm>
            <a:off x="548640" y="1428206"/>
            <a:ext cx="6217920" cy="2812869"/>
          </a:xfrm>
          <a:prstGeom prst="rect">
            <a:avLst/>
          </a:prstGeom>
        </p:spPr>
      </p:pic>
      <p:sp>
        <p:nvSpPr>
          <p:cNvPr id="6" name="Text 3"/>
          <p:cNvSpPr txBox="1"/>
          <p:nvPr/>
        </p:nvSpPr>
        <p:spPr>
          <a:xfrm>
            <a:off x="548640" y="4389120"/>
            <a:ext cx="6217920" cy="178308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Raw starch granules are partly crystalline: </a:t>
            </a:r>
            <a:pPr indent="0" marL="0">
              <a:spcAft>
                <a:spcPts val="800"/>
              </a:spcAft>
              <a:buNone/>
            </a:pPr>
            <a:r>
              <a:rPr lang="en-US" sz="1500" dirty="0">
                <a:solidFill>
                  <a:schemeClr val="tx1"/>
                </a:solidFill>
              </a:rPr>
              <a:t>under crossed polarizers they glow with a dark "Maltese cross" (birefringence).</a:t>
            </a:r>
            <a:endParaRPr lang="en-US" sz="1500" dirty="0"/>
          </a:p>
          <a:p>
            <a:pPr marL="228600" indent="-228600">
              <a:spcAft>
                <a:spcPts val="800"/>
              </a:spcAft>
              <a:buSzPct val="100000"/>
              <a:buChar char="•"/>
            </a:pPr>
            <a:r>
              <a:rPr lang="en-US" sz="1500" b="1" dirty="0">
                <a:solidFill>
                  <a:schemeClr val="tx2"/>
                </a:solidFill>
              </a:rPr>
              <a:t>Cooking (gelatinization) melts that order: </a:t>
            </a:r>
            <a:pPr indent="0" marL="0">
              <a:spcAft>
                <a:spcPts val="800"/>
              </a:spcAft>
              <a:buNone/>
            </a:pPr>
            <a:r>
              <a:rPr lang="en-US" sz="1500" dirty="0">
                <a:solidFill>
                  <a:schemeClr val="tx1"/>
                </a:solidFill>
              </a:rPr>
              <a:t>the crosses vanish. Microscopists use this to check how fully starch has been cooked.</a:t>
            </a:r>
            <a:endParaRPr lang="en-US" sz="1500" dirty="0"/>
          </a:p>
        </p:txBody>
      </p:sp>
      <p:sp>
        <p:nvSpPr>
          <p:cNvPr id="7" name="Shape 4"/>
          <p:cNvSpPr/>
          <p:nvPr/>
        </p:nvSpPr>
        <p:spPr>
          <a:xfrm>
            <a:off x="7040880" y="1417320"/>
            <a:ext cx="4599432" cy="4754880"/>
          </a:xfrm>
          <a:prstGeom prst="roundRect">
            <a:avLst>
              <a:gd name="adj" fmla="val 1590"/>
            </a:avLst>
          </a:prstGeom>
          <a:solidFill>
            <a:schemeClr val="accent4">
              <a:alpha val="10000"/>
            </a:schemeClr>
          </a:solidFill>
          <a:ln w="9525">
            <a:solidFill>
              <a:schemeClr val="accent4">
                <a:alpha val="10000"/>
              </a:schemeClr>
            </a:solidFill>
            <a:prstDash val="solid"/>
          </a:ln>
        </p:spPr>
      </p:sp>
      <p:sp>
        <p:nvSpPr>
          <p:cNvPr id="8" name="Text 5"/>
          <p:cNvSpPr txBox="1"/>
          <p:nvPr/>
        </p:nvSpPr>
        <p:spPr>
          <a:xfrm>
            <a:off x="7269480" y="1600200"/>
            <a:ext cx="4142232" cy="4480560"/>
          </a:xfrm>
          <a:prstGeom prst="rect">
            <a:avLst/>
          </a:prstGeom>
          <a:noFill/>
          <a:ln/>
        </p:spPr>
        <p:txBody>
          <a:bodyPr wrap="square" lIns="0" tIns="0" rIns="0" bIns="0" rtlCol="0" anchor="t"/>
          <a:lstStyle/>
          <a:p>
            <a:pPr indent="0" marL="0">
              <a:buNone/>
            </a:pPr>
            <a:r>
              <a:rPr lang="en-US" sz="1700" b="1" dirty="0">
                <a:solidFill>
                  <a:schemeClr val="accent4"/>
                </a:solidFill>
              </a:rPr>
              <a:t>Polarimetry: sugar that twists light</a:t>
            </a:r>
            <a:endParaRPr lang="en-US" sz="1500" dirty="0"/>
          </a:p>
          <a:p>
            <a:pPr indent="0" marL="0">
              <a:buNone/>
            </a:pPr>
            <a:r>
              <a:rPr lang="en-US" sz="1500" dirty="0">
                <a:solidFill>
                  <a:schemeClr val="tx1"/>
                </a:solidFill>
              </a:rPr>
              <a:t>Sugar molecules are chiral (left- or right-handed). A sugar solution rotates the plane of polarized light.</a:t>
            </a:r>
            <a:endParaRPr lang="en-US" sz="1500" dirty="0"/>
          </a:p>
          <a:p>
            <a:pPr indent="0" marL="0">
              <a:buNone/>
            </a:pPr>
            <a:r>
              <a:rPr lang="en-US" sz="600" dirty="0">
                <a:solidFill>
                  <a:schemeClr val="tx1"/>
                </a:solidFill>
              </a:rPr>
              <a:t> </a:t>
            </a:r>
            <a:endParaRPr lang="en-US" sz="1500" dirty="0"/>
          </a:p>
          <a:p>
            <a:pPr indent="0" marL="0">
              <a:buNone/>
            </a:pPr>
            <a:r>
              <a:rPr lang="en-US" sz="1500" dirty="0">
                <a:solidFill>
                  <a:schemeClr val="tx1"/>
                </a:solidFill>
              </a:rPr>
              <a:t>The rotation angle is proportional to concentration × path length, so a polarimeter (saccharimeter) measures sugar content — a standard method in the sugar industry.</a:t>
            </a:r>
            <a:endParaRPr lang="en-US" sz="1500" dirty="0"/>
          </a:p>
          <a:p>
            <a:pPr indent="0" marL="0">
              <a:buNone/>
            </a:pPr>
            <a:r>
              <a:rPr lang="en-US" sz="600" dirty="0">
                <a:solidFill>
                  <a:schemeClr val="tx1"/>
                </a:solidFill>
              </a:rPr>
              <a:t> </a:t>
            </a:r>
            <a:endParaRPr lang="en-US" sz="1500" dirty="0"/>
          </a:p>
          <a:p>
            <a:pPr indent="0" marL="0">
              <a:buNone/>
            </a:pPr>
            <a:r>
              <a:rPr lang="en-US" sz="1500" dirty="0">
                <a:solidFill>
                  <a:schemeClr val="tx1"/>
                </a:solidFill>
              </a:rPr>
              <a:t>Sucrose rotates light to the right; when it is split into glucose + fructose ("invert sugar", e.g. in honey), the rotation flips to the left — that is where the name comes from.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do the Maltese crosses disappear when starch is cooked?</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Shape 5"/>
          <p:cNvSpPr/>
          <p:nvPr/>
        </p:nvSpPr>
        <p:spPr>
          <a:xfrm>
            <a:off x="548640" y="1554480"/>
            <a:ext cx="5432908" cy="1120140"/>
          </a:xfrm>
          <a:prstGeom prst="roundRect">
            <a:avLst>
              <a:gd name="adj" fmla="val 6531"/>
            </a:avLst>
          </a:prstGeom>
          <a:solidFill>
            <a:schemeClr val="tx2">
              <a:alpha val="6000"/>
            </a:schemeClr>
          </a:solidFill>
          <a:ln w="9525">
            <a:solidFill>
              <a:schemeClr val="tx2">
                <a:alpha val="6000"/>
              </a:schemeClr>
            </a:solidFill>
            <a:prstDash val="solid"/>
          </a:ln>
        </p:spPr>
      </p:sp>
      <p:sp>
        <p:nvSpPr>
          <p:cNvPr id="8" name="Shape 6"/>
          <p:cNvSpPr/>
          <p:nvPr/>
        </p:nvSpPr>
        <p:spPr>
          <a:xfrm>
            <a:off x="713232" y="1867662"/>
            <a:ext cx="493776" cy="493776"/>
          </a:xfrm>
          <a:prstGeom prst="ellipse">
            <a:avLst/>
          </a:prstGeom>
          <a:solidFill>
            <a:schemeClr val="accent2"/>
          </a:solidFill>
          <a:ln w="12700">
            <a:solidFill>
              <a:schemeClr val="accent2"/>
            </a:solidFill>
            <a:prstDash val="solid"/>
          </a:ln>
        </p:spPr>
      </p:sp>
      <p:sp>
        <p:nvSpPr>
          <p:cNvPr id="9" name="Text 7"/>
          <p:cNvSpPr txBox="1"/>
          <p:nvPr/>
        </p:nvSpPr>
        <p:spPr>
          <a:xfrm>
            <a:off x="713232" y="18676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Text 8"/>
          <p:cNvSpPr txBox="1"/>
          <p:nvPr/>
        </p:nvSpPr>
        <p:spPr>
          <a:xfrm>
            <a:off x="1371600" y="1627632"/>
            <a:ext cx="4472788" cy="973836"/>
          </a:xfrm>
          <a:prstGeom prst="rect">
            <a:avLst/>
          </a:prstGeom>
          <a:noFill/>
          <a:ln/>
        </p:spPr>
        <p:txBody>
          <a:bodyPr wrap="square" lIns="0" tIns="0" rIns="0" bIns="0" rtlCol="0" anchor="ctr"/>
          <a:lstStyle/>
          <a:p>
            <a:pPr indent="0" marL="0">
              <a:buNone/>
            </a:pPr>
            <a:r>
              <a:rPr lang="en-US" sz="1600" dirty="0">
                <a:solidFill>
                  <a:schemeClr val="tx1"/>
                </a:solidFill>
              </a:rPr>
              <a:t>The granules dissolve completely and vanish</a:t>
            </a:r>
            <a:endParaRPr lang="en-US" sz="1600" dirty="0"/>
          </a:p>
        </p:txBody>
      </p:sp>
      <p:sp>
        <p:nvSpPr>
          <p:cNvPr id="11" name="Shape 9"/>
          <p:cNvSpPr/>
          <p:nvPr/>
        </p:nvSpPr>
        <p:spPr>
          <a:xfrm>
            <a:off x="6210148" y="1554480"/>
            <a:ext cx="5432908" cy="1120140"/>
          </a:xfrm>
          <a:prstGeom prst="roundRect">
            <a:avLst>
              <a:gd name="adj" fmla="val 6531"/>
            </a:avLst>
          </a:prstGeom>
          <a:solidFill>
            <a:schemeClr val="tx2">
              <a:alpha val="6000"/>
            </a:schemeClr>
          </a:solidFill>
          <a:ln w="9525">
            <a:solidFill>
              <a:schemeClr val="tx2">
                <a:alpha val="6000"/>
              </a:schemeClr>
            </a:solidFill>
            <a:prstDash val="solid"/>
          </a:ln>
        </p:spPr>
      </p:sp>
      <p:sp>
        <p:nvSpPr>
          <p:cNvPr id="12" name="Shape 10"/>
          <p:cNvSpPr/>
          <p:nvPr/>
        </p:nvSpPr>
        <p:spPr>
          <a:xfrm>
            <a:off x="6374740" y="1867662"/>
            <a:ext cx="493776" cy="493776"/>
          </a:xfrm>
          <a:prstGeom prst="ellipse">
            <a:avLst/>
          </a:prstGeom>
          <a:solidFill>
            <a:schemeClr val="accent2"/>
          </a:solidFill>
          <a:ln w="12700">
            <a:solidFill>
              <a:schemeClr val="accent2"/>
            </a:solidFill>
            <a:prstDash val="solid"/>
          </a:ln>
        </p:spPr>
      </p:sp>
      <p:sp>
        <p:nvSpPr>
          <p:cNvPr id="13" name="Text 11"/>
          <p:cNvSpPr txBox="1"/>
          <p:nvPr/>
        </p:nvSpPr>
        <p:spPr>
          <a:xfrm>
            <a:off x="6374740" y="18676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4" name="Text 12"/>
          <p:cNvSpPr txBox="1"/>
          <p:nvPr/>
        </p:nvSpPr>
        <p:spPr>
          <a:xfrm>
            <a:off x="7033108" y="1627632"/>
            <a:ext cx="4472788" cy="973836"/>
          </a:xfrm>
          <a:prstGeom prst="rect">
            <a:avLst/>
          </a:prstGeom>
          <a:noFill/>
          <a:ln/>
        </p:spPr>
        <p:txBody>
          <a:bodyPr wrap="square" lIns="0" tIns="0" rIns="0" bIns="0" rtlCol="0" anchor="ctr"/>
          <a:lstStyle/>
          <a:p>
            <a:pPr indent="0" marL="0">
              <a:buNone/>
            </a:pPr>
            <a:r>
              <a:rPr lang="en-US" sz="1600" dirty="0">
                <a:solidFill>
                  <a:schemeClr val="tx1"/>
                </a:solidFill>
              </a:rPr>
              <a:t>Heat destroys the ordered crystalline structure, so the granules no longer rotate polarized light</a:t>
            </a:r>
            <a:endParaRPr lang="en-US" sz="1600" dirty="0"/>
          </a:p>
        </p:txBody>
      </p:sp>
      <p:sp>
        <p:nvSpPr>
          <p:cNvPr id="15" name="rv1_ring"/>
          <p:cNvSpPr/>
          <p:nvPr/>
        </p:nvSpPr>
        <p:spPr>
          <a:xfrm>
            <a:off x="6164428" y="1508760"/>
            <a:ext cx="5524348" cy="1211580"/>
          </a:xfrm>
          <a:prstGeom prst="roundRect">
            <a:avLst>
              <a:gd name="adj" fmla="val 7547"/>
            </a:avLst>
          </a:prstGeom>
          <a:solidFill>
            <a:schemeClr val="bg1">
              <a:alpha val="0"/>
            </a:schemeClr>
          </a:solidFill>
          <a:ln w="50800">
            <a:solidFill>
              <a:schemeClr val="accent3"/>
            </a:solidFill>
            <a:prstDash val="solid"/>
          </a:ln>
        </p:spPr>
      </p:sp>
      <p:sp>
        <p:nvSpPr>
          <p:cNvPr id="16" name="Shape 14"/>
          <p:cNvSpPr/>
          <p:nvPr/>
        </p:nvSpPr>
        <p:spPr>
          <a:xfrm>
            <a:off x="548640" y="2903220"/>
            <a:ext cx="5432908" cy="1120140"/>
          </a:xfrm>
          <a:prstGeom prst="roundRect">
            <a:avLst>
              <a:gd name="adj" fmla="val 6531"/>
            </a:avLst>
          </a:prstGeom>
          <a:solidFill>
            <a:schemeClr val="tx2">
              <a:alpha val="6000"/>
            </a:schemeClr>
          </a:solidFill>
          <a:ln w="9525">
            <a:solidFill>
              <a:schemeClr val="tx2">
                <a:alpha val="6000"/>
              </a:schemeClr>
            </a:solidFill>
            <a:prstDash val="solid"/>
          </a:ln>
        </p:spPr>
      </p:sp>
      <p:sp>
        <p:nvSpPr>
          <p:cNvPr id="17" name="Shape 15"/>
          <p:cNvSpPr/>
          <p:nvPr/>
        </p:nvSpPr>
        <p:spPr>
          <a:xfrm>
            <a:off x="713232" y="3216402"/>
            <a:ext cx="493776" cy="493776"/>
          </a:xfrm>
          <a:prstGeom prst="ellipse">
            <a:avLst/>
          </a:prstGeom>
          <a:solidFill>
            <a:schemeClr val="accent2"/>
          </a:solidFill>
          <a:ln w="12700">
            <a:solidFill>
              <a:schemeClr val="accent2"/>
            </a:solidFill>
            <a:prstDash val="solid"/>
          </a:ln>
        </p:spPr>
      </p:sp>
      <p:sp>
        <p:nvSpPr>
          <p:cNvPr id="18" name="Text 16"/>
          <p:cNvSpPr txBox="1"/>
          <p:nvPr/>
        </p:nvSpPr>
        <p:spPr>
          <a:xfrm>
            <a:off x="713232" y="32164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9" name="Text 17"/>
          <p:cNvSpPr txBox="1"/>
          <p:nvPr/>
        </p:nvSpPr>
        <p:spPr>
          <a:xfrm>
            <a:off x="1371600" y="2976372"/>
            <a:ext cx="4472788" cy="973836"/>
          </a:xfrm>
          <a:prstGeom prst="rect">
            <a:avLst/>
          </a:prstGeom>
          <a:noFill/>
          <a:ln/>
        </p:spPr>
        <p:txBody>
          <a:bodyPr wrap="square" lIns="0" tIns="0" rIns="0" bIns="0" rtlCol="0" anchor="ctr"/>
          <a:lstStyle/>
          <a:p>
            <a:pPr indent="0" marL="0">
              <a:buNone/>
            </a:pPr>
            <a:r>
              <a:rPr lang="en-US" sz="1600" dirty="0">
                <a:solidFill>
                  <a:schemeClr val="tx1"/>
                </a:solidFill>
              </a:rPr>
              <a:t>Cooking makes the starch absorb all the light</a:t>
            </a:r>
            <a:endParaRPr lang="en-US" sz="1600" dirty="0"/>
          </a:p>
        </p:txBody>
      </p:sp>
      <p:sp>
        <p:nvSpPr>
          <p:cNvPr id="20" name="Shape 18"/>
          <p:cNvSpPr/>
          <p:nvPr/>
        </p:nvSpPr>
        <p:spPr>
          <a:xfrm>
            <a:off x="6210148" y="2903220"/>
            <a:ext cx="5432908" cy="1120140"/>
          </a:xfrm>
          <a:prstGeom prst="roundRect">
            <a:avLst>
              <a:gd name="adj" fmla="val 6531"/>
            </a:avLst>
          </a:prstGeom>
          <a:solidFill>
            <a:schemeClr val="tx2">
              <a:alpha val="6000"/>
            </a:schemeClr>
          </a:solidFill>
          <a:ln w="9525">
            <a:solidFill>
              <a:schemeClr val="tx2">
                <a:alpha val="6000"/>
              </a:schemeClr>
            </a:solidFill>
            <a:prstDash val="solid"/>
          </a:ln>
        </p:spPr>
      </p:sp>
      <p:sp>
        <p:nvSpPr>
          <p:cNvPr id="21" name="Shape 19"/>
          <p:cNvSpPr/>
          <p:nvPr/>
        </p:nvSpPr>
        <p:spPr>
          <a:xfrm>
            <a:off x="6374740" y="3216402"/>
            <a:ext cx="493776" cy="493776"/>
          </a:xfrm>
          <a:prstGeom prst="ellipse">
            <a:avLst/>
          </a:prstGeom>
          <a:solidFill>
            <a:schemeClr val="accent2"/>
          </a:solidFill>
          <a:ln w="12700">
            <a:solidFill>
              <a:schemeClr val="accent2"/>
            </a:solidFill>
            <a:prstDash val="solid"/>
          </a:ln>
        </p:spPr>
      </p:sp>
      <p:sp>
        <p:nvSpPr>
          <p:cNvPr id="22" name="Text 20"/>
          <p:cNvSpPr txBox="1"/>
          <p:nvPr/>
        </p:nvSpPr>
        <p:spPr>
          <a:xfrm>
            <a:off x="6374740" y="321640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3" name="Text 21"/>
          <p:cNvSpPr txBox="1"/>
          <p:nvPr/>
        </p:nvSpPr>
        <p:spPr>
          <a:xfrm>
            <a:off x="7033108" y="2976372"/>
            <a:ext cx="4472788" cy="973836"/>
          </a:xfrm>
          <a:prstGeom prst="rect">
            <a:avLst/>
          </a:prstGeom>
          <a:noFill/>
          <a:ln/>
        </p:spPr>
        <p:txBody>
          <a:bodyPr wrap="square" lIns="0" tIns="0" rIns="0" bIns="0" rtlCol="0" anchor="ctr"/>
          <a:lstStyle/>
          <a:p>
            <a:pPr indent="0" marL="0">
              <a:buNone/>
            </a:pPr>
            <a:r>
              <a:rPr lang="en-US" sz="1600" dirty="0">
                <a:solidFill>
                  <a:schemeClr val="tx1"/>
                </a:solidFill>
              </a:rPr>
              <a:t>The polarizers stop working when the sample is hot</a:t>
            </a:r>
            <a:endParaRPr lang="en-US" sz="1600" dirty="0"/>
          </a:p>
        </p:txBody>
      </p:sp>
      <p:sp>
        <p:nvSpPr>
          <p:cNvPr id="24" name="Text 22"/>
          <p:cNvSpPr txBox="1"/>
          <p:nvPr/>
        </p:nvSpPr>
        <p:spPr>
          <a:xfrm>
            <a:off x="548640" y="502920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5" name="rv1_ans_bg"/>
          <p:cNvSpPr/>
          <p:nvPr/>
        </p:nvSpPr>
        <p:spPr>
          <a:xfrm>
            <a:off x="548640" y="4251960"/>
            <a:ext cx="11094415" cy="1920240"/>
          </a:xfrm>
          <a:prstGeom prst="roundRect">
            <a:avLst>
              <a:gd name="adj" fmla="val 3810"/>
            </a:avLst>
          </a:prstGeom>
          <a:solidFill>
            <a:srgbClr val="EAF5EE"/>
          </a:solidFill>
          <a:ln w="15875">
            <a:solidFill>
              <a:schemeClr val="accent3"/>
            </a:solidFill>
            <a:prstDash val="solid"/>
          </a:ln>
        </p:spPr>
      </p:sp>
      <p:sp>
        <p:nvSpPr>
          <p:cNvPr id="26" name="rv1_ans_tx"/>
          <p:cNvSpPr txBox="1"/>
          <p:nvPr/>
        </p:nvSpPr>
        <p:spPr>
          <a:xfrm>
            <a:off x="731520" y="4361688"/>
            <a:ext cx="10728655" cy="170078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B</a:t>
            </a:r>
            <a:endParaRPr lang="en-US" sz="1500" dirty="0"/>
          </a:p>
          <a:p>
            <a:pPr indent="0" marL="0">
              <a:spcAft>
                <a:spcPts val="400"/>
              </a:spcAft>
              <a:buNone/>
            </a:pPr>
            <a:r>
              <a:rPr lang="en-US" sz="1500" dirty="0">
                <a:solidFill>
                  <a:schemeClr val="tx1"/>
                </a:solidFill>
              </a:rPr>
              <a:t>Gelatinization: water and heat disrupt the ordered, crystalline regions of the granule. Without that order there is no birefringence, so the field stays dark between crossed polarizers.</a:t>
            </a:r>
            <a:endParaRPr lang="en-US" sz="1500" dirty="0"/>
          </a:p>
          <a:p>
            <a:pPr indent="0" marL="0">
              <a:spcAft>
                <a:spcPts val="400"/>
              </a:spcAft>
              <a:buNone/>
            </a:pPr>
            <a:r>
              <a:rPr lang="en-US" sz="1500" dirty="0">
                <a:solidFill>
                  <a:schemeClr val="accent6"/>
                </a:solidFill>
              </a:rPr>
              <a:t>This loss of birefringence is a standard way to find the gelatinization temperature of a starch.</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2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1737360"/>
            <a:ext cx="1920240" cy="2926080"/>
          </a:xfrm>
          <a:prstGeom prst="rect">
            <a:avLst/>
          </a:prstGeom>
          <a:noFill/>
          <a:ln/>
        </p:spPr>
        <p:txBody>
          <a:bodyPr wrap="square" lIns="0" tIns="0" rIns="0" bIns="0" rtlCol="0" anchor="ctr"/>
          <a:lstStyle/>
          <a:p>
            <a:pPr algn="ctr" indent="0" marL="0">
              <a:buNone/>
            </a:pPr>
            <a:r>
              <a:rPr lang="en-US" sz="17000" b="1" dirty="0">
                <a:solidFill>
                  <a:schemeClr val="accent1"/>
                </a:solidFill>
                <a:latin typeface="Cambria" pitchFamily="34" charset="0"/>
                <a:ea typeface="Cambria" pitchFamily="34" charset="-122"/>
                <a:cs typeface="Cambria" pitchFamily="34" charset="-120"/>
              </a:rPr>
              <a:t>H</a:t>
            </a:r>
            <a:endParaRPr lang="en-US" sz="17000" dirty="0"/>
          </a:p>
        </p:txBody>
      </p:sp>
      <p:sp>
        <p:nvSpPr>
          <p:cNvPr id="3" name="Text 0"/>
          <p:cNvSpPr/>
          <p:nvPr>
            <p:ph idx="100" type="title" hasCustomPrompt="1"/>
          </p:nvPr>
        </p:nvSpPr>
        <p:spPr>
          <a:xfrm>
            <a:off x="2743200" y="2331720"/>
            <a:ext cx="877824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Colour &amp; spectroscopy</a:t>
            </a:r>
            <a:endParaRPr lang="en-US" sz="4400" dirty="0"/>
          </a:p>
        </p:txBody>
      </p:sp>
      <p:sp>
        <p:nvSpPr>
          <p:cNvPr id="4" name="Text 0"/>
          <p:cNvSpPr/>
          <p:nvPr>
            <p:ph idx="101" type="body" hasCustomPrompt="1"/>
          </p:nvPr>
        </p:nvSpPr>
        <p:spPr>
          <a:xfrm>
            <a:off x="2743200" y="3566160"/>
            <a:ext cx="8412480" cy="1280160"/>
          </a:xfrm>
          <a:prstGeom prst="rect">
            <a:avLst/>
          </a:prstGeom>
          <a:noFill/>
          <a:ln/>
        </p:spPr>
        <p:txBody>
          <a:bodyPr wrap="square" lIns="0" tIns="0" rIns="0" bIns="0" rtlCol="0" anchor="t"/>
          <a:lstStyle/>
          <a:p>
            <a:pPr algn="l" indent="0" marL="0">
              <a:buNone/>
            </a:pPr>
            <a:r>
              <a:rPr lang="en-US" sz="2000" dirty="0">
                <a:solidFill>
                  <a:srgbClr val="CFE8E4"/>
                </a:solidFill>
              </a:rPr>
              <a:t>Dispersion, why foods have colour, scattering in milk, and how spectrometers measure what is in food</a:t>
            </a:r>
            <a:endParaRPr lang="en-US" sz="2000" dirty="0"/>
          </a:p>
        </p:txBody>
      </p:sp>
      <p:pic>
        <p:nvPicPr>
          <p:cNvPr id="5" name="Image 0" descr="decorative waves">    </p:cNvPr>
          <p:cNvPicPr>
            <a:picLocks noChangeAspect="1"/>
          </p:cNvPicPr>
          <p:nvPr/>
        </p:nvPicPr>
        <p:blipFill>
          <a:blip r:embed="rId1">
            <a:alphaModFix amt="45000"/>
          </a:blip>
          <a:stretch>
            <a:fillRect/>
          </a:stretch>
        </p:blipFill>
        <p:spPr>
          <a:xfrm>
            <a:off x="6583680" y="4846320"/>
            <a:ext cx="5303520" cy="1490472"/>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Dispersion: each colour bends by a different amount</a:t>
            </a:r>
            <a:endParaRPr lang="en-US" sz="3000" dirty="0"/>
          </a:p>
        </p:txBody>
      </p:sp>
      <p:pic>
        <p:nvPicPr>
          <p:cNvPr id="5" name="img_prism.png" descr="White light separated into colours by a prism; violet bends most, red least">    </p:cNvPr>
          <p:cNvPicPr>
            <a:picLocks noChangeAspect="1"/>
          </p:cNvPicPr>
          <p:nvPr/>
        </p:nvPicPr>
        <p:blipFill>
          <a:blip r:embed="rId1"/>
          <a:stretch>
            <a:fillRect/>
          </a:stretch>
        </p:blipFill>
        <p:spPr>
          <a:xfrm>
            <a:off x="548640" y="1417320"/>
            <a:ext cx="6583680" cy="3474720"/>
          </a:xfrm>
          <a:prstGeom prst="rect">
            <a:avLst/>
          </a:prstGeom>
        </p:spPr>
      </p:pic>
      <p:sp>
        <p:nvSpPr>
          <p:cNvPr id="6" name="Text 3"/>
          <p:cNvSpPr txBox="1"/>
          <p:nvPr/>
        </p:nvSpPr>
        <p:spPr>
          <a:xfrm>
            <a:off x="7406640" y="1463040"/>
            <a:ext cx="4233672" cy="36576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n depends slightly on wavelength: </a:t>
            </a:r>
            <a:pPr indent="0" marL="0">
              <a:spcAft>
                <a:spcPts val="800"/>
              </a:spcAft>
              <a:buNone/>
            </a:pPr>
            <a:r>
              <a:rPr lang="en-US" sz="1500" dirty="0">
                <a:solidFill>
                  <a:schemeClr val="tx1"/>
                </a:solidFill>
              </a:rPr>
              <a:t>for glass and water it is a little larger for violet than for red.</a:t>
            </a:r>
            <a:endParaRPr lang="en-US" sz="1500" dirty="0"/>
          </a:p>
          <a:p>
            <a:pPr marL="228600" indent="-228600">
              <a:spcAft>
                <a:spcPts val="800"/>
              </a:spcAft>
              <a:buSzPct val="100000"/>
              <a:buChar char="•"/>
            </a:pPr>
            <a:r>
              <a:rPr lang="en-US" sz="1500" b="1" dirty="0">
                <a:solidFill>
                  <a:schemeClr val="tx2"/>
                </a:solidFill>
              </a:rPr>
              <a:t>So violet light bends more </a:t>
            </a:r>
            <a:pPr indent="0" marL="0">
              <a:spcAft>
                <a:spcPts val="800"/>
              </a:spcAft>
              <a:buNone/>
            </a:pPr>
            <a:r>
              <a:rPr lang="en-US" sz="1500" dirty="0">
                <a:solidFill>
                  <a:schemeClr val="tx1"/>
                </a:solidFill>
              </a:rPr>
              <a:t>and white light fans out into a spectrum.</a:t>
            </a:r>
            <a:endParaRPr lang="en-US" sz="1500" dirty="0"/>
          </a:p>
          <a:p>
            <a:pPr marL="228600" indent="-228600">
              <a:spcAft>
                <a:spcPts val="800"/>
              </a:spcAft>
              <a:buSzPct val="100000"/>
              <a:buChar char="•"/>
            </a:pPr>
            <a:r>
              <a:rPr lang="en-US" sz="1500" b="1" dirty="0">
                <a:solidFill>
                  <a:schemeClr val="tx2"/>
                </a:solidFill>
              </a:rPr>
              <a:t>Rainbows: </a:t>
            </a:r>
            <a:pPr indent="0" marL="0">
              <a:spcAft>
                <a:spcPts val="800"/>
              </a:spcAft>
              <a:buNone/>
            </a:pPr>
            <a:r>
              <a:rPr lang="en-US" sz="1500" dirty="0">
                <a:solidFill>
                  <a:schemeClr val="tx1"/>
                </a:solidFill>
              </a:rPr>
              <a:t>sunlight refracted, reflected inside raindrops and refracted out again — each colour at its own angle (red ≈ 42°, violet ≈ 40°).</a:t>
            </a:r>
            <a:endParaRPr lang="en-US" sz="1500" dirty="0"/>
          </a:p>
        </p:txBody>
      </p:sp>
      <p:sp>
        <p:nvSpPr>
          <p:cNvPr id="7" name="Shape 4"/>
          <p:cNvSpPr/>
          <p:nvPr/>
        </p:nvSpPr>
        <p:spPr>
          <a:xfrm>
            <a:off x="548640" y="5074920"/>
            <a:ext cx="11094415" cy="1051560"/>
          </a:xfrm>
          <a:prstGeom prst="roundRect">
            <a:avLst>
              <a:gd name="adj" fmla="val 6957"/>
            </a:avLst>
          </a:prstGeom>
          <a:solidFill>
            <a:schemeClr val="accent2">
              <a:alpha val="12000"/>
            </a:schemeClr>
          </a:solidFill>
          <a:ln w="9525">
            <a:solidFill>
              <a:schemeClr val="accent2">
                <a:alpha val="12000"/>
              </a:schemeClr>
            </a:solidFill>
            <a:prstDash val="solid"/>
          </a:ln>
        </p:spPr>
      </p:sp>
      <p:sp>
        <p:nvSpPr>
          <p:cNvPr id="8" name="Text 5"/>
          <p:cNvSpPr txBox="1"/>
          <p:nvPr/>
        </p:nvSpPr>
        <p:spPr>
          <a:xfrm>
            <a:off x="731520" y="5184648"/>
            <a:ext cx="10728655" cy="83210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A problem as well as a tool</a:t>
            </a:r>
            <a:endParaRPr lang="en-US" sz="1500" dirty="0"/>
          </a:p>
          <a:p>
            <a:pPr indent="0" marL="0">
              <a:spcAft>
                <a:spcPts val="400"/>
              </a:spcAft>
              <a:buNone/>
            </a:pPr>
            <a:r>
              <a:rPr lang="en-US" sz="1500" dirty="0">
                <a:solidFill>
                  <a:schemeClr val="tx1"/>
                </a:solidFill>
              </a:rPr>
              <a:t>In cheap lenses dispersion makes coloured fringes (chromatic aberration). Good microscope objectives combine glasses to cancel it ("achromatic", "apochromatic").</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ag"/>
          <p:cNvSpPr/>
          <p:nvPr/>
        </p:nvSpPr>
        <p:spPr>
          <a:xfrm>
            <a:off x="548640" y="292608"/>
            <a:ext cx="1833372" cy="292608"/>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548640" y="292608"/>
            <a:ext cx="183337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FOOD BIOTECH LINK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a tomato is red</a:t>
            </a:r>
            <a:endParaRPr lang="en-US" sz="3000" dirty="0"/>
          </a:p>
        </p:txBody>
      </p:sp>
      <p:pic>
        <p:nvPicPr>
          <p:cNvPr id="5" name="img_tomato.png" descr="Schematic reflectance spectrum of a tomato: low in blue-green, high in red">    </p:cNvPr>
          <p:cNvPicPr>
            <a:picLocks noChangeAspect="1"/>
          </p:cNvPicPr>
          <p:nvPr/>
        </p:nvPicPr>
        <p:blipFill>
          <a:blip r:embed="rId1"/>
          <a:stretch>
            <a:fillRect/>
          </a:stretch>
        </p:blipFill>
        <p:spPr>
          <a:xfrm>
            <a:off x="548640" y="1417320"/>
            <a:ext cx="6035040" cy="3291840"/>
          </a:xfrm>
          <a:prstGeom prst="rect">
            <a:avLst/>
          </a:prstGeom>
        </p:spPr>
      </p:pic>
      <p:sp>
        <p:nvSpPr>
          <p:cNvPr id="6" name="Text 3"/>
          <p:cNvSpPr txBox="1"/>
          <p:nvPr/>
        </p:nvSpPr>
        <p:spPr>
          <a:xfrm>
            <a:off x="6858000" y="1463040"/>
            <a:ext cx="4782312" cy="36576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A food's colour is the light it does NOT absorb. </a:t>
            </a:r>
            <a:pPr indent="0" marL="0">
              <a:spcAft>
                <a:spcPts val="800"/>
              </a:spcAft>
              <a:buNone/>
            </a:pPr>
            <a:r>
              <a:rPr lang="en-US" sz="1500" dirty="0">
                <a:solidFill>
                  <a:schemeClr val="tx1"/>
                </a:solidFill>
              </a:rPr>
              <a:t>Lycopene absorbs blue–green light and reflects red.</a:t>
            </a:r>
            <a:endParaRPr lang="en-US" sz="1500" dirty="0"/>
          </a:p>
          <a:p>
            <a:pPr marL="228600" indent="-228600">
              <a:spcAft>
                <a:spcPts val="800"/>
              </a:spcAft>
              <a:buSzPct val="100000"/>
              <a:buChar char="•"/>
            </a:pPr>
            <a:r>
              <a:rPr lang="en-US" sz="1500" b="1" dirty="0">
                <a:solidFill>
                  <a:schemeClr val="tx2"/>
                </a:solidFill>
              </a:rPr>
              <a:t>Pigments are molecules whose electron energy gaps match visible photons </a:t>
            </a:r>
            <a:pPr indent="0" marL="0">
              <a:spcAft>
                <a:spcPts val="800"/>
              </a:spcAft>
              <a:buNone/>
            </a:pPr>
            <a:r>
              <a:rPr lang="en-US" sz="1500" dirty="0">
                <a:solidFill>
                  <a:schemeClr val="tx1"/>
                </a:solidFill>
              </a:rPr>
              <a:t>(1.7–3.1 eV) — the photon idea again.</a:t>
            </a:r>
            <a:endParaRPr lang="en-US" sz="1500" dirty="0"/>
          </a:p>
          <a:p>
            <a:pPr marL="228600" indent="-228600">
              <a:spcAft>
                <a:spcPts val="800"/>
              </a:spcAft>
              <a:buSzPct val="100000"/>
              <a:buChar char="•"/>
            </a:pPr>
            <a:r>
              <a:rPr lang="en-US" sz="1500" b="1" dirty="0">
                <a:solidFill>
                  <a:schemeClr val="tx2"/>
                </a:solidFill>
              </a:rPr>
              <a:t>Colour also depends on the light source: </a:t>
            </a:r>
            <a:pPr indent="0" marL="0">
              <a:spcAft>
                <a:spcPts val="800"/>
              </a:spcAft>
              <a:buNone/>
            </a:pPr>
            <a:r>
              <a:rPr lang="en-US" sz="1500" dirty="0">
                <a:solidFill>
                  <a:schemeClr val="tx1"/>
                </a:solidFill>
              </a:rPr>
              <a:t>the same food looks different under warm, cool or coloured lighting.</a:t>
            </a:r>
            <a:endParaRPr lang="en-US" sz="1500" dirty="0"/>
          </a:p>
        </p:txBody>
      </p:sp>
      <p:sp>
        <p:nvSpPr>
          <p:cNvPr id="7" name="Shape 4"/>
          <p:cNvSpPr/>
          <p:nvPr/>
        </p:nvSpPr>
        <p:spPr>
          <a:xfrm>
            <a:off x="548640" y="4892040"/>
            <a:ext cx="6035040" cy="1280160"/>
          </a:xfrm>
          <a:prstGeom prst="roundRect">
            <a:avLst>
              <a:gd name="adj" fmla="val 5714"/>
            </a:avLst>
          </a:prstGeom>
          <a:solidFill>
            <a:schemeClr val="accent2">
              <a:alpha val="12000"/>
            </a:schemeClr>
          </a:solidFill>
          <a:ln w="9525">
            <a:solidFill>
              <a:schemeClr val="accent2">
                <a:alpha val="12000"/>
              </a:schemeClr>
            </a:solidFill>
            <a:prstDash val="solid"/>
          </a:ln>
        </p:spPr>
      </p:sp>
      <p:sp>
        <p:nvSpPr>
          <p:cNvPr id="8" name="Text 5"/>
          <p:cNvSpPr txBox="1"/>
          <p:nvPr/>
        </p:nvSpPr>
        <p:spPr>
          <a:xfrm>
            <a:off x="731520" y="5001768"/>
            <a:ext cx="5669280" cy="106070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Think (CLO3)</a:t>
            </a:r>
            <a:endParaRPr lang="en-US" sz="1450" dirty="0"/>
          </a:p>
          <a:p>
            <a:pPr indent="0" marL="0">
              <a:spcAft>
                <a:spcPts val="400"/>
              </a:spcAft>
              <a:buNone/>
            </a:pPr>
            <a:r>
              <a:rPr lang="en-US" sz="1450" dirty="0">
                <a:solidFill>
                  <a:schemeClr val="tx1"/>
                </a:solidFill>
              </a:rPr>
              <a:t>Some shops light meat or bread with tinted lamps. Is the colour the customer sees a fair measurement of freshness? How should a QC lab measure colour instead?</a:t>
            </a:r>
            <a:endParaRPr lang="en-US" sz="1450" dirty="0"/>
          </a:p>
        </p:txBody>
      </p:sp>
      <p:sp>
        <p:nvSpPr>
          <p:cNvPr id="9" name="Text 6"/>
          <p:cNvSpPr txBox="1"/>
          <p:nvPr/>
        </p:nvSpPr>
        <p:spPr>
          <a:xfrm>
            <a:off x="6858000" y="5349240"/>
            <a:ext cx="4782312"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0" name="rv1_ans_bg"/>
          <p:cNvSpPr/>
          <p:nvPr/>
        </p:nvSpPr>
        <p:spPr>
          <a:xfrm>
            <a:off x="6858000" y="4892040"/>
            <a:ext cx="4782312" cy="1280160"/>
          </a:xfrm>
          <a:prstGeom prst="roundRect">
            <a:avLst>
              <a:gd name="adj" fmla="val 5714"/>
            </a:avLst>
          </a:prstGeom>
          <a:solidFill>
            <a:srgbClr val="EAF5EE"/>
          </a:solidFill>
          <a:ln w="15875">
            <a:solidFill>
              <a:schemeClr val="accent3"/>
            </a:solidFill>
            <a:prstDash val="solid"/>
          </a:ln>
        </p:spPr>
      </p:sp>
      <p:sp>
        <p:nvSpPr>
          <p:cNvPr id="11" name="rv1_ans_tx"/>
          <p:cNvSpPr txBox="1"/>
          <p:nvPr/>
        </p:nvSpPr>
        <p:spPr>
          <a:xfrm>
            <a:off x="7040880" y="5001768"/>
            <a:ext cx="4416552" cy="106070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Use a standard light and a colorimeter</a:t>
            </a:r>
            <a:endParaRPr lang="en-US" sz="1350" dirty="0"/>
          </a:p>
          <a:p>
            <a:pPr indent="0" marL="0">
              <a:spcAft>
                <a:spcPts val="400"/>
              </a:spcAft>
              <a:buNone/>
            </a:pPr>
            <a:r>
              <a:rPr lang="en-US" sz="1350" dirty="0">
                <a:solidFill>
                  <a:schemeClr val="tx1"/>
                </a:solidFill>
              </a:rPr>
              <a:t>Colour must be measured under standard illumination (e.g. D65 daylight) with an instrument (CIE L*a*b* values), not judged under display lighting.</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Absorbance: how a spectrophotometer measures concentration</a:t>
            </a:r>
            <a:endParaRPr lang="en-US" sz="3000" dirty="0"/>
          </a:p>
        </p:txBody>
      </p:sp>
      <p:pic>
        <p:nvPicPr>
          <p:cNvPr id="5" name="img_beer_lambert.png" descr="Light of intensity I0 passing through a cuvette of path length l and leaving with intensity I">    </p:cNvPr>
          <p:cNvPicPr>
            <a:picLocks noChangeAspect="1"/>
          </p:cNvPicPr>
          <p:nvPr/>
        </p:nvPicPr>
        <p:blipFill>
          <a:blip r:embed="rId1"/>
          <a:stretch>
            <a:fillRect/>
          </a:stretch>
        </p:blipFill>
        <p:spPr>
          <a:xfrm>
            <a:off x="548640" y="1417320"/>
            <a:ext cx="6035040" cy="2560320"/>
          </a:xfrm>
          <a:prstGeom prst="rect">
            <a:avLst/>
          </a:prstGeom>
        </p:spPr>
      </p:pic>
      <p:sp>
        <p:nvSpPr>
          <p:cNvPr id="6" name="Shape 3"/>
          <p:cNvSpPr/>
          <p:nvPr/>
        </p:nvSpPr>
        <p:spPr>
          <a:xfrm>
            <a:off x="6858000" y="1508760"/>
            <a:ext cx="4782312" cy="777240"/>
          </a:xfrm>
          <a:prstGeom prst="roundRect">
            <a:avLst>
              <a:gd name="adj" fmla="val 9412"/>
            </a:avLst>
          </a:prstGeom>
          <a:solidFill>
            <a:schemeClr val="accent1">
              <a:alpha val="12000"/>
            </a:schemeClr>
          </a:solidFill>
          <a:ln w="9525">
            <a:solidFill>
              <a:schemeClr val="accent1">
                <a:alpha val="12000"/>
              </a:schemeClr>
            </a:solidFill>
            <a:prstDash val="solid"/>
          </a:ln>
        </p:spPr>
      </p:sp>
      <p:sp>
        <p:nvSpPr>
          <p:cNvPr id="7" name="Text 4"/>
          <p:cNvSpPr txBox="1"/>
          <p:nvPr/>
        </p:nvSpPr>
        <p:spPr>
          <a:xfrm>
            <a:off x="6858000" y="1508760"/>
            <a:ext cx="4782312" cy="77724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A = log₁₀(I₀ / I) = ε l c</a:t>
            </a:r>
            <a:endParaRPr lang="en-US" sz="2400" dirty="0"/>
          </a:p>
        </p:txBody>
      </p:sp>
      <p:sp>
        <p:nvSpPr>
          <p:cNvPr id="8" name="Text 5"/>
          <p:cNvSpPr txBox="1"/>
          <p:nvPr/>
        </p:nvSpPr>
        <p:spPr>
          <a:xfrm>
            <a:off x="6858000" y="2468880"/>
            <a:ext cx="4782312" cy="27432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2"/>
                </a:solidFill>
              </a:rPr>
              <a:t>Absorbance A grows in proportion to </a:t>
            </a:r>
            <a:pPr indent="0" marL="0">
              <a:spcAft>
                <a:spcPts val="800"/>
              </a:spcAft>
              <a:buNone/>
            </a:pPr>
            <a:r>
              <a:rPr lang="en-US" sz="1500" dirty="0">
                <a:solidFill>
                  <a:schemeClr val="tx1"/>
                </a:solidFill>
              </a:rPr>
              <a:t>concentration c and path length l (Beer–Lambert law).</a:t>
            </a:r>
            <a:endParaRPr lang="en-US" sz="1500" dirty="0"/>
          </a:p>
          <a:p>
            <a:pPr marL="228600" indent="-228600">
              <a:spcAft>
                <a:spcPts val="800"/>
              </a:spcAft>
              <a:buSzPct val="100000"/>
              <a:buChar char="•"/>
            </a:pPr>
            <a:r>
              <a:rPr lang="en-US" sz="1500" b="1" dirty="0">
                <a:solidFill>
                  <a:schemeClr val="tx2"/>
                </a:solidFill>
              </a:rPr>
              <a:t>ε (absorptivity) </a:t>
            </a:r>
            <a:pPr indent="0" marL="0">
              <a:spcAft>
                <a:spcPts val="800"/>
              </a:spcAft>
              <a:buNone/>
            </a:pPr>
            <a:r>
              <a:rPr lang="en-US" sz="1500" dirty="0">
                <a:solidFill>
                  <a:schemeClr val="tx1"/>
                </a:solidFill>
              </a:rPr>
              <a:t>is how strongly that molecule absorbs at the chosen wavelength.</a:t>
            </a:r>
            <a:endParaRPr lang="en-US" sz="1500" dirty="0"/>
          </a:p>
          <a:p>
            <a:pPr marL="228600" indent="-228600">
              <a:spcAft>
                <a:spcPts val="800"/>
              </a:spcAft>
              <a:buSzPct val="100000"/>
              <a:buChar char="•"/>
            </a:pPr>
            <a:r>
              <a:rPr lang="en-US" sz="1500" b="1" dirty="0">
                <a:solidFill>
                  <a:schemeClr val="tx2"/>
                </a:solidFill>
              </a:rPr>
              <a:t>The spectrophotometer picks one wavelength </a:t>
            </a:r>
            <a:pPr indent="0" marL="0">
              <a:spcAft>
                <a:spcPts val="800"/>
              </a:spcAft>
              <a:buNone/>
            </a:pPr>
            <a:r>
              <a:rPr lang="en-US" sz="1500" dirty="0">
                <a:solidFill>
                  <a:schemeClr val="tx1"/>
                </a:solidFill>
              </a:rPr>
              <a:t>with a grating, measures I₀ (blank) and I (sample).</a:t>
            </a:r>
            <a:endParaRPr lang="en-US" sz="1500" dirty="0"/>
          </a:p>
        </p:txBody>
      </p:sp>
      <p:sp>
        <p:nvSpPr>
          <p:cNvPr id="9" name="Shape 6"/>
          <p:cNvSpPr/>
          <p:nvPr/>
        </p:nvSpPr>
        <p:spPr>
          <a:xfrm>
            <a:off x="548640" y="4160520"/>
            <a:ext cx="6035040" cy="914400"/>
          </a:xfrm>
          <a:prstGeom prst="roundRect">
            <a:avLst>
              <a:gd name="adj" fmla="val 8000"/>
            </a:avLst>
          </a:prstGeom>
          <a:solidFill>
            <a:schemeClr val="accent2">
              <a:alpha val="12000"/>
            </a:schemeClr>
          </a:solidFill>
          <a:ln w="9525">
            <a:solidFill>
              <a:schemeClr val="accent2">
                <a:alpha val="12000"/>
              </a:schemeClr>
            </a:solidFill>
            <a:prstDash val="solid"/>
          </a:ln>
        </p:spPr>
      </p:sp>
      <p:sp>
        <p:nvSpPr>
          <p:cNvPr id="10" name="Text 7"/>
          <p:cNvSpPr txBox="1"/>
          <p:nvPr/>
        </p:nvSpPr>
        <p:spPr>
          <a:xfrm>
            <a:off x="731520" y="4270248"/>
            <a:ext cx="5669280" cy="694944"/>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Predict</a:t>
            </a:r>
            <a:endParaRPr lang="en-US" sz="1500" dirty="0"/>
          </a:p>
          <a:p>
            <a:pPr indent="0" marL="0">
              <a:spcAft>
                <a:spcPts val="400"/>
              </a:spcAft>
              <a:buNone/>
            </a:pPr>
            <a:r>
              <a:rPr lang="en-US" sz="1500" dirty="0">
                <a:solidFill>
                  <a:schemeClr val="tx1"/>
                </a:solidFill>
              </a:rPr>
              <a:t>You double the concentration of a coloured extract. What happens to A? And to the transmitted light?</a:t>
            </a:r>
            <a:endParaRPr lang="en-US" sz="1500" dirty="0"/>
          </a:p>
        </p:txBody>
      </p:sp>
      <p:sp>
        <p:nvSpPr>
          <p:cNvPr id="11" name="Text 8"/>
          <p:cNvSpPr txBox="1"/>
          <p:nvPr/>
        </p:nvSpPr>
        <p:spPr>
          <a:xfrm>
            <a:off x="548640" y="5509260"/>
            <a:ext cx="6035040"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2" name="rv1_ans_bg"/>
          <p:cNvSpPr/>
          <p:nvPr/>
        </p:nvSpPr>
        <p:spPr>
          <a:xfrm>
            <a:off x="548640" y="5212080"/>
            <a:ext cx="6035040" cy="960120"/>
          </a:xfrm>
          <a:prstGeom prst="roundRect">
            <a:avLst>
              <a:gd name="adj" fmla="val 7619"/>
            </a:avLst>
          </a:prstGeom>
          <a:solidFill>
            <a:srgbClr val="EAF5EE"/>
          </a:solidFill>
          <a:ln w="15875">
            <a:solidFill>
              <a:schemeClr val="accent3"/>
            </a:solidFill>
            <a:prstDash val="solid"/>
          </a:ln>
        </p:spPr>
      </p:sp>
      <p:sp>
        <p:nvSpPr>
          <p:cNvPr id="13" name="rv1_ans_tx"/>
          <p:cNvSpPr txBox="1"/>
          <p:nvPr/>
        </p:nvSpPr>
        <p:spPr>
          <a:xfrm>
            <a:off x="731520" y="5321808"/>
            <a:ext cx="5669280" cy="740664"/>
          </a:xfrm>
          <a:prstGeom prst="rect">
            <a:avLst/>
          </a:prstGeom>
          <a:noFill/>
          <a:ln/>
        </p:spPr>
        <p:txBody>
          <a:bodyPr wrap="square" lIns="0" tIns="0" rIns="0" bIns="0" rtlCol="0" anchor="t"/>
          <a:lstStyle/>
          <a:p>
            <a:pPr indent="0" marL="0">
              <a:spcAft>
                <a:spcPts val="400"/>
              </a:spcAft>
              <a:buNone/>
            </a:pPr>
            <a:r>
              <a:rPr lang="en-US" sz="1450" dirty="0">
                <a:solidFill>
                  <a:schemeClr val="tx1"/>
                </a:solidFill>
              </a:rPr>
              <a:t>A doubles. The transmitted light does not halve — it falls much more (if A goes from 0.3 to 0.6, transmission falls from 50% to 25%).</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accent1"/>
          </a:solidFill>
          <a:ln w="12700">
            <a:solidFill>
              <a:schemeClr val="accent1"/>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CONCEPT</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Scattering: why milk is white and skim milk looks bluish</a:t>
            </a:r>
            <a:endParaRPr lang="en-US" sz="3000" dirty="0"/>
          </a:p>
        </p:txBody>
      </p:sp>
      <p:pic>
        <p:nvPicPr>
          <p:cNvPr id="5" name="img_milk_scatter.png" descr="Whole milk fat globules scatter all colours (white); small casein micelles in skim milk scatter blue more">    </p:cNvPr>
          <p:cNvPicPr>
            <a:picLocks noChangeAspect="1"/>
          </p:cNvPicPr>
          <p:nvPr/>
        </p:nvPicPr>
        <p:blipFill>
          <a:blip r:embed="rId1"/>
          <a:stretch>
            <a:fillRect/>
          </a:stretch>
        </p:blipFill>
        <p:spPr>
          <a:xfrm>
            <a:off x="548640" y="1556657"/>
            <a:ext cx="6766560" cy="2738846"/>
          </a:xfrm>
          <a:prstGeom prst="rect">
            <a:avLst/>
          </a:prstGeom>
        </p:spPr>
      </p:pic>
      <p:sp>
        <p:nvSpPr>
          <p:cNvPr id="6" name="Text 3"/>
          <p:cNvSpPr txBox="1"/>
          <p:nvPr/>
        </p:nvSpPr>
        <p:spPr>
          <a:xfrm>
            <a:off x="7589520" y="1463040"/>
            <a:ext cx="4050792" cy="448056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chemeClr val="tx2"/>
                </a:solidFill>
              </a:rPr>
              <a:t>Milk absorbs very little light — </a:t>
            </a:r>
            <a:pPr indent="0" marL="0">
              <a:spcAft>
                <a:spcPts val="800"/>
              </a:spcAft>
              <a:buNone/>
            </a:pPr>
            <a:r>
              <a:rPr lang="en-US" sz="1450" dirty="0">
                <a:solidFill>
                  <a:schemeClr val="tx1"/>
                </a:solidFill>
              </a:rPr>
              <a:t>it is white because particles scatter light in all directions many times.</a:t>
            </a:r>
            <a:endParaRPr lang="en-US" sz="1450" dirty="0"/>
          </a:p>
          <a:p>
            <a:pPr marL="228600" indent="-228600">
              <a:spcAft>
                <a:spcPts val="800"/>
              </a:spcAft>
              <a:buSzPct val="100000"/>
              <a:buChar char="•"/>
            </a:pPr>
            <a:r>
              <a:rPr lang="en-US" sz="1450" b="1" dirty="0">
                <a:solidFill>
                  <a:schemeClr val="tx2"/>
                </a:solidFill>
              </a:rPr>
              <a:t>Big particles (fat globules, ~1–10 µm) </a:t>
            </a:r>
            <a:pPr indent="0" marL="0">
              <a:spcAft>
                <a:spcPts val="800"/>
              </a:spcAft>
              <a:buNone/>
            </a:pPr>
            <a:r>
              <a:rPr lang="en-US" sz="1450" dirty="0">
                <a:solidFill>
                  <a:schemeClr val="tx1"/>
                </a:solidFill>
              </a:rPr>
              <a:t>scatter all colours about equally → white.</a:t>
            </a:r>
            <a:endParaRPr lang="en-US" sz="1450" dirty="0"/>
          </a:p>
          <a:p>
            <a:pPr marL="228600" indent="-228600">
              <a:spcAft>
                <a:spcPts val="800"/>
              </a:spcAft>
              <a:buSzPct val="100000"/>
              <a:buChar char="•"/>
            </a:pPr>
            <a:r>
              <a:rPr lang="en-US" sz="1450" b="1" dirty="0">
                <a:solidFill>
                  <a:schemeClr val="tx2"/>
                </a:solidFill>
              </a:rPr>
              <a:t>Small particles (casein micelles, ~0.1–0.2 µm) </a:t>
            </a:r>
            <a:pPr indent="0" marL="0">
              <a:spcAft>
                <a:spcPts val="800"/>
              </a:spcAft>
              <a:buNone/>
            </a:pPr>
            <a:r>
              <a:rPr lang="en-US" sz="1450" dirty="0">
                <a:solidFill>
                  <a:schemeClr val="tx1"/>
                </a:solidFill>
              </a:rPr>
              <a:t>scatter blue more than red → skim milk looks slightly bluish (the same reason the sky is blue).</a:t>
            </a:r>
            <a:endParaRPr lang="en-US" sz="1450" dirty="0"/>
          </a:p>
        </p:txBody>
      </p:sp>
      <p:sp>
        <p:nvSpPr>
          <p:cNvPr id="7" name="Shape 4"/>
          <p:cNvSpPr/>
          <p:nvPr/>
        </p:nvSpPr>
        <p:spPr>
          <a:xfrm>
            <a:off x="548640" y="4617720"/>
            <a:ext cx="6766560" cy="1554480"/>
          </a:xfrm>
          <a:prstGeom prst="roundRect">
            <a:avLst>
              <a:gd name="adj" fmla="val 4706"/>
            </a:avLst>
          </a:prstGeom>
          <a:solidFill>
            <a:schemeClr val="accent3">
              <a:alpha val="12000"/>
            </a:schemeClr>
          </a:solidFill>
          <a:ln w="9525">
            <a:solidFill>
              <a:schemeClr val="accent3">
                <a:alpha val="12000"/>
              </a:schemeClr>
            </a:solidFill>
            <a:prstDash val="solid"/>
          </a:ln>
        </p:spPr>
      </p:sp>
      <p:sp>
        <p:nvSpPr>
          <p:cNvPr id="8" name="Text 5"/>
          <p:cNvSpPr txBox="1"/>
          <p:nvPr/>
        </p:nvSpPr>
        <p:spPr>
          <a:xfrm>
            <a:off x="731520" y="4727448"/>
            <a:ext cx="6400800" cy="1335024"/>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Food uses</a:t>
            </a:r>
            <a:endParaRPr lang="en-US" sz="1450" dirty="0"/>
          </a:p>
          <a:p>
            <a:pPr indent="0" marL="0">
              <a:spcAft>
                <a:spcPts val="400"/>
              </a:spcAft>
              <a:buNone/>
            </a:pPr>
            <a:r>
              <a:rPr lang="en-US" sz="1450" dirty="0">
                <a:solidFill>
                  <a:schemeClr val="tx1"/>
                </a:solidFill>
              </a:rPr>
              <a:t>Turbidity meters judge haze in beer, wine and juice; light scattering measures droplet and particle size in emulsions and milk (laser diffraction / dynamic light scattering).</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ag"/>
          <p:cNvSpPr/>
          <p:nvPr/>
        </p:nvSpPr>
        <p:spPr>
          <a:xfrm>
            <a:off x="548640" y="292608"/>
            <a:ext cx="1833372" cy="292608"/>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548640" y="292608"/>
            <a:ext cx="183337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FOOD BIOTECH LINK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NIR spectroscopy: reading water, fat and protein in seconds</a:t>
            </a:r>
            <a:endParaRPr lang="en-US" sz="3000" dirty="0"/>
          </a:p>
        </p:txBody>
      </p:sp>
      <p:pic>
        <p:nvPicPr>
          <p:cNvPr id="5" name="img_nir.png" descr="Schematic near-infrared absorption bands of water, fat and protein">    </p:cNvPr>
          <p:cNvPicPr>
            <a:picLocks noChangeAspect="1"/>
          </p:cNvPicPr>
          <p:nvPr/>
        </p:nvPicPr>
        <p:blipFill>
          <a:blip r:embed="rId1"/>
          <a:stretch>
            <a:fillRect/>
          </a:stretch>
        </p:blipFill>
        <p:spPr>
          <a:xfrm>
            <a:off x="548640" y="1458227"/>
            <a:ext cx="6583680" cy="3118585"/>
          </a:xfrm>
          <a:prstGeom prst="rect">
            <a:avLst/>
          </a:prstGeom>
        </p:spPr>
      </p:pic>
      <p:sp>
        <p:nvSpPr>
          <p:cNvPr id="6" name="Text 3"/>
          <p:cNvSpPr txBox="1"/>
          <p:nvPr/>
        </p:nvSpPr>
        <p:spPr>
          <a:xfrm>
            <a:off x="7406640" y="1463040"/>
            <a:ext cx="4233672" cy="3840480"/>
          </a:xfrm>
          <a:prstGeom prst="rect">
            <a:avLst/>
          </a:prstGeom>
          <a:noFill/>
          <a:ln/>
        </p:spPr>
        <p:txBody>
          <a:bodyPr wrap="square" lIns="0" tIns="0" rIns="0" bIns="0" rtlCol="0" anchor="t"/>
          <a:lstStyle/>
          <a:p>
            <a:pPr marL="228600" indent="-228600">
              <a:spcAft>
                <a:spcPts val="800"/>
              </a:spcAft>
              <a:buSzPct val="100000"/>
              <a:buChar char="•"/>
            </a:pPr>
            <a:r>
              <a:rPr lang="en-US" sz="1450" b="1" dirty="0">
                <a:solidFill>
                  <a:schemeClr val="tx2"/>
                </a:solidFill>
              </a:rPr>
              <a:t>Near-infrared light (≈ 780–2500 nm) </a:t>
            </a:r>
            <a:pPr indent="0" marL="0">
              <a:spcAft>
                <a:spcPts val="800"/>
              </a:spcAft>
              <a:buNone/>
            </a:pPr>
            <a:r>
              <a:rPr lang="en-US" sz="1450" dirty="0">
                <a:solidFill>
                  <a:schemeClr val="tx1"/>
                </a:solidFill>
              </a:rPr>
              <a:t>is absorbed at characteristic wavelengths by O–H, C–H and N–H bonds.</a:t>
            </a:r>
            <a:endParaRPr lang="en-US" sz="1450" dirty="0"/>
          </a:p>
          <a:p>
            <a:pPr marL="228600" indent="-228600">
              <a:spcAft>
                <a:spcPts val="800"/>
              </a:spcAft>
              <a:buSzPct val="100000"/>
              <a:buChar char="•"/>
            </a:pPr>
            <a:r>
              <a:rPr lang="en-US" sz="1450" b="1" dirty="0">
                <a:solidFill>
                  <a:schemeClr val="tx2"/>
                </a:solidFill>
              </a:rPr>
              <a:t>So a NIR spectrum is a fingerprint </a:t>
            </a:r>
            <a:pPr indent="0" marL="0">
              <a:spcAft>
                <a:spcPts val="800"/>
              </a:spcAft>
              <a:buNone/>
            </a:pPr>
            <a:r>
              <a:rPr lang="en-US" sz="1450" dirty="0">
                <a:solidFill>
                  <a:schemeClr val="tx1"/>
                </a:solidFill>
              </a:rPr>
              <a:t>of water, fat, protein and sugar content.</a:t>
            </a:r>
            <a:endParaRPr lang="en-US" sz="1450" dirty="0"/>
          </a:p>
          <a:p>
            <a:pPr marL="228600" indent="-228600">
              <a:spcAft>
                <a:spcPts val="800"/>
              </a:spcAft>
              <a:buSzPct val="100000"/>
              <a:buChar char="•"/>
            </a:pPr>
            <a:r>
              <a:rPr lang="en-US" sz="1450" b="1" dirty="0">
                <a:solidFill>
                  <a:schemeClr val="tx2"/>
                </a:solidFill>
              </a:rPr>
              <a:t>Fast, non-destructive and in-line: </a:t>
            </a:r>
            <a:pPr indent="0" marL="0">
              <a:spcAft>
                <a:spcPts val="800"/>
              </a:spcAft>
              <a:buNone/>
            </a:pPr>
            <a:r>
              <a:rPr lang="en-US" sz="1450" dirty="0">
                <a:solidFill>
                  <a:schemeClr val="tx1"/>
                </a:solidFill>
              </a:rPr>
              <a:t>grain protein, meat fat, milk composition, fruit sugar — often through fibre-optic probes.</a:t>
            </a:r>
            <a:endParaRPr lang="en-US" sz="1450" dirty="0"/>
          </a:p>
        </p:txBody>
      </p:sp>
      <p:sp>
        <p:nvSpPr>
          <p:cNvPr id="7" name="Shape 4"/>
          <p:cNvSpPr/>
          <p:nvPr/>
        </p:nvSpPr>
        <p:spPr>
          <a:xfrm>
            <a:off x="548640" y="4754880"/>
            <a:ext cx="6583680" cy="1417320"/>
          </a:xfrm>
          <a:prstGeom prst="roundRect">
            <a:avLst>
              <a:gd name="adj" fmla="val 5161"/>
            </a:avLst>
          </a:prstGeom>
          <a:solidFill>
            <a:schemeClr val="accent5">
              <a:alpha val="12000"/>
            </a:schemeClr>
          </a:solidFill>
          <a:ln w="9525">
            <a:solidFill>
              <a:schemeClr val="accent5">
                <a:alpha val="12000"/>
              </a:schemeClr>
            </a:solidFill>
            <a:prstDash val="solid"/>
          </a:ln>
        </p:spPr>
      </p:sp>
      <p:sp>
        <p:nvSpPr>
          <p:cNvPr id="8" name="Text 5"/>
          <p:cNvSpPr txBox="1"/>
          <p:nvPr/>
        </p:nvSpPr>
        <p:spPr>
          <a:xfrm>
            <a:off x="731520" y="4864608"/>
            <a:ext cx="6217920" cy="1197864"/>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Ethics of models (CLO3)</a:t>
            </a:r>
            <a:endParaRPr lang="en-US" sz="1400" dirty="0"/>
          </a:p>
          <a:p>
            <a:pPr indent="0" marL="0">
              <a:spcAft>
                <a:spcPts val="400"/>
              </a:spcAft>
              <a:buNone/>
            </a:pPr>
            <a:r>
              <a:rPr lang="en-US" sz="1400" dirty="0">
                <a:solidFill>
                  <a:schemeClr val="tx1"/>
                </a:solidFill>
              </a:rPr>
              <a:t>NIR results come from statistical calibration models. A model is only trustworthy if it was validated on new, independent samples (different batches, seasons, suppliers) — not just the ones it was built from.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ag"/>
          <p:cNvSpPr/>
          <p:nvPr/>
        </p:nvSpPr>
        <p:spPr>
          <a:xfrm>
            <a:off x="548640" y="292608"/>
            <a:ext cx="1257300"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257300"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QUICK CHECK</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 cloudy extract gives a suspiciously high absorbance. Why?</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Vote: 1 minute</a:t>
            </a:r>
            <a:endParaRPr lang="en-US" sz="1100" dirty="0"/>
          </a:p>
        </p:txBody>
      </p:sp>
      <p:sp>
        <p:nvSpPr>
          <p:cNvPr id="7" name="Text 5"/>
          <p:cNvSpPr txBox="1"/>
          <p:nvPr/>
        </p:nvSpPr>
        <p:spPr>
          <a:xfrm>
            <a:off x="548640" y="1463040"/>
            <a:ext cx="11094415" cy="5486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A student measures the colour of a fruit extract that was not filtered or centrifuged. The absorbance is higher than expected at every wavelength.</a:t>
            </a:r>
            <a:endParaRPr lang="en-US" sz="1700" dirty="0"/>
          </a:p>
        </p:txBody>
      </p:sp>
      <p:sp>
        <p:nvSpPr>
          <p:cNvPr id="8" name="Shape 6"/>
          <p:cNvSpPr/>
          <p:nvPr/>
        </p:nvSpPr>
        <p:spPr>
          <a:xfrm>
            <a:off x="548640" y="21488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9" name="Shape 7"/>
          <p:cNvSpPr/>
          <p:nvPr/>
        </p:nvSpPr>
        <p:spPr>
          <a:xfrm>
            <a:off x="713232" y="2347722"/>
            <a:ext cx="493776" cy="493776"/>
          </a:xfrm>
          <a:prstGeom prst="ellipse">
            <a:avLst/>
          </a:prstGeom>
          <a:solidFill>
            <a:schemeClr val="accent2"/>
          </a:solidFill>
          <a:ln w="12700">
            <a:solidFill>
              <a:schemeClr val="accent2"/>
            </a:solidFill>
            <a:prstDash val="solid"/>
          </a:ln>
        </p:spPr>
      </p:sp>
      <p:sp>
        <p:nvSpPr>
          <p:cNvPr id="10" name="Text 8"/>
          <p:cNvSpPr txBox="1"/>
          <p:nvPr/>
        </p:nvSpPr>
        <p:spPr>
          <a:xfrm>
            <a:off x="713232" y="23477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9"/>
          <p:cNvSpPr txBox="1"/>
          <p:nvPr/>
        </p:nvSpPr>
        <p:spPr>
          <a:xfrm>
            <a:off x="1371600" y="2221992"/>
            <a:ext cx="4472788" cy="745236"/>
          </a:xfrm>
          <a:prstGeom prst="rect">
            <a:avLst/>
          </a:prstGeom>
          <a:noFill/>
          <a:ln/>
        </p:spPr>
        <p:txBody>
          <a:bodyPr wrap="square" lIns="0" tIns="0" rIns="0" bIns="0" rtlCol="0" anchor="ctr"/>
          <a:lstStyle/>
          <a:p>
            <a:pPr indent="0" marL="0">
              <a:buNone/>
            </a:pPr>
            <a:r>
              <a:rPr lang="en-US" sz="1600" dirty="0">
                <a:solidFill>
                  <a:schemeClr val="tx1"/>
                </a:solidFill>
              </a:rPr>
              <a:t>The pigment concentration must be higher</a:t>
            </a:r>
            <a:endParaRPr lang="en-US" sz="1600" dirty="0"/>
          </a:p>
        </p:txBody>
      </p:sp>
      <p:sp>
        <p:nvSpPr>
          <p:cNvPr id="12" name="Shape 10"/>
          <p:cNvSpPr/>
          <p:nvPr/>
        </p:nvSpPr>
        <p:spPr>
          <a:xfrm>
            <a:off x="6210148" y="214884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3" name="Shape 11"/>
          <p:cNvSpPr/>
          <p:nvPr/>
        </p:nvSpPr>
        <p:spPr>
          <a:xfrm>
            <a:off x="6374740" y="2347722"/>
            <a:ext cx="493776" cy="493776"/>
          </a:xfrm>
          <a:prstGeom prst="ellipse">
            <a:avLst/>
          </a:prstGeom>
          <a:solidFill>
            <a:schemeClr val="accent2"/>
          </a:solidFill>
          <a:ln w="12700">
            <a:solidFill>
              <a:schemeClr val="accent2"/>
            </a:solidFill>
            <a:prstDash val="solid"/>
          </a:ln>
        </p:spPr>
      </p:sp>
      <p:sp>
        <p:nvSpPr>
          <p:cNvPr id="14" name="Text 12"/>
          <p:cNvSpPr txBox="1"/>
          <p:nvPr/>
        </p:nvSpPr>
        <p:spPr>
          <a:xfrm>
            <a:off x="6374740" y="234772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3"/>
          <p:cNvSpPr txBox="1"/>
          <p:nvPr/>
        </p:nvSpPr>
        <p:spPr>
          <a:xfrm>
            <a:off x="7033108" y="2221992"/>
            <a:ext cx="4472788" cy="745236"/>
          </a:xfrm>
          <a:prstGeom prst="rect">
            <a:avLst/>
          </a:prstGeom>
          <a:noFill/>
          <a:ln/>
        </p:spPr>
        <p:txBody>
          <a:bodyPr wrap="square" lIns="0" tIns="0" rIns="0" bIns="0" rtlCol="0" anchor="ctr"/>
          <a:lstStyle/>
          <a:p>
            <a:pPr indent="0" marL="0">
              <a:buNone/>
            </a:pPr>
            <a:r>
              <a:rPr lang="en-US" sz="1600" dirty="0">
                <a:solidFill>
                  <a:schemeClr val="tx1"/>
                </a:solidFill>
              </a:rPr>
              <a:t>Particles scatter light away from the detector, which the instrument reads as absorbance</a:t>
            </a:r>
            <a:endParaRPr lang="en-US" sz="1600" dirty="0"/>
          </a:p>
        </p:txBody>
      </p:sp>
      <p:sp>
        <p:nvSpPr>
          <p:cNvPr id="16" name="rv1_ring"/>
          <p:cNvSpPr/>
          <p:nvPr/>
        </p:nvSpPr>
        <p:spPr>
          <a:xfrm>
            <a:off x="6164428" y="2103120"/>
            <a:ext cx="5524348" cy="982980"/>
          </a:xfrm>
          <a:prstGeom prst="roundRect">
            <a:avLst>
              <a:gd name="adj" fmla="val 9302"/>
            </a:avLst>
          </a:prstGeom>
          <a:solidFill>
            <a:schemeClr val="bg1">
              <a:alpha val="0"/>
            </a:schemeClr>
          </a:solidFill>
          <a:ln w="50800">
            <a:solidFill>
              <a:schemeClr val="accent3"/>
            </a:solidFill>
            <a:prstDash val="solid"/>
          </a:ln>
        </p:spPr>
      </p:sp>
      <p:sp>
        <p:nvSpPr>
          <p:cNvPr id="17" name="Shape 15"/>
          <p:cNvSpPr/>
          <p:nvPr/>
        </p:nvSpPr>
        <p:spPr>
          <a:xfrm>
            <a:off x="548640" y="326898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18" name="Shape 16"/>
          <p:cNvSpPr/>
          <p:nvPr/>
        </p:nvSpPr>
        <p:spPr>
          <a:xfrm>
            <a:off x="713232" y="3467862"/>
            <a:ext cx="493776" cy="493776"/>
          </a:xfrm>
          <a:prstGeom prst="ellipse">
            <a:avLst/>
          </a:prstGeom>
          <a:solidFill>
            <a:schemeClr val="accent2"/>
          </a:solidFill>
          <a:ln w="12700">
            <a:solidFill>
              <a:schemeClr val="accent2"/>
            </a:solidFill>
            <a:prstDash val="solid"/>
          </a:ln>
        </p:spPr>
      </p:sp>
      <p:sp>
        <p:nvSpPr>
          <p:cNvPr id="19" name="Text 17"/>
          <p:cNvSpPr txBox="1"/>
          <p:nvPr/>
        </p:nvSpPr>
        <p:spPr>
          <a:xfrm>
            <a:off x="713232" y="34678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20" name="Text 18"/>
          <p:cNvSpPr txBox="1"/>
          <p:nvPr/>
        </p:nvSpPr>
        <p:spPr>
          <a:xfrm>
            <a:off x="1371600" y="3342132"/>
            <a:ext cx="4472788" cy="745236"/>
          </a:xfrm>
          <a:prstGeom prst="rect">
            <a:avLst/>
          </a:prstGeom>
          <a:noFill/>
          <a:ln/>
        </p:spPr>
        <p:txBody>
          <a:bodyPr wrap="square" lIns="0" tIns="0" rIns="0" bIns="0" rtlCol="0" anchor="ctr"/>
          <a:lstStyle/>
          <a:p>
            <a:pPr indent="0" marL="0">
              <a:buNone/>
            </a:pPr>
            <a:r>
              <a:rPr lang="en-US" sz="1600" dirty="0">
                <a:solidFill>
                  <a:schemeClr val="tx1"/>
                </a:solidFill>
              </a:rPr>
              <a:t>The cuvette is too short</a:t>
            </a:r>
            <a:endParaRPr lang="en-US" sz="1600" dirty="0"/>
          </a:p>
        </p:txBody>
      </p:sp>
      <p:sp>
        <p:nvSpPr>
          <p:cNvPr id="21" name="Shape 19"/>
          <p:cNvSpPr/>
          <p:nvPr/>
        </p:nvSpPr>
        <p:spPr>
          <a:xfrm>
            <a:off x="6210148" y="3268980"/>
            <a:ext cx="5432908" cy="891540"/>
          </a:xfrm>
          <a:prstGeom prst="roundRect">
            <a:avLst>
              <a:gd name="adj" fmla="val 8205"/>
            </a:avLst>
          </a:prstGeom>
          <a:solidFill>
            <a:schemeClr val="tx2">
              <a:alpha val="6000"/>
            </a:schemeClr>
          </a:solidFill>
          <a:ln w="9525">
            <a:solidFill>
              <a:schemeClr val="tx2">
                <a:alpha val="6000"/>
              </a:schemeClr>
            </a:solidFill>
            <a:prstDash val="solid"/>
          </a:ln>
        </p:spPr>
      </p:sp>
      <p:sp>
        <p:nvSpPr>
          <p:cNvPr id="22" name="Shape 20"/>
          <p:cNvSpPr/>
          <p:nvPr/>
        </p:nvSpPr>
        <p:spPr>
          <a:xfrm>
            <a:off x="6374740" y="3467862"/>
            <a:ext cx="493776" cy="493776"/>
          </a:xfrm>
          <a:prstGeom prst="ellipse">
            <a:avLst/>
          </a:prstGeom>
          <a:solidFill>
            <a:schemeClr val="accent2"/>
          </a:solidFill>
          <a:ln w="12700">
            <a:solidFill>
              <a:schemeClr val="accent2"/>
            </a:solidFill>
            <a:prstDash val="solid"/>
          </a:ln>
        </p:spPr>
      </p:sp>
      <p:sp>
        <p:nvSpPr>
          <p:cNvPr id="23" name="Text 21"/>
          <p:cNvSpPr txBox="1"/>
          <p:nvPr/>
        </p:nvSpPr>
        <p:spPr>
          <a:xfrm>
            <a:off x="6374740" y="3467862"/>
            <a:ext cx="493776" cy="493776"/>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4" name="Text 22"/>
          <p:cNvSpPr txBox="1"/>
          <p:nvPr/>
        </p:nvSpPr>
        <p:spPr>
          <a:xfrm>
            <a:off x="7033108" y="3342132"/>
            <a:ext cx="4472788" cy="745236"/>
          </a:xfrm>
          <a:prstGeom prst="rect">
            <a:avLst/>
          </a:prstGeom>
          <a:noFill/>
          <a:ln/>
        </p:spPr>
        <p:txBody>
          <a:bodyPr wrap="square" lIns="0" tIns="0" rIns="0" bIns="0" rtlCol="0" anchor="ctr"/>
          <a:lstStyle/>
          <a:p>
            <a:pPr indent="0" marL="0">
              <a:buNone/>
            </a:pPr>
            <a:r>
              <a:rPr lang="en-US" sz="1600" dirty="0">
                <a:solidFill>
                  <a:schemeClr val="tx1"/>
                </a:solidFill>
              </a:rPr>
              <a:t>The lamp is too bright</a:t>
            </a:r>
            <a:endParaRPr lang="en-US" sz="1600" dirty="0"/>
          </a:p>
        </p:txBody>
      </p:sp>
      <p:sp>
        <p:nvSpPr>
          <p:cNvPr id="25" name="Text 23"/>
          <p:cNvSpPr txBox="1"/>
          <p:nvPr/>
        </p:nvSpPr>
        <p:spPr>
          <a:xfrm>
            <a:off x="548640" y="509778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26" name="rv1_ans_bg"/>
          <p:cNvSpPr/>
          <p:nvPr/>
        </p:nvSpPr>
        <p:spPr>
          <a:xfrm>
            <a:off x="548640" y="4389120"/>
            <a:ext cx="11094415" cy="1783080"/>
          </a:xfrm>
          <a:prstGeom prst="roundRect">
            <a:avLst>
              <a:gd name="adj" fmla="val 4103"/>
            </a:avLst>
          </a:prstGeom>
          <a:solidFill>
            <a:srgbClr val="EAF5EE"/>
          </a:solidFill>
          <a:ln w="15875">
            <a:solidFill>
              <a:schemeClr val="accent3"/>
            </a:solidFill>
            <a:prstDash val="solid"/>
          </a:ln>
        </p:spPr>
      </p:sp>
      <p:sp>
        <p:nvSpPr>
          <p:cNvPr id="27" name="rv1_ans_tx"/>
          <p:cNvSpPr txBox="1"/>
          <p:nvPr/>
        </p:nvSpPr>
        <p:spPr>
          <a:xfrm>
            <a:off x="731520" y="4498848"/>
            <a:ext cx="10728655" cy="156362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 B — scattering looks like absorption</a:t>
            </a:r>
            <a:endParaRPr lang="en-US" sz="1500" dirty="0"/>
          </a:p>
          <a:p>
            <a:pPr indent="0" marL="0">
              <a:spcAft>
                <a:spcPts val="400"/>
              </a:spcAft>
              <a:buNone/>
            </a:pPr>
            <a:r>
              <a:rPr lang="en-US" sz="1500" dirty="0">
                <a:solidFill>
                  <a:schemeClr val="tx1"/>
                </a:solidFill>
              </a:rPr>
              <a:t>The detector only sees light that comes straight through. Light scattered sideways by particles is "missing", so A rises even though no extra pigment absorbed it.</a:t>
            </a:r>
            <a:endParaRPr lang="en-US" sz="1500" dirty="0"/>
          </a:p>
          <a:p>
            <a:pPr indent="0" marL="0">
              <a:spcAft>
                <a:spcPts val="400"/>
              </a:spcAft>
              <a:buNone/>
            </a:pPr>
            <a:r>
              <a:rPr lang="en-US" sz="1500" dirty="0">
                <a:solidFill>
                  <a:schemeClr val="accent6"/>
                </a:solidFill>
              </a:rPr>
              <a:t>Good practice (CLO3): filter or centrifuge samples, use a proper blank, and report how the sample was prepared.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400"/>
                                        <p:tgtEl>
                                          <p:spTgt spid="2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6" grpId="0" animBg="1"/>
      <p:bldP spid="2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tx2"/>
          </a:solidFill>
          <a:ln w="12700">
            <a:solidFill>
              <a:schemeClr val="tx2"/>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WRAP-UP</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Light and optics on one page</a:t>
            </a:r>
            <a:endParaRPr lang="en-US" sz="3000" dirty="0"/>
          </a:p>
        </p:txBody>
      </p:sp>
      <p:sp>
        <p:nvSpPr>
          <p:cNvPr id="5" name="Shape 3"/>
          <p:cNvSpPr/>
          <p:nvPr/>
        </p:nvSpPr>
        <p:spPr>
          <a:xfrm>
            <a:off x="548640" y="1463040"/>
            <a:ext cx="2602154" cy="2148840"/>
          </a:xfrm>
          <a:prstGeom prst="roundRect">
            <a:avLst>
              <a:gd name="adj" fmla="val 3404"/>
            </a:avLst>
          </a:prstGeom>
          <a:solidFill>
            <a:schemeClr val="accent1">
              <a:alpha val="12000"/>
            </a:schemeClr>
          </a:solidFill>
          <a:ln w="9525">
            <a:solidFill>
              <a:schemeClr val="accent1">
                <a:alpha val="12000"/>
              </a:schemeClr>
            </a:solidFill>
            <a:prstDash val="solid"/>
          </a:ln>
        </p:spPr>
      </p:sp>
      <p:sp>
        <p:nvSpPr>
          <p:cNvPr id="6" name="Text 4"/>
          <p:cNvSpPr txBox="1"/>
          <p:nvPr/>
        </p:nvSpPr>
        <p:spPr>
          <a:xfrm>
            <a:off x="713232" y="1554480"/>
            <a:ext cx="2272970" cy="1965960"/>
          </a:xfrm>
          <a:prstGeom prst="rect">
            <a:avLst/>
          </a:prstGeom>
          <a:noFill/>
          <a:ln/>
        </p:spPr>
        <p:txBody>
          <a:bodyPr wrap="square" lIns="0" tIns="0" rIns="0" bIns="0" rtlCol="0" anchor="t"/>
          <a:lstStyle/>
          <a:p>
            <a:pPr indent="0" marL="0">
              <a:buNone/>
            </a:pPr>
            <a:r>
              <a:rPr lang="en-US" sz="1700" b="1" dirty="0">
                <a:solidFill>
                  <a:schemeClr val="accent1"/>
                </a:solidFill>
              </a:rPr>
              <a:t>A · Light</a:t>
            </a:r>
            <a:endParaRPr lang="en-US" sz="1500" dirty="0"/>
          </a:p>
          <a:p>
            <a:pPr indent="0" marL="0">
              <a:buNone/>
            </a:pPr>
            <a:r>
              <a:rPr lang="en-US" sz="1500" dirty="0">
                <a:solidFill>
                  <a:schemeClr val="tx1"/>
                </a:solidFill>
              </a:rPr>
              <a:t>Ray, wave or photon. E = hf = hc/λ: shorter λ, more energy per photon (UV-C breaks DNA bonds).</a:t>
            </a:r>
            <a:endParaRPr lang="en-US" sz="1500" dirty="0"/>
          </a:p>
        </p:txBody>
      </p:sp>
      <p:sp>
        <p:nvSpPr>
          <p:cNvPr id="7" name="Shape 5"/>
          <p:cNvSpPr/>
          <p:nvPr/>
        </p:nvSpPr>
        <p:spPr>
          <a:xfrm>
            <a:off x="3379394" y="1463040"/>
            <a:ext cx="2602154" cy="2148840"/>
          </a:xfrm>
          <a:prstGeom prst="roundRect">
            <a:avLst>
              <a:gd name="adj" fmla="val 3404"/>
            </a:avLst>
          </a:prstGeom>
          <a:solidFill>
            <a:schemeClr val="accent1">
              <a:alpha val="12000"/>
            </a:schemeClr>
          </a:solidFill>
          <a:ln w="9525">
            <a:solidFill>
              <a:schemeClr val="accent1">
                <a:alpha val="12000"/>
              </a:schemeClr>
            </a:solidFill>
            <a:prstDash val="solid"/>
          </a:ln>
        </p:spPr>
      </p:sp>
      <p:sp>
        <p:nvSpPr>
          <p:cNvPr id="8" name="Text 6"/>
          <p:cNvSpPr txBox="1"/>
          <p:nvPr/>
        </p:nvSpPr>
        <p:spPr>
          <a:xfrm>
            <a:off x="3543986" y="1554480"/>
            <a:ext cx="2272970" cy="1965960"/>
          </a:xfrm>
          <a:prstGeom prst="rect">
            <a:avLst/>
          </a:prstGeom>
          <a:noFill/>
          <a:ln/>
        </p:spPr>
        <p:txBody>
          <a:bodyPr wrap="square" lIns="0" tIns="0" rIns="0" bIns="0" rtlCol="0" anchor="t"/>
          <a:lstStyle/>
          <a:p>
            <a:pPr indent="0" marL="0">
              <a:buNone/>
            </a:pPr>
            <a:r>
              <a:rPr lang="en-US" sz="1700" b="1" dirty="0">
                <a:solidFill>
                  <a:schemeClr val="accent1"/>
                </a:solidFill>
              </a:rPr>
              <a:t>B · Reflection</a:t>
            </a:r>
            <a:endParaRPr lang="en-US" sz="1500" dirty="0"/>
          </a:p>
          <a:p>
            <a:pPr indent="0" marL="0">
              <a:buNone/>
            </a:pPr>
            <a:r>
              <a:rPr lang="en-US" sz="1500" dirty="0">
                <a:solidFill>
                  <a:schemeClr val="tx1"/>
                </a:solidFill>
              </a:rPr>
              <a:t>Angle in = angle out. Smooth → glossy; rough → diffuse (bloom).</a:t>
            </a:r>
            <a:endParaRPr lang="en-US" sz="1500" dirty="0"/>
          </a:p>
        </p:txBody>
      </p:sp>
      <p:sp>
        <p:nvSpPr>
          <p:cNvPr id="9" name="Shape 7"/>
          <p:cNvSpPr/>
          <p:nvPr/>
        </p:nvSpPr>
        <p:spPr>
          <a:xfrm>
            <a:off x="6210148" y="1463040"/>
            <a:ext cx="2602154" cy="2148840"/>
          </a:xfrm>
          <a:prstGeom prst="roundRect">
            <a:avLst>
              <a:gd name="adj" fmla="val 3404"/>
            </a:avLst>
          </a:prstGeom>
          <a:solidFill>
            <a:schemeClr val="accent1">
              <a:alpha val="12000"/>
            </a:schemeClr>
          </a:solidFill>
          <a:ln w="9525">
            <a:solidFill>
              <a:schemeClr val="accent1">
                <a:alpha val="12000"/>
              </a:schemeClr>
            </a:solidFill>
            <a:prstDash val="solid"/>
          </a:ln>
        </p:spPr>
      </p:sp>
      <p:sp>
        <p:nvSpPr>
          <p:cNvPr id="10" name="Text 8"/>
          <p:cNvSpPr txBox="1"/>
          <p:nvPr/>
        </p:nvSpPr>
        <p:spPr>
          <a:xfrm>
            <a:off x="6374740" y="1554480"/>
            <a:ext cx="2272970" cy="1965960"/>
          </a:xfrm>
          <a:prstGeom prst="rect">
            <a:avLst/>
          </a:prstGeom>
          <a:noFill/>
          <a:ln/>
        </p:spPr>
        <p:txBody>
          <a:bodyPr wrap="square" lIns="0" tIns="0" rIns="0" bIns="0" rtlCol="0" anchor="t"/>
          <a:lstStyle/>
          <a:p>
            <a:pPr indent="0" marL="0">
              <a:buNone/>
            </a:pPr>
            <a:r>
              <a:rPr lang="en-US" sz="1700" b="1" dirty="0">
                <a:solidFill>
                  <a:schemeClr val="accent1"/>
                </a:solidFill>
              </a:rPr>
              <a:t>C · Refraction</a:t>
            </a:r>
            <a:endParaRPr lang="en-US" sz="1500" dirty="0"/>
          </a:p>
          <a:p>
            <a:pPr indent="0" marL="0">
              <a:buNone/>
            </a:pPr>
            <a:r>
              <a:rPr lang="en-US" sz="1500" dirty="0">
                <a:solidFill>
                  <a:schemeClr val="tx1"/>
                </a:solidFill>
              </a:rPr>
              <a:t>n = c/v; n₁ sin θ₁ = n₂ sin θ₂. TIR beyond θc (sin θc = n₂/n₁): fibres, refractometers.</a:t>
            </a:r>
            <a:endParaRPr lang="en-US" sz="1500" dirty="0"/>
          </a:p>
        </p:txBody>
      </p:sp>
      <p:sp>
        <p:nvSpPr>
          <p:cNvPr id="11" name="Shape 9"/>
          <p:cNvSpPr/>
          <p:nvPr/>
        </p:nvSpPr>
        <p:spPr>
          <a:xfrm>
            <a:off x="9040901" y="1463040"/>
            <a:ext cx="2602154" cy="2148840"/>
          </a:xfrm>
          <a:prstGeom prst="roundRect">
            <a:avLst>
              <a:gd name="adj" fmla="val 3404"/>
            </a:avLst>
          </a:prstGeom>
          <a:solidFill>
            <a:schemeClr val="accent1">
              <a:alpha val="12000"/>
            </a:schemeClr>
          </a:solidFill>
          <a:ln w="9525">
            <a:solidFill>
              <a:schemeClr val="accent1">
                <a:alpha val="12000"/>
              </a:schemeClr>
            </a:solidFill>
            <a:prstDash val="solid"/>
          </a:ln>
        </p:spPr>
      </p:sp>
      <p:sp>
        <p:nvSpPr>
          <p:cNvPr id="12" name="Text 10"/>
          <p:cNvSpPr txBox="1"/>
          <p:nvPr/>
        </p:nvSpPr>
        <p:spPr>
          <a:xfrm>
            <a:off x="9205493" y="1554480"/>
            <a:ext cx="2272970" cy="1965960"/>
          </a:xfrm>
          <a:prstGeom prst="rect">
            <a:avLst/>
          </a:prstGeom>
          <a:noFill/>
          <a:ln/>
        </p:spPr>
        <p:txBody>
          <a:bodyPr wrap="square" lIns="0" tIns="0" rIns="0" bIns="0" rtlCol="0" anchor="t"/>
          <a:lstStyle/>
          <a:p>
            <a:pPr indent="0" marL="0">
              <a:buNone/>
            </a:pPr>
            <a:r>
              <a:rPr lang="en-US" sz="1700" b="1" dirty="0">
                <a:solidFill>
                  <a:schemeClr val="accent1"/>
                </a:solidFill>
              </a:rPr>
              <a:t>D · Lenses</a:t>
            </a:r>
            <a:endParaRPr lang="en-US" sz="1500" dirty="0"/>
          </a:p>
          <a:p>
            <a:pPr indent="0" marL="0">
              <a:buNone/>
            </a:pPr>
            <a:r>
              <a:rPr lang="en-US" sz="1500" dirty="0">
                <a:solidFill>
                  <a:schemeClr val="tx1"/>
                </a:solidFill>
              </a:rPr>
              <a:t>1/f = 1/d</a:t>
            </a:r>
            <a:pPr indent="0" marL="0">
              <a:buNone/>
            </a:pPr>
            <a:r>
              <a:rPr lang="en-US" sz="1500" baseline="-25000" dirty="0">
                <a:solidFill>
                  <a:schemeClr val="tx1"/>
                </a:solidFill>
              </a:rPr>
              <a:t>o</a:t>
            </a:r>
            <a:pPr indent="0" marL="0">
              <a:buNone/>
            </a:pPr>
            <a:r>
              <a:rPr lang="en-US" sz="1500" dirty="0">
                <a:solidFill>
                  <a:schemeClr val="tx1"/>
                </a:solidFill>
              </a:rPr>
              <a:t> + 1/d</a:t>
            </a:r>
            <a:pPr indent="0" marL="0">
              <a:buNone/>
            </a:pPr>
            <a:r>
              <a:rPr lang="en-US" sz="1500" baseline="-25000" dirty="0">
                <a:solidFill>
                  <a:schemeClr val="tx1"/>
                </a:solidFill>
              </a:rPr>
              <a:t>i</a:t>
            </a:r>
            <a:pPr indent="0" marL="0">
              <a:buNone/>
            </a:pPr>
            <a:r>
              <a:rPr lang="en-US" sz="1500" dirty="0">
                <a:solidFill>
                  <a:schemeClr val="tx1"/>
                </a:solidFill>
              </a:rPr>
              <a:t>; m = −d</a:t>
            </a:r>
            <a:pPr indent="0" marL="0">
              <a:buNone/>
            </a:pPr>
            <a:r>
              <a:rPr lang="en-US" sz="1500" baseline="-25000" dirty="0">
                <a:solidFill>
                  <a:schemeClr val="tx1"/>
                </a:solidFill>
              </a:rPr>
              <a:t>i</a:t>
            </a:r>
            <a:pPr indent="0" marL="0">
              <a:buNone/>
            </a:pPr>
            <a:r>
              <a:rPr lang="en-US" sz="1500" dirty="0">
                <a:solidFill>
                  <a:schemeClr val="tx1"/>
                </a:solidFill>
              </a:rPr>
              <a:t>/d</a:t>
            </a:r>
            <a:pPr indent="0" marL="0">
              <a:buNone/>
            </a:pPr>
            <a:r>
              <a:rPr lang="en-US" sz="1500" baseline="-25000" dirty="0">
                <a:solidFill>
                  <a:schemeClr val="tx1"/>
                </a:solidFill>
              </a:rPr>
              <a:t>o</a:t>
            </a:r>
            <a:pPr indent="0" marL="0">
              <a:buNone/>
            </a:pPr>
            <a:r>
              <a:rPr lang="en-US" sz="1500" dirty="0">
                <a:solidFill>
                  <a:schemeClr val="tx1"/>
                </a:solidFill>
              </a:rPr>
              <a:t>. Camera, eye, magnifier, microscope.</a:t>
            </a:r>
            <a:endParaRPr lang="en-US" sz="1500" dirty="0"/>
          </a:p>
        </p:txBody>
      </p:sp>
      <p:sp>
        <p:nvSpPr>
          <p:cNvPr id="13" name="Shape 11"/>
          <p:cNvSpPr/>
          <p:nvPr/>
        </p:nvSpPr>
        <p:spPr>
          <a:xfrm>
            <a:off x="548640" y="3840480"/>
            <a:ext cx="2602154" cy="2286000"/>
          </a:xfrm>
          <a:prstGeom prst="roundRect">
            <a:avLst>
              <a:gd name="adj" fmla="val 3200"/>
            </a:avLst>
          </a:prstGeom>
          <a:solidFill>
            <a:schemeClr val="accent4">
              <a:alpha val="12000"/>
            </a:schemeClr>
          </a:solidFill>
          <a:ln w="9525">
            <a:solidFill>
              <a:schemeClr val="accent4">
                <a:alpha val="12000"/>
              </a:schemeClr>
            </a:solidFill>
            <a:prstDash val="solid"/>
          </a:ln>
        </p:spPr>
      </p:sp>
      <p:sp>
        <p:nvSpPr>
          <p:cNvPr id="14" name="Text 12"/>
          <p:cNvSpPr txBox="1"/>
          <p:nvPr/>
        </p:nvSpPr>
        <p:spPr>
          <a:xfrm>
            <a:off x="713232" y="3931920"/>
            <a:ext cx="2272970" cy="2103120"/>
          </a:xfrm>
          <a:prstGeom prst="rect">
            <a:avLst/>
          </a:prstGeom>
          <a:noFill/>
          <a:ln/>
        </p:spPr>
        <p:txBody>
          <a:bodyPr wrap="square" lIns="0" tIns="0" rIns="0" bIns="0" rtlCol="0" anchor="t"/>
          <a:lstStyle/>
          <a:p>
            <a:pPr indent="0" marL="0">
              <a:buNone/>
            </a:pPr>
            <a:r>
              <a:rPr lang="en-US" sz="1700" b="1" dirty="0">
                <a:solidFill>
                  <a:schemeClr val="accent4"/>
                </a:solidFill>
              </a:rPr>
              <a:t>E · Interference</a:t>
            </a:r>
            <a:endParaRPr lang="en-US" sz="1500" dirty="0"/>
          </a:p>
          <a:p>
            <a:pPr indent="0" marL="0">
              <a:buNone/>
            </a:pPr>
            <a:r>
              <a:rPr lang="en-US" sz="1500" dirty="0">
                <a:solidFill>
                  <a:schemeClr val="tx1"/>
                </a:solidFill>
              </a:rPr>
              <a:t>Path difference decides bright or dark: double slits, thin films, gratings, meat iridescence.</a:t>
            </a:r>
            <a:endParaRPr lang="en-US" sz="1500" dirty="0"/>
          </a:p>
        </p:txBody>
      </p:sp>
      <p:sp>
        <p:nvSpPr>
          <p:cNvPr id="15" name="Shape 13"/>
          <p:cNvSpPr/>
          <p:nvPr/>
        </p:nvSpPr>
        <p:spPr>
          <a:xfrm>
            <a:off x="3379394" y="3840480"/>
            <a:ext cx="2602154" cy="2286000"/>
          </a:xfrm>
          <a:prstGeom prst="roundRect">
            <a:avLst>
              <a:gd name="adj" fmla="val 3200"/>
            </a:avLst>
          </a:prstGeom>
          <a:solidFill>
            <a:schemeClr val="accent4">
              <a:alpha val="12000"/>
            </a:schemeClr>
          </a:solidFill>
          <a:ln w="9525">
            <a:solidFill>
              <a:schemeClr val="accent4">
                <a:alpha val="12000"/>
              </a:schemeClr>
            </a:solidFill>
            <a:prstDash val="solid"/>
          </a:ln>
        </p:spPr>
      </p:sp>
      <p:sp>
        <p:nvSpPr>
          <p:cNvPr id="16" name="Text 14"/>
          <p:cNvSpPr txBox="1"/>
          <p:nvPr/>
        </p:nvSpPr>
        <p:spPr>
          <a:xfrm>
            <a:off x="3543986" y="3931920"/>
            <a:ext cx="2272970" cy="2103120"/>
          </a:xfrm>
          <a:prstGeom prst="rect">
            <a:avLst/>
          </a:prstGeom>
          <a:noFill/>
          <a:ln/>
        </p:spPr>
        <p:txBody>
          <a:bodyPr wrap="square" lIns="0" tIns="0" rIns="0" bIns="0" rtlCol="0" anchor="t"/>
          <a:lstStyle/>
          <a:p>
            <a:pPr indent="0" marL="0">
              <a:buNone/>
            </a:pPr>
            <a:r>
              <a:rPr lang="en-US" sz="1700" b="1" dirty="0">
                <a:solidFill>
                  <a:schemeClr val="accent4"/>
                </a:solidFill>
              </a:rPr>
              <a:t>F · Resolution</a:t>
            </a:r>
            <a:endParaRPr lang="en-US" sz="1500" dirty="0"/>
          </a:p>
          <a:p>
            <a:pPr indent="0" marL="0">
              <a:buNone/>
            </a:pPr>
            <a:r>
              <a:rPr lang="en-US" sz="1500" dirty="0">
                <a:solidFill>
                  <a:schemeClr val="tx1"/>
                </a:solidFill>
              </a:rPr>
              <a:t>d ≈ 0.61 λ/NA. More magnification ≠ more detail. Shorter λ, higher NA, or electrons.</a:t>
            </a:r>
            <a:endParaRPr lang="en-US" sz="1500" dirty="0"/>
          </a:p>
        </p:txBody>
      </p:sp>
      <p:sp>
        <p:nvSpPr>
          <p:cNvPr id="17" name="Shape 15"/>
          <p:cNvSpPr/>
          <p:nvPr/>
        </p:nvSpPr>
        <p:spPr>
          <a:xfrm>
            <a:off x="6210148" y="3840480"/>
            <a:ext cx="2602154" cy="2286000"/>
          </a:xfrm>
          <a:prstGeom prst="roundRect">
            <a:avLst>
              <a:gd name="adj" fmla="val 3200"/>
            </a:avLst>
          </a:prstGeom>
          <a:solidFill>
            <a:schemeClr val="accent4">
              <a:alpha val="12000"/>
            </a:schemeClr>
          </a:solidFill>
          <a:ln w="9525">
            <a:solidFill>
              <a:schemeClr val="accent4">
                <a:alpha val="12000"/>
              </a:schemeClr>
            </a:solidFill>
            <a:prstDash val="solid"/>
          </a:ln>
        </p:spPr>
      </p:sp>
      <p:sp>
        <p:nvSpPr>
          <p:cNvPr id="18" name="Text 16"/>
          <p:cNvSpPr txBox="1"/>
          <p:nvPr/>
        </p:nvSpPr>
        <p:spPr>
          <a:xfrm>
            <a:off x="6374740" y="3931920"/>
            <a:ext cx="2272970" cy="2103120"/>
          </a:xfrm>
          <a:prstGeom prst="rect">
            <a:avLst/>
          </a:prstGeom>
          <a:noFill/>
          <a:ln/>
        </p:spPr>
        <p:txBody>
          <a:bodyPr wrap="square" lIns="0" tIns="0" rIns="0" bIns="0" rtlCol="0" anchor="t"/>
          <a:lstStyle/>
          <a:p>
            <a:pPr indent="0" marL="0">
              <a:buNone/>
            </a:pPr>
            <a:r>
              <a:rPr lang="en-US" sz="1700" b="1" dirty="0">
                <a:solidFill>
                  <a:schemeClr val="accent4"/>
                </a:solidFill>
              </a:rPr>
              <a:t>G · Polarization</a:t>
            </a:r>
            <a:endParaRPr lang="en-US" sz="1500" dirty="0"/>
          </a:p>
          <a:p>
            <a:pPr indent="0" marL="0">
              <a:buNone/>
            </a:pPr>
            <a:r>
              <a:rPr lang="en-US" sz="1500" dirty="0">
                <a:solidFill>
                  <a:schemeClr val="tx1"/>
                </a:solidFill>
              </a:rPr>
              <a:t>Transverse E-field direction. I = I₀ cos²θ. Glare, starch crosses, sugar polarimetry.</a:t>
            </a:r>
            <a:endParaRPr lang="en-US" sz="1500" dirty="0"/>
          </a:p>
        </p:txBody>
      </p:sp>
      <p:sp>
        <p:nvSpPr>
          <p:cNvPr id="19" name="Shape 17"/>
          <p:cNvSpPr/>
          <p:nvPr/>
        </p:nvSpPr>
        <p:spPr>
          <a:xfrm>
            <a:off x="9040901" y="3840480"/>
            <a:ext cx="2602154" cy="2286000"/>
          </a:xfrm>
          <a:prstGeom prst="roundRect">
            <a:avLst>
              <a:gd name="adj" fmla="val 3200"/>
            </a:avLst>
          </a:prstGeom>
          <a:solidFill>
            <a:schemeClr val="accent4">
              <a:alpha val="12000"/>
            </a:schemeClr>
          </a:solidFill>
          <a:ln w="9525">
            <a:solidFill>
              <a:schemeClr val="accent4">
                <a:alpha val="12000"/>
              </a:schemeClr>
            </a:solidFill>
            <a:prstDash val="solid"/>
          </a:ln>
        </p:spPr>
      </p:sp>
      <p:sp>
        <p:nvSpPr>
          <p:cNvPr id="20" name="Text 18"/>
          <p:cNvSpPr txBox="1"/>
          <p:nvPr/>
        </p:nvSpPr>
        <p:spPr>
          <a:xfrm>
            <a:off x="9205493" y="3931920"/>
            <a:ext cx="2272970" cy="2103120"/>
          </a:xfrm>
          <a:prstGeom prst="rect">
            <a:avLst/>
          </a:prstGeom>
          <a:noFill/>
          <a:ln/>
        </p:spPr>
        <p:txBody>
          <a:bodyPr wrap="square" lIns="0" tIns="0" rIns="0" bIns="0" rtlCol="0" anchor="t"/>
          <a:lstStyle/>
          <a:p>
            <a:pPr indent="0" marL="0">
              <a:buNone/>
            </a:pPr>
            <a:r>
              <a:rPr lang="en-US" sz="1700" b="1" dirty="0">
                <a:solidFill>
                  <a:schemeClr val="accent4"/>
                </a:solidFill>
              </a:rPr>
              <a:t>H · Colour &amp; spectra</a:t>
            </a:r>
            <a:endParaRPr lang="en-US" sz="1500" dirty="0"/>
          </a:p>
          <a:p>
            <a:pPr indent="0" marL="0">
              <a:buNone/>
            </a:pPr>
            <a:r>
              <a:rPr lang="en-US" sz="1500" dirty="0">
                <a:solidFill>
                  <a:schemeClr val="tx1"/>
                </a:solidFill>
              </a:rPr>
              <a:t>Colour = unabsorbed light. Scattering whitens milk. A = εlc. NIR: water, fat, protein.</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ag"/>
          <p:cNvSpPr/>
          <p:nvPr/>
        </p:nvSpPr>
        <p:spPr>
          <a:xfrm>
            <a:off x="548640" y="292608"/>
            <a:ext cx="1065276" cy="292608"/>
          </a:xfrm>
          <a:prstGeom prst="roundRect">
            <a:avLst>
              <a:gd name="adj" fmla="val 50000"/>
            </a:avLst>
          </a:prstGeom>
          <a:solidFill>
            <a:schemeClr val="accent2"/>
          </a:solidFill>
          <a:ln w="12700">
            <a:solidFill>
              <a:schemeClr val="accent2"/>
            </a:solidFill>
            <a:prstDash val="solid"/>
          </a:ln>
        </p:spPr>
      </p:sp>
      <p:sp>
        <p:nvSpPr>
          <p:cNvPr id="3" name="Text 1"/>
          <p:cNvSpPr txBox="1"/>
          <p:nvPr/>
        </p:nvSpPr>
        <p:spPr>
          <a:xfrm>
            <a:off x="548640" y="292608"/>
            <a:ext cx="1065276"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YOUR TURN</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Exit ticket: three questions before you leave</a:t>
            </a:r>
            <a:endParaRPr lang="en-US" sz="3000" dirty="0"/>
          </a:p>
        </p:txBody>
      </p:sp>
      <p:sp>
        <p:nvSpPr>
          <p:cNvPr id="5" name="Shape 3"/>
          <p:cNvSpPr/>
          <p:nvPr/>
        </p:nvSpPr>
        <p:spPr>
          <a:xfrm>
            <a:off x="9814255" y="274320"/>
            <a:ext cx="1828800" cy="292608"/>
          </a:xfrm>
          <a:prstGeom prst="roundRect">
            <a:avLst>
              <a:gd name="adj" fmla="val 50000"/>
            </a:avLst>
          </a:prstGeom>
          <a:solidFill>
            <a:schemeClr val="accent2">
              <a:alpha val="15000"/>
            </a:schemeClr>
          </a:solidFill>
          <a:ln w="12700">
            <a:solidFill>
              <a:schemeClr val="accent2"/>
            </a:solidFill>
            <a:prstDash val="solid"/>
          </a:ln>
        </p:spPr>
      </p:sp>
      <p:sp>
        <p:nvSpPr>
          <p:cNvPr id="6" name="Text 4"/>
          <p:cNvSpPr txBox="1"/>
          <p:nvPr/>
        </p:nvSpPr>
        <p:spPr>
          <a:xfrm>
            <a:off x="9814255" y="274320"/>
            <a:ext cx="1828800" cy="292608"/>
          </a:xfrm>
          <a:prstGeom prst="rect">
            <a:avLst/>
          </a:prstGeom>
          <a:noFill/>
          <a:ln/>
        </p:spPr>
        <p:txBody>
          <a:bodyPr wrap="square" lIns="0" tIns="0" rIns="0" bIns="0" rtlCol="0" anchor="ctr"/>
          <a:lstStyle/>
          <a:p>
            <a:pPr algn="ctr" indent="0" marL="0">
              <a:buNone/>
            </a:pPr>
            <a:r>
              <a:rPr lang="en-US" sz="1100" b="1" dirty="0">
                <a:solidFill>
                  <a:schemeClr val="accent2"/>
                </a:solidFill>
              </a:rPr>
              <a:t>5 minutes, on your own</a:t>
            </a:r>
            <a:endParaRPr lang="en-US" sz="1100" dirty="0"/>
          </a:p>
        </p:txBody>
      </p:sp>
      <p:sp>
        <p:nvSpPr>
          <p:cNvPr id="7" name="Shape 5"/>
          <p:cNvSpPr/>
          <p:nvPr/>
        </p:nvSpPr>
        <p:spPr>
          <a:xfrm>
            <a:off x="548640" y="1554480"/>
            <a:ext cx="502920" cy="502920"/>
          </a:xfrm>
          <a:prstGeom prst="ellipse">
            <a:avLst/>
          </a:prstGeom>
          <a:solidFill>
            <a:schemeClr val="accent2"/>
          </a:solidFill>
          <a:ln w="12700">
            <a:solidFill>
              <a:schemeClr val="accent2"/>
            </a:solidFill>
            <a:prstDash val="solid"/>
          </a:ln>
        </p:spPr>
      </p:sp>
      <p:sp>
        <p:nvSpPr>
          <p:cNvPr id="8" name="Text 6"/>
          <p:cNvSpPr txBox="1"/>
          <p:nvPr/>
        </p:nvSpPr>
        <p:spPr>
          <a:xfrm>
            <a:off x="548640" y="1554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7"/>
          <p:cNvSpPr txBox="1"/>
          <p:nvPr/>
        </p:nvSpPr>
        <p:spPr>
          <a:xfrm>
            <a:off x="1280160" y="1508760"/>
            <a:ext cx="10362895" cy="914400"/>
          </a:xfrm>
          <a:prstGeom prst="rect">
            <a:avLst/>
          </a:prstGeom>
          <a:noFill/>
          <a:ln/>
        </p:spPr>
        <p:txBody>
          <a:bodyPr wrap="square" lIns="0" tIns="0" rIns="0" bIns="0" rtlCol="0" anchor="t"/>
          <a:lstStyle/>
          <a:p>
            <a:pPr indent="0" marL="0">
              <a:buNone/>
            </a:pPr>
            <a:r>
              <a:rPr lang="en-US" sz="1650" dirty="0">
                <a:solidFill>
                  <a:schemeClr val="tx1"/>
                </a:solidFill>
              </a:rPr>
              <a:t>Light travels from a juice (n = 1.36) into air. Find the critical angle. Will light hitting the surface at 50° escape?</a:t>
            </a:r>
            <a:endParaRPr lang="en-US" sz="1650" dirty="0"/>
          </a:p>
        </p:txBody>
      </p:sp>
      <p:sp>
        <p:nvSpPr>
          <p:cNvPr id="10" name="Shape 8"/>
          <p:cNvSpPr/>
          <p:nvPr/>
        </p:nvSpPr>
        <p:spPr>
          <a:xfrm>
            <a:off x="548640" y="2578608"/>
            <a:ext cx="502920" cy="502920"/>
          </a:xfrm>
          <a:prstGeom prst="ellipse">
            <a:avLst/>
          </a:prstGeom>
          <a:solidFill>
            <a:schemeClr val="accent2"/>
          </a:solidFill>
          <a:ln w="12700">
            <a:solidFill>
              <a:schemeClr val="accent2"/>
            </a:solidFill>
            <a:prstDash val="solid"/>
          </a:ln>
        </p:spPr>
      </p:sp>
      <p:sp>
        <p:nvSpPr>
          <p:cNvPr id="11" name="Text 9"/>
          <p:cNvSpPr txBox="1"/>
          <p:nvPr/>
        </p:nvSpPr>
        <p:spPr>
          <a:xfrm>
            <a:off x="548640" y="257860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1280160" y="2532888"/>
            <a:ext cx="10362895" cy="914400"/>
          </a:xfrm>
          <a:prstGeom prst="rect">
            <a:avLst/>
          </a:prstGeom>
          <a:noFill/>
          <a:ln/>
        </p:spPr>
        <p:txBody>
          <a:bodyPr wrap="square" lIns="0" tIns="0" rIns="0" bIns="0" rtlCol="0" anchor="t"/>
          <a:lstStyle/>
          <a:p>
            <a:pPr indent="0" marL="0">
              <a:buNone/>
            </a:pPr>
            <a:r>
              <a:rPr lang="en-US" sz="1650" dirty="0">
                <a:solidFill>
                  <a:schemeClr val="tx1"/>
                </a:solidFill>
              </a:rPr>
              <a:t>A lens with f = 20 cm forms an image of an object 60 cm away. Find d</a:t>
            </a:r>
            <a:pPr indent="0" marL="0">
              <a:buNone/>
            </a:pPr>
            <a:r>
              <a:rPr lang="en-US" sz="1650" baseline="-25000" dirty="0">
                <a:solidFill>
                  <a:schemeClr val="tx1"/>
                </a:solidFill>
              </a:rPr>
              <a:t>i</a:t>
            </a:r>
            <a:pPr indent="0" marL="0">
              <a:buNone/>
            </a:pPr>
            <a:r>
              <a:rPr lang="en-US" sz="1650" dirty="0">
                <a:solidFill>
                  <a:schemeClr val="tx1"/>
                </a:solidFill>
              </a:rPr>
              <a:t> and say whether the image is real or virtual, upright or inverted.</a:t>
            </a:r>
            <a:endParaRPr lang="en-US" sz="1650" dirty="0"/>
          </a:p>
        </p:txBody>
      </p:sp>
      <p:sp>
        <p:nvSpPr>
          <p:cNvPr id="13" name="Shape 11"/>
          <p:cNvSpPr/>
          <p:nvPr/>
        </p:nvSpPr>
        <p:spPr>
          <a:xfrm>
            <a:off x="548640" y="3602736"/>
            <a:ext cx="502920" cy="502920"/>
          </a:xfrm>
          <a:prstGeom prst="ellipse">
            <a:avLst/>
          </a:prstGeom>
          <a:solidFill>
            <a:schemeClr val="accent2"/>
          </a:solidFill>
          <a:ln w="12700">
            <a:solidFill>
              <a:schemeClr val="accent2"/>
            </a:solidFill>
            <a:prstDash val="solid"/>
          </a:ln>
        </p:spPr>
      </p:sp>
      <p:sp>
        <p:nvSpPr>
          <p:cNvPr id="14" name="Text 12"/>
          <p:cNvSpPr txBox="1"/>
          <p:nvPr/>
        </p:nvSpPr>
        <p:spPr>
          <a:xfrm>
            <a:off x="548640" y="3602736"/>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1280160" y="3557016"/>
            <a:ext cx="10362895" cy="914400"/>
          </a:xfrm>
          <a:prstGeom prst="rect">
            <a:avLst/>
          </a:prstGeom>
          <a:noFill/>
          <a:ln/>
        </p:spPr>
        <p:txBody>
          <a:bodyPr wrap="square" lIns="0" tIns="0" rIns="0" bIns="0" rtlCol="0" anchor="t"/>
          <a:lstStyle/>
          <a:p>
            <a:pPr indent="0" marL="0">
              <a:buNone/>
            </a:pPr>
            <a:r>
              <a:rPr lang="en-US" sz="1650" dirty="0">
                <a:solidFill>
                  <a:schemeClr val="tx1"/>
                </a:solidFill>
              </a:rPr>
              <a:t>Explain why switching from a 10× to a 20× eyepiece does not let you see viruses with a light microscope.</a:t>
            </a:r>
            <a:endParaRPr lang="en-US" sz="1650" dirty="0"/>
          </a:p>
        </p:txBody>
      </p:sp>
      <p:sp>
        <p:nvSpPr>
          <p:cNvPr id="16" name="Text 14"/>
          <p:cNvSpPr txBox="1"/>
          <p:nvPr/>
        </p:nvSpPr>
        <p:spPr>
          <a:xfrm>
            <a:off x="548640" y="5234940"/>
            <a:ext cx="11094415" cy="365760"/>
          </a:xfrm>
          <a:prstGeom prst="rect">
            <a:avLst/>
          </a:prstGeom>
          <a:noFill/>
          <a:ln/>
        </p:spPr>
        <p:txBody>
          <a:bodyPr wrap="square" lIns="0" tIns="0" rIns="0" bIns="0" rtlCol="0" anchor="ctr"/>
          <a:lstStyle/>
          <a:p>
            <a:pPr algn="ctr" indent="0" marL="0">
              <a:buNone/>
            </a:pPr>
            <a:r>
              <a:rPr lang="en-US" sz="1300" i="1" dirty="0">
                <a:solidFill>
                  <a:schemeClr val="accent6"/>
                </a:solidFill>
              </a:rPr>
              <a:t>▶  click to reveal</a:t>
            </a:r>
            <a:endParaRPr lang="en-US" sz="1300" dirty="0"/>
          </a:p>
        </p:txBody>
      </p:sp>
      <p:sp>
        <p:nvSpPr>
          <p:cNvPr id="17" name="rv1_ans_bg"/>
          <p:cNvSpPr/>
          <p:nvPr/>
        </p:nvSpPr>
        <p:spPr>
          <a:xfrm>
            <a:off x="548640" y="4617720"/>
            <a:ext cx="11094415" cy="1600200"/>
          </a:xfrm>
          <a:prstGeom prst="roundRect">
            <a:avLst>
              <a:gd name="adj" fmla="val 4571"/>
            </a:avLst>
          </a:prstGeom>
          <a:solidFill>
            <a:srgbClr val="EAF5EE"/>
          </a:solidFill>
          <a:ln w="15875">
            <a:solidFill>
              <a:schemeClr val="accent3"/>
            </a:solidFill>
            <a:prstDash val="solid"/>
          </a:ln>
        </p:spPr>
      </p:sp>
      <p:sp>
        <p:nvSpPr>
          <p:cNvPr id="18" name="rv1_ans_tx"/>
          <p:cNvSpPr txBox="1"/>
          <p:nvPr/>
        </p:nvSpPr>
        <p:spPr>
          <a:xfrm>
            <a:off x="731520" y="4727448"/>
            <a:ext cx="10728655" cy="1380744"/>
          </a:xfrm>
          <a:prstGeom prst="rect">
            <a:avLst/>
          </a:prstGeom>
          <a:noFill/>
          <a:ln/>
        </p:spPr>
        <p:txBody>
          <a:bodyPr wrap="square" lIns="0" tIns="0" rIns="0" bIns="0" rtlCol="0" anchor="t"/>
          <a:lstStyle/>
          <a:p>
            <a:pPr indent="0" marL="0">
              <a:spcAft>
                <a:spcPts val="400"/>
              </a:spcAft>
              <a:buNone/>
            </a:pPr>
            <a:r>
              <a:rPr lang="en-US" sz="1500" b="1" dirty="0">
                <a:solidFill>
                  <a:schemeClr val="accent3"/>
                </a:solidFill>
              </a:rPr>
              <a:t>Answers</a:t>
            </a:r>
            <a:endParaRPr lang="en-US" sz="1450" dirty="0"/>
          </a:p>
          <a:p>
            <a:pPr indent="0" marL="0">
              <a:spcAft>
                <a:spcPts val="400"/>
              </a:spcAft>
              <a:buNone/>
            </a:pPr>
            <a:r>
              <a:rPr lang="en-US" sz="1450" dirty="0">
                <a:solidFill>
                  <a:schemeClr val="tx1"/>
                </a:solidFill>
              </a:rPr>
              <a:t>1.  sin θc = 1/1.36 = 0.735 → θc ≈ 47°. At 50° (&gt; θc) it is totally internally reflected — it does not escape.</a:t>
            </a:r>
            <a:endParaRPr lang="en-US" sz="1450" dirty="0"/>
          </a:p>
          <a:p>
            <a:pPr indent="0" marL="0">
              <a:spcAft>
                <a:spcPts val="400"/>
              </a:spcAft>
              <a:buNone/>
            </a:pPr>
            <a:r>
              <a:rPr lang="en-US" sz="1450" dirty="0">
                <a:solidFill>
                  <a:schemeClr val="tx1"/>
                </a:solidFill>
              </a:rPr>
              <a:t>2.  1/d</a:t>
            </a:r>
            <a:pPr indent="0" marL="0">
              <a:spcAft>
                <a:spcPts val="400"/>
              </a:spcAft>
              <a:buNone/>
            </a:pPr>
            <a:r>
              <a:rPr lang="en-US" sz="1450" baseline="-25000" dirty="0">
                <a:solidFill>
                  <a:schemeClr val="tx1"/>
                </a:solidFill>
              </a:rPr>
              <a:t>i</a:t>
            </a:r>
            <a:pPr indent="0" marL="0">
              <a:spcAft>
                <a:spcPts val="400"/>
              </a:spcAft>
              <a:buNone/>
            </a:pPr>
            <a:r>
              <a:rPr lang="en-US" sz="1450" dirty="0">
                <a:solidFill>
                  <a:schemeClr val="tx1"/>
                </a:solidFill>
              </a:rPr>
              <a:t> = 1/20 − 1/60 = 1/30 → d</a:t>
            </a:r>
            <a:pPr indent="0" marL="0">
              <a:spcAft>
                <a:spcPts val="400"/>
              </a:spcAft>
              <a:buNone/>
            </a:pPr>
            <a:r>
              <a:rPr lang="en-US" sz="1450" baseline="-25000" dirty="0">
                <a:solidFill>
                  <a:schemeClr val="tx1"/>
                </a:solidFill>
              </a:rPr>
              <a:t>i</a:t>
            </a:r>
            <a:pPr indent="0" marL="0">
              <a:spcAft>
                <a:spcPts val="400"/>
              </a:spcAft>
              <a:buNone/>
            </a:pPr>
            <a:r>
              <a:rPr lang="en-US" sz="1450" dirty="0">
                <a:solidFill>
                  <a:schemeClr val="tx1"/>
                </a:solidFill>
              </a:rPr>
              <a:t> = 30 cm: real, inverted (m = −0.5, half size).</a:t>
            </a:r>
            <a:endParaRPr lang="en-US" sz="1450" dirty="0"/>
          </a:p>
          <a:p>
            <a:pPr indent="0" marL="0">
              <a:spcAft>
                <a:spcPts val="400"/>
              </a:spcAft>
              <a:buNone/>
            </a:pPr>
            <a:r>
              <a:rPr lang="en-US" sz="1450" dirty="0">
                <a:solidFill>
                  <a:schemeClr val="tx1"/>
                </a:solidFill>
              </a:rPr>
              <a:t>3.  Resolution is limited by diffraction (d ≈ 0.61λ/NA ≈ 0.2–0.3 µm); viruses (~0.1 µm) are smaller. A stronger eyepiece only enlarges the blur.</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ag"/>
          <p:cNvSpPr/>
          <p:nvPr/>
        </p:nvSpPr>
        <p:spPr>
          <a:xfrm>
            <a:off x="548640" y="292608"/>
            <a:ext cx="873252" cy="292608"/>
          </a:xfrm>
          <a:prstGeom prst="roundRect">
            <a:avLst>
              <a:gd name="adj" fmla="val 50000"/>
            </a:avLst>
          </a:prstGeom>
          <a:solidFill>
            <a:schemeClr val="tx2"/>
          </a:solidFill>
          <a:ln w="12700">
            <a:solidFill>
              <a:schemeClr val="tx2"/>
            </a:solidFill>
            <a:prstDash val="solid"/>
          </a:ln>
        </p:spPr>
      </p:sp>
      <p:sp>
        <p:nvSpPr>
          <p:cNvPr id="3" name="Text 1"/>
          <p:cNvSpPr txBox="1"/>
          <p:nvPr/>
        </p:nvSpPr>
        <p:spPr>
          <a:xfrm>
            <a:off x="548640" y="292608"/>
            <a:ext cx="873252" cy="292608"/>
          </a:xfrm>
          <a:prstGeom prst="rect">
            <a:avLst/>
          </a:prstGeom>
          <a:noFill/>
          <a:ln/>
        </p:spPr>
        <p:txBody>
          <a:bodyPr wrap="square" lIns="0" tIns="0" rIns="0" bIns="0" rtlCol="0" anchor="ctr"/>
          <a:lstStyle/>
          <a:p>
            <a:pPr algn="ctr" indent="0" marL="0">
              <a:buNone/>
            </a:pPr>
            <a:r>
              <a:rPr lang="en-US" sz="1100" b="1" spc="150" kern="0" dirty="0">
                <a:solidFill>
                  <a:schemeClr val="bg1"/>
                </a:solidFill>
              </a:rPr>
              <a:t>WRAP-UP</a:t>
            </a:r>
            <a:endParaRPr lang="en-US" sz="1100" dirty="0"/>
          </a:p>
        </p:txBody>
      </p:sp>
      <p:sp>
        <p:nvSpPr>
          <p:cNvPr id="4" name="Text 0"/>
          <p:cNvSpPr/>
          <p:nvPr>
            <p:ph idx="100" type="title" hasCustomPrompt="1"/>
          </p:nvPr>
        </p:nvSpPr>
        <p:spPr>
          <a:xfrm>
            <a:off x="548640" y="621792"/>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Before next week, and where this came from</a:t>
            </a:r>
            <a:endParaRPr lang="en-US" sz="3000" dirty="0"/>
          </a:p>
        </p:txBody>
      </p:sp>
      <p:sp>
        <p:nvSpPr>
          <p:cNvPr id="5" name="Shape 3"/>
          <p:cNvSpPr/>
          <p:nvPr/>
        </p:nvSpPr>
        <p:spPr>
          <a:xfrm>
            <a:off x="548640" y="1463040"/>
            <a:ext cx="5486400" cy="4800600"/>
          </a:xfrm>
          <a:prstGeom prst="roundRect">
            <a:avLst>
              <a:gd name="adj" fmla="val 1524"/>
            </a:avLst>
          </a:prstGeom>
          <a:solidFill>
            <a:schemeClr val="accent1">
              <a:alpha val="8000"/>
            </a:schemeClr>
          </a:solidFill>
          <a:ln w="9525">
            <a:solidFill>
              <a:schemeClr val="accent1">
                <a:alpha val="8000"/>
              </a:schemeClr>
            </a:solidFill>
            <a:prstDash val="solid"/>
          </a:ln>
        </p:spPr>
      </p:sp>
      <p:sp>
        <p:nvSpPr>
          <p:cNvPr id="6" name="Text 4"/>
          <p:cNvSpPr txBox="1"/>
          <p:nvPr/>
        </p:nvSpPr>
        <p:spPr>
          <a:xfrm>
            <a:off x="777240" y="1600200"/>
            <a:ext cx="5029200" cy="347472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Independent learning</a:t>
            </a:r>
            <a:endParaRPr lang="en-US" sz="1450" dirty="0"/>
          </a:p>
          <a:p>
            <a:pPr marL="203200" indent="-203200">
              <a:spcAft>
                <a:spcPts val="400"/>
              </a:spcAft>
              <a:buSzPct val="100000"/>
              <a:buChar char="•"/>
            </a:pPr>
            <a:r>
              <a:rPr lang="en-US" sz="1450" dirty="0">
                <a:solidFill>
                  <a:schemeClr val="tx1"/>
                </a:solidFill>
              </a:rPr>
              <a:t>Read OpenStax College Physics 2e Ch. 25 (geometric optics), Ch. 26 (vision and optical instruments), Ch. 27 (wave optics) and §29.3 (photon energies).</a:t>
            </a:r>
            <a:endParaRPr lang="en-US" sz="1450" dirty="0"/>
          </a:p>
          <a:p>
            <a:pPr marL="203200" indent="-203200">
              <a:spcAft>
                <a:spcPts val="400"/>
              </a:spcAft>
              <a:buSzPct val="100000"/>
              <a:buChar char="•"/>
            </a:pPr>
            <a:r>
              <a:rPr lang="en-US" sz="1450" dirty="0">
                <a:solidFill>
                  <a:schemeClr val="tx1"/>
                </a:solidFill>
              </a:rPr>
              <a:t>Optional: Newman, Physics of the Life Sciences, Ch. 19–22.</a:t>
            </a:r>
            <a:endParaRPr lang="en-US" sz="1450" dirty="0"/>
          </a:p>
          <a:p>
            <a:pPr marL="203200" indent="-203200">
              <a:spcAft>
                <a:spcPts val="400"/>
              </a:spcAft>
              <a:buSzPct val="100000"/>
              <a:buChar char="•"/>
            </a:pPr>
            <a:r>
              <a:rPr lang="en-US" sz="1450" dirty="0">
                <a:solidFill>
                  <a:schemeClr val="tx1"/>
                </a:solidFill>
              </a:rPr>
              <a:t>Complete the lens-and-image problems; analyse one microscopy or polarization application.</a:t>
            </a:r>
            <a:endParaRPr lang="en-US" sz="1450" dirty="0"/>
          </a:p>
          <a:p>
            <a:pPr marL="203200" indent="-203200">
              <a:spcAft>
                <a:spcPts val="400"/>
              </a:spcAft>
              <a:buSzPct val="100000"/>
              <a:buChar char="•"/>
            </a:pPr>
            <a:r>
              <a:rPr lang="en-US" sz="1450" dirty="0">
                <a:solidFill>
                  <a:schemeClr val="tx1"/>
                </a:solidFill>
              </a:rPr>
              <a:t>Try at home: coin-in-cup, CD grating, sunglasses vs phone screen.</a:t>
            </a:r>
            <a:endParaRPr lang="en-US" sz="1450" dirty="0"/>
          </a:p>
          <a:p>
            <a:pPr indent="0" marL="0">
              <a:spcAft>
                <a:spcPts val="400"/>
              </a:spcAft>
              <a:buNone/>
            </a:pPr>
            <a:r>
              <a:rPr lang="en-US" sz="800" dirty="0">
                <a:solidFill>
                  <a:schemeClr val="tx1"/>
                </a:solidFill>
              </a:rPr>
              <a:t> </a:t>
            </a:r>
            <a:endParaRPr lang="en-US" sz="1450" dirty="0"/>
          </a:p>
          <a:p>
            <a:pPr indent="0" marL="0">
              <a:spcAft>
                <a:spcPts val="400"/>
              </a:spcAft>
              <a:buNone/>
            </a:pPr>
            <a:r>
              <a:rPr lang="en-US" sz="1700" b="1" dirty="0">
                <a:solidFill>
                  <a:schemeClr val="accent1"/>
                </a:solidFill>
              </a:rPr>
              <a:t>Next: Nuclear Physics I</a:t>
            </a:r>
            <a:endParaRPr lang="en-US" sz="1450" dirty="0"/>
          </a:p>
          <a:p>
            <a:pPr indent="0" marL="0">
              <a:spcAft>
                <a:spcPts val="400"/>
              </a:spcAft>
              <a:buNone/>
            </a:pPr>
            <a:r>
              <a:rPr lang="en-US" sz="1450" dirty="0">
                <a:solidFill>
                  <a:schemeClr val="tx1"/>
                </a:solidFill>
              </a:rPr>
              <a:t>The atomic nucleus, radioactivity, decay modes and half-life.</a:t>
            </a:r>
            <a:endParaRPr lang="en-US" sz="1450" dirty="0"/>
          </a:p>
        </p:txBody>
      </p:sp>
      <p:sp>
        <p:nvSpPr>
          <p:cNvPr id="7" name="Shape 5">
            <a:hlinkClick r:id="rId1" tooltip=""/>
          </p:cNvPr>
          <p:cNvSpPr/>
          <p:nvPr/>
        </p:nvSpPr>
        <p:spPr>
          <a:xfrm>
            <a:off x="777240" y="5120640"/>
            <a:ext cx="2423160" cy="411480"/>
          </a:xfrm>
          <a:prstGeom prst="roundRect">
            <a:avLst>
              <a:gd name="adj" fmla="val 26667"/>
            </a:avLst>
          </a:prstGeom>
          <a:solidFill>
            <a:schemeClr val="accent2"/>
          </a:solidFill>
          <a:ln w="12700">
            <a:solidFill>
              <a:schemeClr val="accent2"/>
            </a:solidFill>
            <a:prstDash val="solid"/>
          </a:ln>
        </p:spPr>
      </p:sp>
      <p:sp>
        <p:nvSpPr>
          <p:cNvPr id="8" name="Text 6"/>
          <p:cNvSpPr txBox="1"/>
          <p:nvPr/>
        </p:nvSpPr>
        <p:spPr>
          <a:xfrm>
            <a:off x="777240" y="5120640"/>
            <a:ext cx="2423160" cy="41148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2" invalidUrl="" action="" tgtFrame="" tooltip="https://phet.colorado.edu/en/simulations/bending-light" history="1" highlightClick="0" endSnd="0">
                  <a:extLst>
                    <a:ext uri="{A12FA001-AC4F-418D-AE19-62706E023703}">
                      <ahyp:hlinkClr xmlns:ahyp="http://schemas.microsoft.com/office/drawing/2018/hyperlinkcolor" val="tx"/>
                    </a:ext>
                  </a:extLst>
                </a:hlinkClick>
              </a:rPr>
              <a:t>PhET: Bending Light  ↗</a:t>
            </a:r>
            <a:endParaRPr lang="en-US" sz="1500" dirty="0"/>
          </a:p>
        </p:txBody>
      </p:sp>
      <p:sp>
        <p:nvSpPr>
          <p:cNvPr id="9" name="Shape 7">
            <a:hlinkClick r:id="rId3" tooltip=""/>
          </p:cNvPr>
          <p:cNvSpPr/>
          <p:nvPr/>
        </p:nvSpPr>
        <p:spPr>
          <a:xfrm>
            <a:off x="3383280" y="5120640"/>
            <a:ext cx="2423160" cy="411480"/>
          </a:xfrm>
          <a:prstGeom prst="roundRect">
            <a:avLst>
              <a:gd name="adj" fmla="val 26667"/>
            </a:avLst>
          </a:prstGeom>
          <a:solidFill>
            <a:schemeClr val="accent2"/>
          </a:solidFill>
          <a:ln w="12700">
            <a:solidFill>
              <a:schemeClr val="accent2"/>
            </a:solidFill>
            <a:prstDash val="solid"/>
          </a:ln>
        </p:spPr>
      </p:sp>
      <p:sp>
        <p:nvSpPr>
          <p:cNvPr id="10" name="Text 8"/>
          <p:cNvSpPr txBox="1"/>
          <p:nvPr/>
        </p:nvSpPr>
        <p:spPr>
          <a:xfrm>
            <a:off x="3383280" y="5120640"/>
            <a:ext cx="2423160" cy="41148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4" invalidUrl="" action="" tgtFrame="" tooltip="https://phet.colorado.edu/en/simulations/geometric-optics" history="1" highlightClick="0" endSnd="0">
                  <a:extLst>
                    <a:ext uri="{A12FA001-AC4F-418D-AE19-62706E023703}">
                      <ahyp:hlinkClr xmlns:ahyp="http://schemas.microsoft.com/office/drawing/2018/hyperlinkcolor" val="tx"/>
                    </a:ext>
                  </a:extLst>
                </a:hlinkClick>
              </a:rPr>
              <a:t>PhET: Geometric Optics  ↗</a:t>
            </a:r>
            <a:endParaRPr lang="en-US" sz="1500" dirty="0"/>
          </a:p>
        </p:txBody>
      </p:sp>
      <p:sp>
        <p:nvSpPr>
          <p:cNvPr id="11" name="Shape 9">
            <a:hlinkClick r:id="rId5" tooltip=""/>
          </p:cNvPr>
          <p:cNvSpPr/>
          <p:nvPr/>
        </p:nvSpPr>
        <p:spPr>
          <a:xfrm>
            <a:off x="777240" y="5623560"/>
            <a:ext cx="2423160" cy="411480"/>
          </a:xfrm>
          <a:prstGeom prst="roundRect">
            <a:avLst>
              <a:gd name="adj" fmla="val 26667"/>
            </a:avLst>
          </a:prstGeom>
          <a:solidFill>
            <a:schemeClr val="accent2"/>
          </a:solidFill>
          <a:ln w="12700">
            <a:solidFill>
              <a:schemeClr val="accent2"/>
            </a:solidFill>
            <a:prstDash val="solid"/>
          </a:ln>
        </p:spPr>
      </p:sp>
      <p:sp>
        <p:nvSpPr>
          <p:cNvPr id="12" name="Text 10"/>
          <p:cNvSpPr txBox="1"/>
          <p:nvPr/>
        </p:nvSpPr>
        <p:spPr>
          <a:xfrm>
            <a:off x="777240" y="5623560"/>
            <a:ext cx="2423160" cy="41148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6" invalidUrl="" action="" tgtFrame="" tooltip="https://phet.colorado.edu/en/simulations/wave-interference" history="1" highlightClick="0" endSnd="0">
                  <a:extLst>
                    <a:ext uri="{A12FA001-AC4F-418D-AE19-62706E023703}">
                      <ahyp:hlinkClr xmlns:ahyp="http://schemas.microsoft.com/office/drawing/2018/hyperlinkcolor" val="tx"/>
                    </a:ext>
                  </a:extLst>
                </a:hlinkClick>
              </a:rPr>
              <a:t>PhET: Wave Interference  ↗</a:t>
            </a:r>
            <a:endParaRPr lang="en-US" sz="1500" dirty="0"/>
          </a:p>
        </p:txBody>
      </p:sp>
      <p:sp>
        <p:nvSpPr>
          <p:cNvPr id="13" name="Text 11"/>
          <p:cNvSpPr txBox="1"/>
          <p:nvPr/>
        </p:nvSpPr>
        <p:spPr>
          <a:xfrm>
            <a:off x="6400800" y="1508760"/>
            <a:ext cx="5239512" cy="4709160"/>
          </a:xfrm>
          <a:prstGeom prst="rect">
            <a:avLst/>
          </a:prstGeom>
          <a:noFill/>
          <a:ln/>
        </p:spPr>
        <p:txBody>
          <a:bodyPr wrap="square" lIns="0" tIns="0" rIns="0" bIns="0" rtlCol="0" anchor="t"/>
          <a:lstStyle/>
          <a:p>
            <a:pPr indent="0" marL="0">
              <a:spcAft>
                <a:spcPts val="500"/>
              </a:spcAft>
              <a:buNone/>
            </a:pPr>
            <a:r>
              <a:rPr lang="en-US" sz="1700" b="1" dirty="0">
                <a:solidFill>
                  <a:schemeClr val="tx2"/>
                </a:solidFill>
              </a:rPr>
              <a:t>References</a:t>
            </a:r>
            <a:endParaRPr lang="en-US" sz="1350" dirty="0"/>
          </a:p>
          <a:p>
            <a:pPr indent="0" marL="0">
              <a:spcAft>
                <a:spcPts val="500"/>
              </a:spcAft>
              <a:buNone/>
            </a:pPr>
            <a:r>
              <a:rPr lang="en-US" sz="1350" dirty="0">
                <a:solidFill>
                  <a:schemeClr val="tx1"/>
                </a:solidFill>
              </a:rPr>
              <a:t>OpenStax (2022). College Physics 2e, Ch. 25 Geometric Optics; Ch. 26 Vision and Optical Instruments; Ch. 27 Wave Optics; §29.3. openstax.org</a:t>
            </a:r>
            <a:endParaRPr lang="en-US" sz="1350" dirty="0"/>
          </a:p>
          <a:p>
            <a:pPr indent="0" marL="0">
              <a:spcAft>
                <a:spcPts val="500"/>
              </a:spcAft>
              <a:buNone/>
            </a:pPr>
            <a:r>
              <a:rPr lang="en-US" sz="1350" dirty="0">
                <a:solidFill>
                  <a:schemeClr val="tx1"/>
                </a:solidFill>
              </a:rPr>
              <a:t>Newman, J. (2008). Physics of the Life Sciences. Springer. Ch. 19 Electromagnetic Waves; Ch. 20 Geometrical Optics; Ch. 21 Optical Lenses and Devices; Ch. 22 Wave Optics.</a:t>
            </a:r>
            <a:endParaRPr lang="en-US" sz="1350" dirty="0"/>
          </a:p>
          <a:p>
            <a:pPr indent="0" marL="0">
              <a:spcAft>
                <a:spcPts val="500"/>
              </a:spcAft>
              <a:buNone/>
            </a:pPr>
            <a:r>
              <a:rPr lang="en-US" sz="1350" dirty="0">
                <a:solidFill>
                  <a:schemeClr val="tx1"/>
                </a:solidFill>
              </a:rPr>
              <a:t>Giancoli, D. C. (2013). Physics: Principles with Applications, 7th ed. Pearson. Ch. 23–25.</a:t>
            </a:r>
            <a:endParaRPr lang="en-US" sz="1350" dirty="0"/>
          </a:p>
          <a:p>
            <a:pPr indent="0" marL="0">
              <a:spcAft>
                <a:spcPts val="500"/>
              </a:spcAft>
              <a:buNone/>
            </a:pPr>
            <a:r>
              <a:rPr lang="en-US" sz="1350" dirty="0">
                <a:solidFill>
                  <a:schemeClr val="tx1"/>
                </a:solidFill>
              </a:rPr>
              <a:t>PhET Interactive Simulations, University of Colorado Boulder.</a:t>
            </a:r>
            <a:endParaRPr lang="en-US" sz="1350" dirty="0"/>
          </a:p>
          <a:p>
            <a:pPr indent="0" marL="0">
              <a:spcAft>
                <a:spcPts val="500"/>
              </a:spcAft>
              <a:buNone/>
            </a:pPr>
            <a:r>
              <a:rPr lang="en-US" sz="800" dirty="0">
                <a:solidFill>
                  <a:schemeClr val="tx1"/>
                </a:solidFill>
              </a:rPr>
              <a:t> </a:t>
            </a:r>
            <a:endParaRPr lang="en-US" sz="1350" dirty="0"/>
          </a:p>
          <a:p>
            <a:pPr indent="0" marL="0">
              <a:spcAft>
                <a:spcPts val="500"/>
              </a:spcAft>
              <a:buNone/>
            </a:pPr>
            <a:r>
              <a:rPr lang="en-US" sz="1250" dirty="0">
                <a:solidFill>
                  <a:schemeClr val="accent6"/>
                </a:solidFill>
              </a:rPr>
              <a:t>All diagrams and animations were drawn for this lecture; spectra and micrographs shown are schematic illustrations. Numbers in exercises are illustrative values chosen to be realistic.</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60</a:t>
            </a:fld>
            <a:endParaRPr lang="en-US"/>
          </a:p>
        </p:txBody>
      </p:sp>
    </p:spTree>
  </p:cSld>
  <p:clrMapOvr>
    <a:masterClrMapping/>
  </p:clrMapOvr>
</p:sld>
</file>

<file path=ppt/theme/theme1.xml><?xml version="1.0" encoding="utf-8"?>
<a:theme xmlns:a="http://schemas.openxmlformats.org/drawingml/2006/main" name="SFS1112 Optics">
  <a:themeElements>
    <a:clrScheme name="SFS1112 Optics">
      <a:dk1>
        <a:srgbClr val="1F2933"/>
      </a:dk1>
      <a:lt1>
        <a:srgbClr val="FFFFFF"/>
      </a:lt1>
      <a:dk2>
        <a:srgbClr val="0B2545"/>
      </a:dk2>
      <a:lt2>
        <a:srgbClr val="F2F4F7"/>
      </a:lt2>
      <a:accent1>
        <a:srgbClr val="13807A"/>
      </a:accent1>
      <a:accent2>
        <a:srgbClr val="D9822B"/>
      </a:accent2>
      <a:accent3>
        <a:srgbClr val="2E7D4F"/>
      </a:accent3>
      <a:accent4>
        <a:srgbClr val="2F6FB0"/>
      </a:accent4>
      <a:accent5>
        <a:srgbClr val="C0392B"/>
      </a:accent5>
      <a:accent6>
        <a:srgbClr val="8A94A6"/>
      </a:accent6>
      <a:hlink>
        <a:srgbClr val="2F6FB0"/>
      </a:hlink>
      <a:folHlink>
        <a:srgbClr val="6B4FA0"/>
      </a:folHlink>
    </a:clrScheme>
    <a:fontScheme name="SFS1112 Op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SFS1112 Optics I + II</dc:title>
  <dc:subject>Physics for Life Sciences — Light and Optics</dc:subject>
  <dc:creator>Dr. Muhamad Arif Mohamad Jamali</dc:creator>
  <cp:lastModifiedBy>Dr. Muhamad Arif Mohamad Jamali</cp:lastModifiedBy>
  <cp:revision>1</cp:revision>
  <dcterms:created xsi:type="dcterms:W3CDTF">2026-10-21T23:22:48Z</dcterms:created>
  <dcterms:modified xsi:type="dcterms:W3CDTF">2026-10-21T23:22:48Z</dcterms:modified>
</cp:coreProperties>
</file>